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6"/>
  </p:notesMasterIdLst>
  <p:sldIdLst>
    <p:sldId id="256" r:id="rId2"/>
    <p:sldId id="258" r:id="rId3"/>
    <p:sldId id="259" r:id="rId4"/>
    <p:sldId id="261" r:id="rId5"/>
    <p:sldId id="262" r:id="rId6"/>
    <p:sldId id="338" r:id="rId7"/>
    <p:sldId id="340" r:id="rId8"/>
    <p:sldId id="352" r:id="rId9"/>
    <p:sldId id="341" r:id="rId10"/>
    <p:sldId id="342" r:id="rId11"/>
    <p:sldId id="343" r:id="rId12"/>
    <p:sldId id="344" r:id="rId13"/>
    <p:sldId id="339" r:id="rId14"/>
    <p:sldId id="353" r:id="rId15"/>
    <p:sldId id="345" r:id="rId16"/>
    <p:sldId id="311" r:id="rId17"/>
    <p:sldId id="346" r:id="rId18"/>
    <p:sldId id="347" r:id="rId19"/>
    <p:sldId id="348" r:id="rId20"/>
    <p:sldId id="354" r:id="rId21"/>
    <p:sldId id="355" r:id="rId22"/>
    <p:sldId id="312" r:id="rId23"/>
    <p:sldId id="313" r:id="rId24"/>
    <p:sldId id="349" r:id="rId25"/>
    <p:sldId id="350" r:id="rId26"/>
    <p:sldId id="356" r:id="rId27"/>
    <p:sldId id="357" r:id="rId28"/>
    <p:sldId id="360" r:id="rId29"/>
    <p:sldId id="361" r:id="rId30"/>
    <p:sldId id="358" r:id="rId31"/>
    <p:sldId id="363" r:id="rId32"/>
    <p:sldId id="359" r:id="rId33"/>
    <p:sldId id="362" r:id="rId34"/>
    <p:sldId id="307" r:id="rId35"/>
  </p:sldIdLst>
  <p:sldSz cx="9144000" cy="5143500" type="screen16x9"/>
  <p:notesSz cx="6858000" cy="9144000"/>
  <p:embeddedFontLst>
    <p:embeddedFont>
      <p:font typeface="Anaheim" panose="020B0604020202020204" charset="0"/>
      <p:regular r:id="rId37"/>
      <p:bold r:id="rId38"/>
    </p:embeddedFont>
    <p:embeddedFont>
      <p:font typeface="Baloo 2 ExtraBold" panose="020B0604020202020204" charset="0"/>
      <p:bold r:id="rId39"/>
    </p:embeddedFont>
    <p:embeddedFont>
      <p:font typeface="DM Sans" pitchFamily="2" charset="0"/>
      <p:regular r:id="rId40"/>
      <p:bold r:id="rId41"/>
    </p:embeddedFont>
    <p:embeddedFont>
      <p:font typeface="DM Sans Medium" pitchFamily="2" charset="0"/>
      <p:regular r:id="rId42"/>
    </p:embeddedFont>
    <p:embeddedFont>
      <p:font typeface="Nunito Light" pitchFamily="2" charset="0"/>
      <p:regular r:id="rId43"/>
    </p:embeddedFont>
    <p:embeddedFont>
      <p:font typeface="Segoe UI" panose="020B0502040204020203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8F1C-263D-4756-A434-B3B8AE7D6FB3}">
  <a:tblStyle styleId="{55128F1C-263D-4756-A434-B3B8AE7D6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032D0A-44B8-4AA5-9B14-50C8E942E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1412" autoAdjust="0"/>
  </p:normalViewPr>
  <p:slideViewPr>
    <p:cSldViewPr snapToGrid="0">
      <p:cViewPr varScale="1">
        <p:scale>
          <a:sx n="90" d="100"/>
          <a:sy n="90" d="100"/>
        </p:scale>
        <p:origin x="125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CE6B7F09-6EE5-4F46-341E-F5052431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9DC84DC-8C76-0708-9766-F227BA94A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5B257B1-D6E2-0884-95B1-C28D41DBE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532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7366291-7E4F-3A4B-A73C-386CE6D4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783752B-6235-0196-49C6-136AAA8CF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B9612581-46C6-E4A6-0AB3-8F1B267F4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0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58B48EA-BF11-2334-8A56-41C46F3C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47113D-B625-07D6-D4BA-EEFFA3205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D6B2C23C-723E-528E-ED43-7106E4E3F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1390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E043C54B-6EC8-5A4D-801A-2EA6E3C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6B6AD5-929F-8683-C7E1-655A426D0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6B967425-E0EB-FE79-A620-518C1E06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470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62DD62AF-18E0-8AF3-ABBF-FFF8C646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1E6764B-50FA-F520-5F04-5C1AFBEE9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C199679E-123A-FCE3-9286-D833D7DC9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306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B8208700-9A14-F8BF-4B3D-98006194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5A2CD40-CF23-2417-8E86-4CCFA0A4B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8F349AE5-6B83-3111-ABA5-D5923850C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709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516DCFE5-63F8-B5F0-071B-A713684B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24856708-60A3-DE9C-94F1-EC28FFC27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B468386-EF0A-5DE5-03E2-3DE4F1E5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479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619ABBB-AB7A-CE53-3B0D-2C072153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95639046-7EA0-08F3-E797-C3C2038EE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223BBCCC-F6ED-6060-DF82-D4A7C2539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000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74D0EAEE-8707-009D-D15B-CBD50BB9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85B44EB9-04F2-3489-6053-52BC3F301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9AFBB9E-A436-6913-66A0-3E91327F3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975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491633EE-D3F1-0361-8E77-0065097A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EF794FCB-11AA-81FE-D46F-3CD7F2A05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EECC170C-9C35-802D-1B0C-3B69646D5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6839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71DAD97-0BF7-090D-03B0-78C44038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294309F9-AA84-AF79-79D0-811D79410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F4FFF16-4565-440E-7288-9C3432CC3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032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B83ABFDB-FAD1-0AF0-FCA7-029D4541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0A4B3E4-F85A-D56E-2D4B-B2A55D306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C9FF5AD6-6709-B82E-55B5-888C73CF5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66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2488ECA6-A1B9-D09C-22BB-17F4993F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8A25898-FFD0-A25F-B952-9817F99E4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98664CEB-7CF3-CA01-99B5-5BBD1855D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790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BE6B5AE-29FA-52BE-C17B-C2E81D10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7A0D098-C13A-B8D3-84C7-763DCC990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CB09139-371C-18B7-09AF-51139F7ED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654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462C9156-47F0-F348-95CE-97967CDC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32D10CF-C1E5-535B-E765-F43D67C2A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2634A7A-16CD-D7C5-1C62-839EB5775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0873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8AE2E5C9-9052-7B14-57A3-6F4FE0F4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99E8F07A-8A2D-A5D0-9068-D7DE66B76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3819DD9-C8CE-ABC0-71D0-081A079C0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158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548E1878-7F70-D57D-5CED-9958131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87FEA75F-887A-AB12-F6AE-7CD5FD30A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3BB6BCB9-F31D-2104-E67D-E7E359794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9726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052FE4A-9912-51D1-7286-F41F02C6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6CEBB600-5C5E-DAD2-B925-7FB41B1E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EC34B068-BAC6-5C6B-26AD-08AC0BFE6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83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AA4F4410-145B-D67F-A647-F152A408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5F503F6F-E8C5-BFEC-E55C-CE2EF26B1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FB8CEC0-DAF4-229E-B669-BFD2D74EC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0163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86CB42E-9061-36DB-E1C7-A3A452AD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3117F6B3-F583-0DCD-5166-065331438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600B8840-DEEB-63ED-A6FA-EDCA691CE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671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6D00FD3-CDD6-49BC-54D1-1399461F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64F5551-E33D-97FC-CA6F-AFB5FDD1B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D15F0EB-0091-CE7C-01EA-154767100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8805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AB4798CE-C09B-CA44-33BB-87F63C9A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683BCF6F-93A0-3D70-CB19-723CDEA5B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562302DB-8216-1BAD-D6C2-65ABAE1DE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31259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1129F0F-0A60-CDA5-8172-DDB11C45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ADCE3920-5003-886E-6480-9CF85F2E2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BE47283-8099-CD74-8F37-641027D2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8244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04585AB-459E-1280-9F96-F4364ACB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14105976-422F-8997-2991-4206AC5A0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DC273D7-008A-38FC-70CB-0C00379AC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030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25CF167E-BF13-92FD-12F0-646B78C0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04E6EA25-A6F1-2A48-C929-D6FA6AFE1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DE2766E7-15BB-0009-A258-5DF3FC3CC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662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27AF718-871E-E407-C2D6-31E9EC21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74E5F68E-00CB-EB9B-0191-602C8537D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664CF36-4050-1D92-A777-0411392D6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1935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F2A8365E-6419-C919-7615-2466614A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C7437E4F-ABB5-DBBF-E2DB-1A4A35510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BDF133B-6B6F-E55F-A6D0-D3FBC546E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fontAlgn="t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6369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8BFF3F8-523F-A9F8-FEEA-29E1BC77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8FB2B5C-BCE5-E025-0915-43B72DB1B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889DC7DE-842B-9570-EA22-78035DB85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71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78F5AD1B-AE8D-D8A6-1B46-EDBAF043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9AD2AF65-C803-ED33-1057-D9C9D4CDD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ABE85286-220B-BFFD-51E3-9AAD82171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60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60" r:id="rId6"/>
    <p:sldLayoutId id="2147483661" r:id="rId7"/>
    <p:sldLayoutId id="2147483665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88292" y="1819985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Base de datos para Ciencia de Datos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697345" y="3073373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Sesión 4. Tipos de nube</a:t>
            </a:r>
            <a:endParaRPr sz="24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EE6767-ADB9-E50D-04DD-BE23F81B2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1430"/>
            <a:ext cx="1394691" cy="715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1243378" y="1849312"/>
            <a:ext cx="102972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2.2.1</a:t>
            </a:r>
            <a:endParaRPr dirty="0"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2113685" y="1470862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Pública</a:t>
            </a:r>
            <a:endParaRPr dirty="0"/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2143123" y="2089689"/>
            <a:ext cx="3860759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Comunitaria</a:t>
            </a:r>
            <a:endParaRPr sz="2400" dirty="0"/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629444" y="1089926"/>
            <a:ext cx="3555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dirty="0"/>
              <a:t>2.  Tipos de nube</a:t>
            </a:r>
            <a:endParaRPr sz="2800" dirty="0"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1243378" y="2451562"/>
            <a:ext cx="131780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2.2.2</a:t>
            </a:r>
            <a:endParaRPr dirty="0"/>
          </a:p>
        </p:txBody>
      </p:sp>
      <p:sp>
        <p:nvSpPr>
          <p:cNvPr id="3" name="Google Shape;762;p29">
            <a:extLst>
              <a:ext uri="{FF2B5EF4-FFF2-40B4-BE49-F238E27FC236}">
                <a16:creationId xmlns:a16="http://schemas.microsoft.com/office/drawing/2014/main" id="{8C3B1232-F9A4-3FF9-B8A6-6B8E8A97366A}"/>
              </a:ext>
            </a:extLst>
          </p:cNvPr>
          <p:cNvSpPr txBox="1">
            <a:spLocks/>
          </p:cNvSpPr>
          <p:nvPr/>
        </p:nvSpPr>
        <p:spPr>
          <a:xfrm>
            <a:off x="2143123" y="3560040"/>
            <a:ext cx="3860759" cy="51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Hibrida</a:t>
            </a:r>
          </a:p>
        </p:txBody>
      </p:sp>
      <p:sp>
        <p:nvSpPr>
          <p:cNvPr id="4" name="Google Shape;770;p29">
            <a:extLst>
              <a:ext uri="{FF2B5EF4-FFF2-40B4-BE49-F238E27FC236}">
                <a16:creationId xmlns:a16="http://schemas.microsoft.com/office/drawing/2014/main" id="{291FA003-1B82-F056-1BAD-57001A7559B8}"/>
              </a:ext>
            </a:extLst>
          </p:cNvPr>
          <p:cNvSpPr txBox="1">
            <a:spLocks/>
          </p:cNvSpPr>
          <p:nvPr/>
        </p:nvSpPr>
        <p:spPr>
          <a:xfrm>
            <a:off x="1243378" y="3667031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2.2.4</a:t>
            </a:r>
          </a:p>
        </p:txBody>
      </p:sp>
      <p:sp>
        <p:nvSpPr>
          <p:cNvPr id="30" name="Lágrima 29">
            <a:extLst>
              <a:ext uri="{FF2B5EF4-FFF2-40B4-BE49-F238E27FC236}">
                <a16:creationId xmlns:a16="http://schemas.microsoft.com/office/drawing/2014/main" id="{5E9FDFB6-A34E-3358-5BF3-667EF95B5071}"/>
              </a:ext>
            </a:extLst>
          </p:cNvPr>
          <p:cNvSpPr/>
          <p:nvPr/>
        </p:nvSpPr>
        <p:spPr>
          <a:xfrm>
            <a:off x="-719667" y="-19271"/>
            <a:ext cx="1755582" cy="1361636"/>
          </a:xfrm>
          <a:prstGeom prst="teardrop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Google Shape;762;p29">
            <a:extLst>
              <a:ext uri="{FF2B5EF4-FFF2-40B4-BE49-F238E27FC236}">
                <a16:creationId xmlns:a16="http://schemas.microsoft.com/office/drawing/2014/main" id="{31A87011-B2CF-7BC8-A670-7AC59F339838}"/>
              </a:ext>
            </a:extLst>
          </p:cNvPr>
          <p:cNvSpPr txBox="1">
            <a:spLocks/>
          </p:cNvSpPr>
          <p:nvPr/>
        </p:nvSpPr>
        <p:spPr>
          <a:xfrm>
            <a:off x="2143121" y="2682356"/>
            <a:ext cx="3860759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Privada</a:t>
            </a:r>
          </a:p>
        </p:txBody>
      </p:sp>
      <p:sp>
        <p:nvSpPr>
          <p:cNvPr id="5" name="Google Shape;770;p29">
            <a:extLst>
              <a:ext uri="{FF2B5EF4-FFF2-40B4-BE49-F238E27FC236}">
                <a16:creationId xmlns:a16="http://schemas.microsoft.com/office/drawing/2014/main" id="{37E2A55D-0573-C499-4A82-179E54EC36F1}"/>
              </a:ext>
            </a:extLst>
          </p:cNvPr>
          <p:cNvSpPr txBox="1">
            <a:spLocks/>
          </p:cNvSpPr>
          <p:nvPr/>
        </p:nvSpPr>
        <p:spPr>
          <a:xfrm>
            <a:off x="1243376" y="3044229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2.2.3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CA65EB3-A492-49C3-4129-CE9541C7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926" y="2154148"/>
            <a:ext cx="2530747" cy="2675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408183-1DA2-E21C-A9F2-78BAD966A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34" y="0"/>
            <a:ext cx="2772366" cy="1816100"/>
          </a:xfrm>
          <a:prstGeom prst="rect">
            <a:avLst/>
          </a:prstGeom>
        </p:spPr>
      </p:pic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2. 2 Tipos de nube</a:t>
            </a:r>
            <a:br>
              <a:rPr lang="en" dirty="0"/>
            </a:br>
            <a:r>
              <a:rPr lang="en" dirty="0"/>
              <a:t>2.2.1 Nube Pública</a:t>
            </a: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601467" y="1440983"/>
            <a:ext cx="75516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/>
            <a:r>
              <a:rPr lang="es-MX" sz="2400" dirty="0">
                <a:latin typeface="DM Sans" pitchFamily="2" charset="0"/>
              </a:rPr>
              <a:t>La nube pública es un modelo en el que la infraestructura tecnológica pertenece a un proveedor externo y está disponible para cualquier organización o usuario mediante Internet.</a:t>
            </a:r>
          </a:p>
          <a:p>
            <a:pPr algn="just" fontAlgn="t"/>
            <a:r>
              <a:rPr lang="es-MX" sz="2400" dirty="0">
                <a:latin typeface="DM Sans" pitchFamily="2" charset="0"/>
              </a:rPr>
              <a:t>Los recursos como servidores, almacenamiento y aplicaciones son compartidos entre múltiples clientes.</a:t>
            </a:r>
          </a:p>
          <a:p>
            <a:pPr algn="ctr" fontAlgn="t"/>
            <a:endParaRPr lang="es-MX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6925139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2800" b="1" dirty="0"/>
              <a:t>Proveedores más conocidos</a:t>
            </a: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821774" y="1599887"/>
            <a:ext cx="7619161" cy="1943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fontAlgn="t">
              <a:buSzPct val="12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 Medium" pitchFamily="2" charset="0"/>
              </a:rPr>
              <a:t>Microsoft Azure</a:t>
            </a:r>
          </a:p>
          <a:p>
            <a:pPr marL="342900" lvl="0" indent="-342900" fontAlgn="t">
              <a:buSzPct val="12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 Medium" pitchFamily="2" charset="0"/>
              </a:rPr>
              <a:t>Amazon Web </a:t>
            </a:r>
            <a:r>
              <a:rPr lang="es-MX" sz="2400" dirty="0" err="1">
                <a:latin typeface="DM Sans Medium" pitchFamily="2" charset="0"/>
              </a:rPr>
              <a:t>Services</a:t>
            </a:r>
            <a:r>
              <a:rPr lang="es-MX" sz="2400" dirty="0">
                <a:latin typeface="DM Sans Medium" pitchFamily="2" charset="0"/>
              </a:rPr>
              <a:t> (AWS)</a:t>
            </a:r>
          </a:p>
          <a:p>
            <a:pPr marL="342900" lvl="0" indent="-342900" fontAlgn="t">
              <a:buSzPct val="12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 Medium" pitchFamily="2" charset="0"/>
              </a:rPr>
              <a:t>Google Cloud </a:t>
            </a:r>
            <a:r>
              <a:rPr lang="es-MX" sz="2400" dirty="0" err="1">
                <a:latin typeface="DM Sans Medium" pitchFamily="2" charset="0"/>
              </a:rPr>
              <a:t>Platform</a:t>
            </a:r>
            <a:r>
              <a:rPr lang="es-MX" sz="2400" dirty="0">
                <a:latin typeface="DM Sans Medium" pitchFamily="2" charset="0"/>
              </a:rPr>
              <a:t> (GCP)</a:t>
            </a:r>
          </a:p>
          <a:p>
            <a:pPr marL="0" lvl="0" indent="0" fontAlgn="t">
              <a:buNone/>
            </a:pP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65DE9C-0F1F-4BC7-2B1E-6F948A2CB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21735" y="320421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Características</a:t>
            </a:r>
          </a:p>
        </p:txBody>
      </p:sp>
      <p:sp>
        <p:nvSpPr>
          <p:cNvPr id="894" name="Google Shape;894;p33"/>
          <p:cNvSpPr txBox="1">
            <a:spLocks noGrp="1"/>
          </p:cNvSpPr>
          <p:nvPr>
            <p:ph type="subTitle" idx="3"/>
          </p:nvPr>
        </p:nvSpPr>
        <p:spPr>
          <a:xfrm>
            <a:off x="1212098" y="2966608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Acceso vía Internet.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Pago por uso.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Escalabilidad rápida.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Administración realizada por el proveedor.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Recursos compartidos.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FD2DEA-6B20-E223-E2A7-3BCD00C2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62432">
            <a:off x="6705598" y="1885801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A50C7C6-A311-6C09-4A39-A89B214A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9EF579F1-E5CC-1149-54D2-F1B0FFADB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3DDE2C8-9DA0-1B14-3099-27FFAE90594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12098" y="2966608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Bajo costo inicial.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Escalabilidad inmediata.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No requiere infraestructura propia.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Disponibilidad global.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0CAF60-49FA-5A62-5B20-9CE53288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88738" y="3401482"/>
            <a:ext cx="1430704" cy="14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79F44F2-E0CD-9971-07F8-7023B5D8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8CE43654-7355-3DDF-DC4B-F29A660FF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Desventajas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D57702B9-1B7E-32D8-3117-676A7A105C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03632" y="3330674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Menor control sobre la infraestructura.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Dependencia de Internet.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Posibles restricciones de seguridad o regulación.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C898E1-CF7F-2B89-1A26-40289FC4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215380">
            <a:off x="7601363" y="3838545"/>
            <a:ext cx="2178563" cy="175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4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2B13D4B-BA9E-2532-5AAA-2CAC092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4CCEA4A8-47CD-FB22-E4DB-BEC3C07D8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08680" y="1753651"/>
            <a:ext cx="43588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 Nube Pública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7B0E2D-914F-B54E-C0FD-4CF10D44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92149E-3E41-9A09-D223-948BCD5E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4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63E6E7F5-DDC9-852F-B792-73BC700D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6616E9B-66A2-9E05-FDA2-F0D950C9C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Preguntas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DD0F6E8-1794-F791-B1E7-A7AF5F92619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9160" y="2924274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fontAlgn="t"/>
            <a:r>
              <a:rPr lang="es-MX" sz="2400" dirty="0"/>
              <a:t>¿Qué sucede si uso más recursos?</a:t>
            </a:r>
          </a:p>
          <a:p>
            <a:pPr marL="0" lvl="0" indent="0" fontAlgn="t"/>
            <a:r>
              <a:rPr lang="es-MX" sz="2400" dirty="0"/>
              <a:t>¿Por qué este modelo es atractivo para empresas pequeñas?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70980C-553F-E112-AD22-7F458F35B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96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0292804-45D6-D23F-D0C1-365B707A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2330CC3-B560-2F48-BBFF-13403980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6B2A7F96-8A75-5704-1950-92AE04D91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2.2.2 Nube comunitaria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95C90E1-7E12-222A-FDA4-5672E9E73E1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38894" y="3597988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sz="2400" dirty="0"/>
              <a:t>Es una infraestructura compartida por varias organizaciones que tienen objetivos, requisitos o regulaciones similares.</a:t>
            </a:r>
          </a:p>
          <a:p>
            <a:pPr algn="just" fontAlgn="t"/>
            <a:r>
              <a:rPr lang="es-MX" sz="2400" dirty="0"/>
              <a:t>Las organizaciones colaboran y comparten costos.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D3CAE-3C12-5287-E4E7-2484BC708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300" y="2997200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56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64B9629E-A8E2-850B-7BAA-01666081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9CE578-A140-DB62-4987-F0919BCD6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71117B1A-06E6-C871-6E81-55EDBECB4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Características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B26892CB-3420-9A40-71B4-3FA210D42E9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9160" y="3268677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Uso compartido entre organizaciones.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Políticas de seguridad comunes.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Costos distribuidos.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400" dirty="0"/>
              <a:t>Administración conjunta o por terceros.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543E08-5DE4-0974-27AA-A4BD0706E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751" y="3560056"/>
            <a:ext cx="1318181" cy="13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2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EB48A50-FD43-5FF9-D517-209DBC54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16D112-933D-1B6C-B9E0-B396586B4D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DFA48D3-9910-3A2E-9BC0-22E905943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7CBC580D-AF95-5839-01A9-EC33402E18C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462814" y="3841376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826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Costos menores que una nube privada.</a:t>
            </a:r>
          </a:p>
          <a:p>
            <a:pPr marL="4826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Mejor seguridad que una nube pública.</a:t>
            </a:r>
          </a:p>
          <a:p>
            <a:pPr marL="4826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Facilita la colaboración.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4E4D59-1A6C-B877-DB07-B82D3C79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67" y="2937933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4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A98C0CE1-480B-EEBB-C4A1-A02C39A3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BC425521-40D3-93AA-CF55-1C1A500D1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 err="1"/>
              <a:t>Desventajas</a:t>
            </a:r>
            <a:r>
              <a:rPr lang="es-MX" b="1" dirty="0" err="1">
                <a:solidFill>
                  <a:schemeClr val="bg2"/>
                </a:solidFill>
              </a:rPr>
              <a:t>Semiestructurados</a:t>
            </a:r>
            <a:r>
              <a:rPr lang="es-MX" b="1" dirty="0">
                <a:solidFill>
                  <a:schemeClr val="bg2"/>
                </a:solidFill>
              </a:rPr>
              <a:t> </a:t>
            </a:r>
            <a:endParaRPr dirty="0"/>
          </a:p>
        </p:txBody>
      </p:sp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16ED62C6-7F78-2C92-BED8-627E22A2078B}"/>
              </a:ext>
            </a:extLst>
          </p:cNvPr>
          <p:cNvSpPr txBox="1">
            <a:spLocks/>
          </p:cNvSpPr>
          <p:nvPr/>
        </p:nvSpPr>
        <p:spPr>
          <a:xfrm>
            <a:off x="980212" y="1910976"/>
            <a:ext cx="8934253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5969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Requiere acuerdos entre organizaciones.</a:t>
            </a:r>
          </a:p>
          <a:p>
            <a:pPr marL="5969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Menor flexibilidad.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57D1F2-EFBD-F930-C577-266F3923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8139"/>
            <a:ext cx="2530747" cy="267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2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1C80E3A0-686E-8414-1343-46C467D3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A8584E0-1604-395F-B6D1-E3C5A32F7B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6880" y="1999050"/>
            <a:ext cx="52501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 Nube Comunitaria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4C8251-80BC-439E-C193-9CECAAF9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264BD6-292E-CBB8-16F6-1F1A2FE30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2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91E976BA-4724-2623-4F40-7E8E1C1D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664568F1-FBD4-9709-98B5-9658BCD3B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Preguntas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EBD267F4-784B-89BB-C86E-6449179FE8B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08226" y="1930401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/>
              <a:t>¿Cómo beneficia compartir infraestructura?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03ACDA-489E-8C2D-9AB1-52DF5FAD9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36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B24F5BF-34A5-EDDF-A4E9-9EE6BFD5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2C720492-21AA-ECFD-E3A2-4B7E2E8C8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2.2.3 Nube privada</a:t>
            </a: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E7477A-A655-4279-E284-4268EF7BAC1A}"/>
              </a:ext>
            </a:extLst>
          </p:cNvPr>
          <p:cNvSpPr txBox="1"/>
          <p:nvPr/>
        </p:nvSpPr>
        <p:spPr>
          <a:xfrm>
            <a:off x="720000" y="1062915"/>
            <a:ext cx="799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La nube privada es una infraestructura exclusiva para una sola organización.</a:t>
            </a:r>
          </a:p>
          <a:p>
            <a:pPr algn="just" fontAlgn="t"/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Puede estar alojada en las instalaciones de la empresa o en un centro de datos externo.</a:t>
            </a:r>
          </a:p>
        </p:txBody>
      </p:sp>
    </p:spTree>
    <p:extLst>
      <p:ext uri="{BB962C8B-B14F-4D97-AF65-F5344CB8AC3E}">
        <p14:creationId xmlns:p14="http://schemas.microsoft.com/office/powerpoint/2010/main" val="2586640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2D7B87A5-9F16-0CED-CA41-C2DE5EB6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56C0D8-4694-E2BB-9B63-C0D95438D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D5D1A9AC-F67C-5354-F613-B88F60B43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Características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0A285EB5-5A43-A2CB-2F28-418864FEA17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74481" y="3663576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Uso exclusivo.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Alto control.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Mayor personalización.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Seguridad reforzada.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35A28A-B35F-F5A8-F437-09A8CC03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67" y="2937933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02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370592FC-8C67-627A-D4C0-D9296294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D9430F-094B-AB3E-F8B8-6F4F0892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168D14E-3731-018B-C870-03C0CBBA8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B84D0B2C-8021-1769-6016-D526B02F518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74481" y="3663576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Mayor seguridad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Control total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Personalización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Cumplimiento normativo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2D4B4A-5463-F0C0-2EC8-B61DDB77C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055" y="3107088"/>
            <a:ext cx="1740211" cy="183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9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EEB30533-D384-7019-B884-3A16AA9E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DAB07-EDBD-D269-D8D0-95527DE1D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0" y="0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00DF41B-B8C6-1DCE-B837-82D595051F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94" y="82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Desventajas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F6C953CF-8552-1867-CAFC-358339FFDE6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88837" y="3037044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5969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Alto costo.</a:t>
            </a:r>
          </a:p>
          <a:p>
            <a:pPr marL="5969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Requiere personal especializado.</a:t>
            </a:r>
          </a:p>
          <a:p>
            <a:pPr marL="5969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/>
              <a:t>Menor elasticidad.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8E1C3F-6C0C-7C56-D89D-19B299016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67" y="2937933"/>
            <a:ext cx="21463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24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858BB95D-6633-F1BA-8FD4-FCE9E31C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9FF793C7-50E5-7580-F667-DB4290D58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3120" y="1999050"/>
            <a:ext cx="52501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 Nube Privada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3D168D-FA8F-795B-331C-CB2BEB096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3684E1-9C37-ED6C-744D-8AE6DF5E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72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D17661C2-67C3-3B5F-CE14-2FA1DB29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F3844D29-2398-523D-5008-17C4122E5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Preguntas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0F856535-2AA3-930E-2881-9DF5679A864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83020" y="3340101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/>
              <a:t>¿Qué pasaría si una nube privada no tuviera mecanismos de autenticación?</a:t>
            </a:r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1DF30E-0E32-BF0C-8176-27764752B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19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A328BC19-DA0C-21EE-328D-03A7BD0E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6A4A74C0-0FEA-ED6B-F2B9-CFA107F29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2.2.4 Nube Híbrida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33549D9F-2426-D1A8-0A5A-89520AB02E44}"/>
              </a:ext>
            </a:extLst>
          </p:cNvPr>
          <p:cNvSpPr txBox="1">
            <a:spLocks/>
          </p:cNvSpPr>
          <p:nvPr/>
        </p:nvSpPr>
        <p:spPr>
          <a:xfrm>
            <a:off x="1180371" y="3502711"/>
            <a:ext cx="6585680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fontAlgn="t"/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Combina infraestructura privada y pública permitiendo mover datos y aplicaciones entre ambas.</a:t>
            </a:r>
          </a:p>
          <a:p>
            <a:pPr fontAlgn="t"/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Es uno de los modelos más utilizados actualmente.</a:t>
            </a:r>
          </a:p>
          <a:p>
            <a:pPr marL="139700" indent="0" fontAlgn="t">
              <a:buSzPct val="150000"/>
            </a:pPr>
            <a:endParaRPr lang="es-MX" sz="2800" dirty="0"/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1B22C-07C2-B187-61BF-059652C35F34}"/>
              </a:ext>
            </a:extLst>
          </p:cNvPr>
          <p:cNvGrpSpPr/>
          <p:nvPr/>
        </p:nvGrpSpPr>
        <p:grpSpPr>
          <a:xfrm>
            <a:off x="2385264" y="3098452"/>
            <a:ext cx="3990814" cy="1960382"/>
            <a:chOff x="1596324" y="937801"/>
            <a:chExt cx="3990814" cy="196038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5090E5A-0CA2-7160-CD14-717334FFA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6324" y="937801"/>
              <a:ext cx="3990814" cy="1940221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5042996-E343-1C84-D78E-6113C76B18F7}"/>
                </a:ext>
              </a:extLst>
            </p:cNvPr>
            <p:cNvSpPr/>
            <p:nvPr/>
          </p:nvSpPr>
          <p:spPr>
            <a:xfrm>
              <a:off x="1650569" y="2812942"/>
              <a:ext cx="271221" cy="852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802154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EB0CC7D1-F4A3-52AA-755F-F528AB6E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D30779D1-F6ED-8FFB-3EA2-0D4EBCF02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Características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7F77BF-219D-B69E-FFDA-F430E432BEFB}"/>
              </a:ext>
            </a:extLst>
          </p:cNvPr>
          <p:cNvSpPr txBox="1"/>
          <p:nvPr/>
        </p:nvSpPr>
        <p:spPr>
          <a:xfrm>
            <a:off x="974000" y="1195525"/>
            <a:ext cx="8043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Integra recursos públicos y privados.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Flexibilidad.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Optimización de costos.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Escalabilidad.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6DE53A-3980-BB33-5972-8266469E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0338" y="3557790"/>
            <a:ext cx="1430704" cy="14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34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58F4E143-0F9C-71D6-44DE-C50FA9CC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52A6C334-AA49-27F6-4E45-EA5542267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Ventajas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398ED0-4E58-250C-9735-3AC809BAD6E9}"/>
              </a:ext>
            </a:extLst>
          </p:cNvPr>
          <p:cNvSpPr txBox="1"/>
          <p:nvPr/>
        </p:nvSpPr>
        <p:spPr>
          <a:xfrm>
            <a:off x="974000" y="1195525"/>
            <a:ext cx="8043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Balance entre seguridad y costo.</a:t>
            </a:r>
          </a:p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Mayor flexibilidad.</a:t>
            </a:r>
          </a:p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Escalabilidad.</a:t>
            </a:r>
          </a:p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Continuidad del negocio.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73D3DE-B554-6518-2E85-858979CFC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523" y="3184145"/>
            <a:ext cx="1820943" cy="18209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D2E0F1-313A-AEC8-6D0F-C6F1DEB4F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204" y="0"/>
            <a:ext cx="1680796" cy="16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24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90826BA8-8AD0-AE29-D89B-F04645F2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C8436A7B-C437-C2DB-D680-518398557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Desventajas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F16F84-DC12-6896-0CDC-EACF5C53A392}"/>
              </a:ext>
            </a:extLst>
          </p:cNvPr>
          <p:cNvSpPr txBox="1"/>
          <p:nvPr/>
        </p:nvSpPr>
        <p:spPr>
          <a:xfrm>
            <a:off x="974000" y="1195525"/>
            <a:ext cx="804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Administración más compleja</a:t>
            </a:r>
          </a:p>
          <a:p>
            <a:pPr marL="457200" indent="-457200" fontAlgn="t">
              <a:buSzPct val="150000"/>
              <a:buFont typeface="Arial" panose="020B0604020202020204" pitchFamily="34" charset="0"/>
              <a:buChar char="•"/>
            </a:pPr>
            <a:r>
              <a:rPr lang="es-MX" sz="2800" dirty="0">
                <a:latin typeface="Baloo 2 ExtraBold" panose="020B0604020202020204" charset="0"/>
                <a:cs typeface="Baloo 2 ExtraBold" panose="020B0604020202020204" charset="0"/>
              </a:rPr>
              <a:t>Requiere integración adecuada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DAD4F3-A635-2C2C-E848-6BE18C73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3869"/>
            <a:ext cx="2219081" cy="22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60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AF7F74E6-EBEA-54CD-608D-F51F01B8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E46FFA1-8231-2F17-AB88-1BADCF980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3120" y="1999050"/>
            <a:ext cx="52501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 Nube Hibrida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CC696F-87AB-0CC1-9BA4-AA9A699B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A76FE9-74AD-2418-C3AA-C2484260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11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3F5180A-343E-AA14-4784-9C1A802C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D1D563F8-AEC9-F8AD-C454-478F0AC02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Preguntas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D06B39D7-EA99-70B7-D8A2-460775D79BE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5280" y="3683001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/>
              <a:t>¿Qué riesgos podrían surgir si la información no se clasificara adecuadamente antes de enviarla a una nube híbrida?</a:t>
            </a:r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6CB007-61E7-671B-C63B-623801227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17" y="1930401"/>
            <a:ext cx="3096378" cy="30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9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6D0DF8B-67C9-BC9D-C221-757EB7F9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4C6F9005-90BB-5571-F34E-7E8E7F1E7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786" y="788317"/>
            <a:ext cx="79468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2800" dirty="0"/>
              <a:t>Tabla comparativa de los cuatro tipos de nube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E26202-5B7D-7342-E058-006FC51BE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825AB2-870E-4385-4F53-9E21F014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AA20D0D-FE0F-CAFF-B09D-B437FF83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27617"/>
              </p:ext>
            </p:extLst>
          </p:nvPr>
        </p:nvGraphicFramePr>
        <p:xfrm>
          <a:off x="712787" y="1565275"/>
          <a:ext cx="7718425" cy="182880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3119014079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877758218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113708885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1401352124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2739279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Característica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Pública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Privada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Comunitaria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Híbrida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66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0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Seguridad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98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Escalabilidad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68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Compartido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733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Uso compartido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203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742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3F9F65DE-7ABD-FA7E-635F-1A64D73E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AD97A361-8E4A-C8AC-A01C-1529031C2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Casos reales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3A2142-4F05-8456-CBFB-0D75C66E3519}"/>
              </a:ext>
            </a:extLst>
          </p:cNvPr>
          <p:cNvSpPr txBox="1"/>
          <p:nvPr/>
        </p:nvSpPr>
        <p:spPr>
          <a:xfrm>
            <a:off x="974000" y="1195525"/>
            <a:ext cx="8043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s-MX" sz="2400" b="1" dirty="0">
                <a:latin typeface="DM Sans" pitchFamily="2" charset="0"/>
              </a:rPr>
              <a:t>Nube pública:</a:t>
            </a:r>
            <a:r>
              <a:rPr lang="es-MX" sz="2400" dirty="0">
                <a:latin typeface="DM Sans" pitchFamily="2" charset="0"/>
              </a:rPr>
              <a:t> Netflix, Spotify, startups.</a:t>
            </a:r>
          </a:p>
          <a:p>
            <a:pPr lvl="0" fontAlgn="t"/>
            <a:r>
              <a:rPr lang="es-MX" sz="2400" b="1" dirty="0">
                <a:latin typeface="DM Sans" pitchFamily="2" charset="0"/>
              </a:rPr>
              <a:t>Nube privada:</a:t>
            </a:r>
            <a:r>
              <a:rPr lang="es-MX" sz="2400" dirty="0">
                <a:latin typeface="DM Sans" pitchFamily="2" charset="0"/>
              </a:rPr>
              <a:t> Bancos, hospitales.</a:t>
            </a:r>
          </a:p>
          <a:p>
            <a:pPr lvl="0" fontAlgn="t"/>
            <a:r>
              <a:rPr lang="es-MX" sz="2400" b="1" dirty="0">
                <a:latin typeface="DM Sans" pitchFamily="2" charset="0"/>
              </a:rPr>
              <a:t>Nube comunitaria:</a:t>
            </a:r>
            <a:r>
              <a:rPr lang="es-MX" sz="2400" dirty="0">
                <a:latin typeface="DM Sans" pitchFamily="2" charset="0"/>
              </a:rPr>
              <a:t> Universidades que comparten investigación.</a:t>
            </a:r>
          </a:p>
          <a:p>
            <a:pPr lvl="0" fontAlgn="t"/>
            <a:r>
              <a:rPr lang="es-MX" sz="2400" b="1" dirty="0">
                <a:latin typeface="DM Sans" pitchFamily="2" charset="0"/>
              </a:rPr>
              <a:t>Nube híbrida:</a:t>
            </a:r>
            <a:r>
              <a:rPr lang="es-MX" sz="2400" dirty="0">
                <a:latin typeface="DM Sans" pitchFamily="2" charset="0"/>
              </a:rPr>
              <a:t> Empresas que guardan datos sensibles internamente y usan nube pública para aplicaciones web.</a:t>
            </a:r>
          </a:p>
          <a:p>
            <a:pPr fontAlgn="t">
              <a:buSzPct val="150000"/>
            </a:pPr>
            <a:endParaRPr lang="es-MX" sz="2800" dirty="0">
              <a:latin typeface="Baloo 2 ExtraBold" panose="020B0604020202020204" charset="0"/>
              <a:cs typeface="Baloo 2 ExtraBold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01F007-D0E1-FE37-AB0D-F418DF7A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7733"/>
            <a:ext cx="1335217" cy="13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63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13E382FE-0CE4-B3DB-D8DF-DA86FFF9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F721657-767F-25B3-11CB-7F34BF221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5521" y="1713394"/>
            <a:ext cx="49505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Ejercicios. Tipos de Nube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BFC008-09D7-F012-0444-75314AB0E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50" y="2708915"/>
            <a:ext cx="2590404" cy="259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25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470BAAF2-AF44-8850-6F9B-B49F13C8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B9D901F2-9FA5-6CFA-329C-FF537E467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121" y="-171639"/>
            <a:ext cx="698594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Identificación de tipo de nube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F33F93-4D64-C0C3-F972-D67E6122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83" y="3691467"/>
            <a:ext cx="1335312" cy="13353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2987AB-B62A-685A-6818-BECFC78E2D49}"/>
              </a:ext>
            </a:extLst>
          </p:cNvPr>
          <p:cNvSpPr txBox="1"/>
          <p:nvPr/>
        </p:nvSpPr>
        <p:spPr>
          <a:xfrm>
            <a:off x="518585" y="665804"/>
            <a:ext cx="822748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lnSpc>
                <a:spcPct val="100000"/>
              </a:lnSpc>
              <a:buAutoNum type="arabicPeriod"/>
            </a:pPr>
            <a:r>
              <a:rPr lang="es-MX" sz="1800" b="0" i="0" dirty="0">
                <a:effectLst/>
                <a:latin typeface="DM Sans" pitchFamily="2" charset="0"/>
              </a:rPr>
              <a:t>Una empresa pequeña utiliza Microsoft Azure para alojar su sitio web y paga únicamente por los recursos que consume.</a:t>
            </a:r>
          </a:p>
          <a:p>
            <a:pPr marL="342900" indent="-342900" fontAlgn="t">
              <a:buFont typeface="Arial"/>
              <a:buAutoNum type="arabicPeriod"/>
            </a:pPr>
            <a:r>
              <a:rPr lang="es-MX" sz="1800" dirty="0">
                <a:latin typeface="DM Sans" pitchFamily="2" charset="0"/>
              </a:rPr>
              <a:t>Una startup utiliza Amazon Web </a:t>
            </a:r>
            <a:r>
              <a:rPr lang="es-MX" sz="1800" dirty="0" err="1">
                <a:latin typeface="DM Sans" pitchFamily="2" charset="0"/>
              </a:rPr>
              <a:t>Services</a:t>
            </a:r>
            <a:r>
              <a:rPr lang="es-MX" sz="1800" dirty="0">
                <a:latin typeface="DM Sans" pitchFamily="2" charset="0"/>
              </a:rPr>
              <a:t> (AWS) para ejecutar sus aplicaciones sin comprar servidores físicos.</a:t>
            </a:r>
          </a:p>
          <a:p>
            <a:pPr marL="342900" indent="-342900" fontAlgn="t">
              <a:buFont typeface="Arial"/>
              <a:buAutoNum type="arabicPeriod"/>
            </a:pPr>
            <a:r>
              <a:rPr lang="es-MX" sz="1800" dirty="0">
                <a:latin typeface="DM Sans" pitchFamily="2" charset="0"/>
              </a:rPr>
              <a:t>Un banco almacena información financiera en una infraestructura exclusiva administrada por su propio departamento de TI.</a:t>
            </a:r>
          </a:p>
          <a:p>
            <a:pPr marL="342900" indent="-342900" fontAlgn="t">
              <a:buFont typeface="Arial"/>
              <a:buAutoNum type="arabicPeriod"/>
            </a:pPr>
            <a:r>
              <a:rPr lang="es-MX" sz="1800" dirty="0">
                <a:latin typeface="DM Sans" pitchFamily="2" charset="0"/>
              </a:rPr>
              <a:t>Una dependencia gubernamental opera una infraestructura exclusiva para gestionar información sensible de los ciudadanos.</a:t>
            </a:r>
          </a:p>
          <a:p>
            <a:pPr marL="342900" indent="-342900" fontAlgn="t">
              <a:buFont typeface="Arial"/>
              <a:buAutoNum type="arabicPeriod"/>
            </a:pPr>
            <a:r>
              <a:rPr lang="es-MX" sz="1800" dirty="0">
                <a:latin typeface="DM Sans" pitchFamily="2" charset="0"/>
              </a:rPr>
              <a:t>Un grupo de centros de investigación comparte servidores y almacenamiento porque todos trabajan bajo las mismas regulaciones y objetivos científicos.</a:t>
            </a:r>
          </a:p>
          <a:p>
            <a:pPr marL="342900" indent="-342900" fontAlgn="t">
              <a:buFont typeface="Arial"/>
              <a:buAutoNum type="arabicPeriod"/>
            </a:pPr>
            <a:r>
              <a:rPr lang="es-MX" sz="1800" dirty="0">
                <a:latin typeface="DM Sans" pitchFamily="2" charset="0"/>
              </a:rPr>
              <a:t>Una compañía multinacional tiene una nube privada para sus sistemas internos y utiliza Azure para publicar aplicaciones accesibles por clientes externos.</a:t>
            </a:r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lnSpc>
                <a:spcPct val="100000"/>
              </a:lnSpc>
              <a:buAutoNum type="arabicPeriod"/>
            </a:pPr>
            <a:endParaRPr lang="es-MX" sz="1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097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EEF92DDB-9046-E323-9BD9-D042B0B0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D5881F3-0F90-07D9-C3C1-878797837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Preguntas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4D52A4A8-8AE1-2E00-650F-CC4A0F40B97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5280" y="2571750"/>
            <a:ext cx="6585680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dirty="0"/>
              <a:t>1.  ¿Qué ventajas tiene el </a:t>
            </a:r>
            <a:r>
              <a:rPr lang="es-MX" dirty="0" err="1"/>
              <a:t>autoescalamiento</a:t>
            </a:r>
            <a:r>
              <a:rPr lang="es-MX" dirty="0"/>
              <a:t> frente a comprar servidores físicos para la carga máxima posible?</a:t>
            </a:r>
          </a:p>
          <a:p>
            <a:pPr fontAlgn="t"/>
            <a:r>
              <a:rPr lang="es-MX" dirty="0"/>
              <a:t>2. ¿Qué ventajas ofrece una nube híbrida frente a utilizar únicamente una nube pública o privada?</a:t>
            </a:r>
          </a:p>
          <a:p>
            <a:pPr fontAlgn="t"/>
            <a:r>
              <a:rPr lang="es-MX" dirty="0"/>
              <a:t>3. ¿Cuál consideras que es el principal beneficio de la computación en la nube para las organizaciones?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2B82CF-52CE-7E0E-4177-0D15EA2B6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726" y="2885098"/>
            <a:ext cx="1391627" cy="13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82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9E17DE9-F49E-74BD-AA8D-430C5348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A1BBC2-9AF4-9E60-7F3E-DEE1248F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5862" y="3400836"/>
            <a:ext cx="2018138" cy="1751777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157F5795-3F35-9579-E096-AE4D2D8EA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Conclusiones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417542CB-AC66-A176-EEB1-7B514C9221D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56978" y="2571750"/>
            <a:ext cx="7348821" cy="340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La computación en la nube ofrece flexibilidad y escalabilidad.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Cada tipo de nube responde a necesidades diferentes.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La nube pública destaca por su bajo costo.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La nube privada ofrece mayor control y seguridad.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La nube comunitaria favorece la colaboración.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dirty="0"/>
              <a:t>La nube híbrida combina seguridad, flexibilidad y optimización de costos.</a:t>
            </a:r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2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C018A7F-86CA-CC11-C21F-7308954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54;p46">
            <a:extLst>
              <a:ext uri="{FF2B5EF4-FFF2-40B4-BE49-F238E27FC236}">
                <a16:creationId xmlns:a16="http://schemas.microsoft.com/office/drawing/2014/main" id="{B6F7E859-1F5D-C24C-B98A-C0B3EB91F809}"/>
              </a:ext>
            </a:extLst>
          </p:cNvPr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6" name="Google Shape;1355;p46">
              <a:extLst>
                <a:ext uri="{FF2B5EF4-FFF2-40B4-BE49-F238E27FC236}">
                  <a16:creationId xmlns:a16="http://schemas.microsoft.com/office/drawing/2014/main" id="{4148C724-38E2-A26F-23FE-1A2EA35D2E0D}"/>
                </a:ext>
              </a:extLst>
            </p:cNvPr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216" name="Google Shape;1356;p46">
                <a:extLst>
                  <a:ext uri="{FF2B5EF4-FFF2-40B4-BE49-F238E27FC236}">
                    <a16:creationId xmlns:a16="http://schemas.microsoft.com/office/drawing/2014/main" id="{0462B8C8-25FA-AD3F-0540-BE2161A461C8}"/>
                  </a:ext>
                </a:extLst>
              </p:cNvPr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357;p46">
                <a:extLst>
                  <a:ext uri="{FF2B5EF4-FFF2-40B4-BE49-F238E27FC236}">
                    <a16:creationId xmlns:a16="http://schemas.microsoft.com/office/drawing/2014/main" id="{83EEE7E0-056C-7608-2D91-27CC78FCB192}"/>
                  </a:ext>
                </a:extLst>
              </p:cNvPr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358;p46">
                <a:extLst>
                  <a:ext uri="{FF2B5EF4-FFF2-40B4-BE49-F238E27FC236}">
                    <a16:creationId xmlns:a16="http://schemas.microsoft.com/office/drawing/2014/main" id="{DAA0FD89-0AE7-8F03-3140-86925967CD09}"/>
                  </a:ext>
                </a:extLst>
              </p:cNvPr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359;p46">
                <a:extLst>
                  <a:ext uri="{FF2B5EF4-FFF2-40B4-BE49-F238E27FC236}">
                    <a16:creationId xmlns:a16="http://schemas.microsoft.com/office/drawing/2014/main" id="{86DFD6AB-C92D-D786-2AE3-32FD68512759}"/>
                  </a:ext>
                </a:extLst>
              </p:cNvPr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360;p46">
                <a:extLst>
                  <a:ext uri="{FF2B5EF4-FFF2-40B4-BE49-F238E27FC236}">
                    <a16:creationId xmlns:a16="http://schemas.microsoft.com/office/drawing/2014/main" id="{E78FB32E-88B8-F4BB-2801-3F2416C606B8}"/>
                  </a:ext>
                </a:extLst>
              </p:cNvPr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361;p46">
                <a:extLst>
                  <a:ext uri="{FF2B5EF4-FFF2-40B4-BE49-F238E27FC236}">
                    <a16:creationId xmlns:a16="http://schemas.microsoft.com/office/drawing/2014/main" id="{61E2F593-CBAC-D375-B666-04DC4EBA3BE1}"/>
                  </a:ext>
                </a:extLst>
              </p:cNvPr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362;p46">
                <a:extLst>
                  <a:ext uri="{FF2B5EF4-FFF2-40B4-BE49-F238E27FC236}">
                    <a16:creationId xmlns:a16="http://schemas.microsoft.com/office/drawing/2014/main" id="{7508BEDC-10F7-81F4-303C-22C6806F1BA0}"/>
                  </a:ext>
                </a:extLst>
              </p:cNvPr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363;p46">
                <a:extLst>
                  <a:ext uri="{FF2B5EF4-FFF2-40B4-BE49-F238E27FC236}">
                    <a16:creationId xmlns:a16="http://schemas.microsoft.com/office/drawing/2014/main" id="{AD7142DB-8A50-8549-C071-69779F033E0F}"/>
                  </a:ext>
                </a:extLst>
              </p:cNvPr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364;p46">
                <a:extLst>
                  <a:ext uri="{FF2B5EF4-FFF2-40B4-BE49-F238E27FC236}">
                    <a16:creationId xmlns:a16="http://schemas.microsoft.com/office/drawing/2014/main" id="{48EEE8B3-91B5-7CA0-EAC4-A1DEF97491DF}"/>
                  </a:ext>
                </a:extLst>
              </p:cNvPr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365;p46">
                <a:extLst>
                  <a:ext uri="{FF2B5EF4-FFF2-40B4-BE49-F238E27FC236}">
                    <a16:creationId xmlns:a16="http://schemas.microsoft.com/office/drawing/2014/main" id="{8B356F4F-A6E2-8782-8272-53F53283CE86}"/>
                  </a:ext>
                </a:extLst>
              </p:cNvPr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366;p46">
                <a:extLst>
                  <a:ext uri="{FF2B5EF4-FFF2-40B4-BE49-F238E27FC236}">
                    <a16:creationId xmlns:a16="http://schemas.microsoft.com/office/drawing/2014/main" id="{61A27AEB-6F15-3C76-8026-F16234D4BD24}"/>
                  </a:ext>
                </a:extLst>
              </p:cNvPr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367;p46">
                <a:extLst>
                  <a:ext uri="{FF2B5EF4-FFF2-40B4-BE49-F238E27FC236}">
                    <a16:creationId xmlns:a16="http://schemas.microsoft.com/office/drawing/2014/main" id="{C83B03D7-71DB-1F74-6812-E0A765D4F752}"/>
                  </a:ext>
                </a:extLst>
              </p:cNvPr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368;p46">
                <a:extLst>
                  <a:ext uri="{FF2B5EF4-FFF2-40B4-BE49-F238E27FC236}">
                    <a16:creationId xmlns:a16="http://schemas.microsoft.com/office/drawing/2014/main" id="{5171E0D0-6A15-E06B-63E7-C5D4D14FED36}"/>
                  </a:ext>
                </a:extLst>
              </p:cNvPr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369;p46">
                <a:extLst>
                  <a:ext uri="{FF2B5EF4-FFF2-40B4-BE49-F238E27FC236}">
                    <a16:creationId xmlns:a16="http://schemas.microsoft.com/office/drawing/2014/main" id="{C2B575A3-075F-5614-D49D-8FDBD8C10448}"/>
                  </a:ext>
                </a:extLst>
              </p:cNvPr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370;p46">
                <a:extLst>
                  <a:ext uri="{FF2B5EF4-FFF2-40B4-BE49-F238E27FC236}">
                    <a16:creationId xmlns:a16="http://schemas.microsoft.com/office/drawing/2014/main" id="{123DC108-938B-AAA0-8B5F-E9544A768E36}"/>
                  </a:ext>
                </a:extLst>
              </p:cNvPr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1;p46">
              <a:extLst>
                <a:ext uri="{FF2B5EF4-FFF2-40B4-BE49-F238E27FC236}">
                  <a16:creationId xmlns:a16="http://schemas.microsoft.com/office/drawing/2014/main" id="{8398CAFE-2EFD-059B-0901-819A09173DF8}"/>
                </a:ext>
              </a:extLst>
            </p:cNvPr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37" name="Google Shape;1372;p46">
                <a:extLst>
                  <a:ext uri="{FF2B5EF4-FFF2-40B4-BE49-F238E27FC236}">
                    <a16:creationId xmlns:a16="http://schemas.microsoft.com/office/drawing/2014/main" id="{C14C5F47-0ED8-8738-5E9F-6A439D6EE3B0}"/>
                  </a:ext>
                </a:extLst>
              </p:cNvPr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373;p46">
                <a:extLst>
                  <a:ext uri="{FF2B5EF4-FFF2-40B4-BE49-F238E27FC236}">
                    <a16:creationId xmlns:a16="http://schemas.microsoft.com/office/drawing/2014/main" id="{A7DCAD31-82CC-A060-F7E4-2B137139DCCA}"/>
                  </a:ext>
                </a:extLst>
              </p:cNvPr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374;p46">
                <a:extLst>
                  <a:ext uri="{FF2B5EF4-FFF2-40B4-BE49-F238E27FC236}">
                    <a16:creationId xmlns:a16="http://schemas.microsoft.com/office/drawing/2014/main" id="{8E45C684-A95C-1908-EE5E-95A63D6CA7E9}"/>
                  </a:ext>
                </a:extLst>
              </p:cNvPr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75;p46">
                <a:extLst>
                  <a:ext uri="{FF2B5EF4-FFF2-40B4-BE49-F238E27FC236}">
                    <a16:creationId xmlns:a16="http://schemas.microsoft.com/office/drawing/2014/main" id="{166E036A-5527-5B38-5977-D1832179CF83}"/>
                  </a:ext>
                </a:extLst>
              </p:cNvPr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76;p46">
                <a:extLst>
                  <a:ext uri="{FF2B5EF4-FFF2-40B4-BE49-F238E27FC236}">
                    <a16:creationId xmlns:a16="http://schemas.microsoft.com/office/drawing/2014/main" id="{9CB8F72A-9AFE-F109-FAB0-CA6C03A0F18E}"/>
                  </a:ext>
                </a:extLst>
              </p:cNvPr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77;p46">
                <a:extLst>
                  <a:ext uri="{FF2B5EF4-FFF2-40B4-BE49-F238E27FC236}">
                    <a16:creationId xmlns:a16="http://schemas.microsoft.com/office/drawing/2014/main" id="{03EC219F-E730-B5CD-4013-8CFC27DD5344}"/>
                  </a:ext>
                </a:extLst>
              </p:cNvPr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78;p46">
                <a:extLst>
                  <a:ext uri="{FF2B5EF4-FFF2-40B4-BE49-F238E27FC236}">
                    <a16:creationId xmlns:a16="http://schemas.microsoft.com/office/drawing/2014/main" id="{B2F80C91-F831-71EC-7F7C-2C18F480B640}"/>
                  </a:ext>
                </a:extLst>
              </p:cNvPr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79;p46">
                <a:extLst>
                  <a:ext uri="{FF2B5EF4-FFF2-40B4-BE49-F238E27FC236}">
                    <a16:creationId xmlns:a16="http://schemas.microsoft.com/office/drawing/2014/main" id="{A29E9C3A-2C45-072E-4100-8EEAA8BC9950}"/>
                  </a:ext>
                </a:extLst>
              </p:cNvPr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80;p46">
                <a:extLst>
                  <a:ext uri="{FF2B5EF4-FFF2-40B4-BE49-F238E27FC236}">
                    <a16:creationId xmlns:a16="http://schemas.microsoft.com/office/drawing/2014/main" id="{BB3CEB69-135C-D6D5-7F3B-44A10DD33B06}"/>
                  </a:ext>
                </a:extLst>
              </p:cNvPr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81;p46">
                <a:extLst>
                  <a:ext uri="{FF2B5EF4-FFF2-40B4-BE49-F238E27FC236}">
                    <a16:creationId xmlns:a16="http://schemas.microsoft.com/office/drawing/2014/main" id="{83D178A0-798A-E74C-B78B-A0450D078925}"/>
                  </a:ext>
                </a:extLst>
              </p:cNvPr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82;p46">
                <a:extLst>
                  <a:ext uri="{FF2B5EF4-FFF2-40B4-BE49-F238E27FC236}">
                    <a16:creationId xmlns:a16="http://schemas.microsoft.com/office/drawing/2014/main" id="{F0E96067-4FDB-7E95-A614-E9FAAB524F98}"/>
                  </a:ext>
                </a:extLst>
              </p:cNvPr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83;p46">
                <a:extLst>
                  <a:ext uri="{FF2B5EF4-FFF2-40B4-BE49-F238E27FC236}">
                    <a16:creationId xmlns:a16="http://schemas.microsoft.com/office/drawing/2014/main" id="{89133B83-1F9B-41E6-C1B2-BA10BE43C910}"/>
                  </a:ext>
                </a:extLst>
              </p:cNvPr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84;p46">
                <a:extLst>
                  <a:ext uri="{FF2B5EF4-FFF2-40B4-BE49-F238E27FC236}">
                    <a16:creationId xmlns:a16="http://schemas.microsoft.com/office/drawing/2014/main" id="{DC093138-E0EE-1E57-86EC-4869A4A42E3B}"/>
                  </a:ext>
                </a:extLst>
              </p:cNvPr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85;p46">
                <a:extLst>
                  <a:ext uri="{FF2B5EF4-FFF2-40B4-BE49-F238E27FC236}">
                    <a16:creationId xmlns:a16="http://schemas.microsoft.com/office/drawing/2014/main" id="{D7BD1217-94F1-5EC9-9158-E01EAD898E31}"/>
                  </a:ext>
                </a:extLst>
              </p:cNvPr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86;p46">
                <a:extLst>
                  <a:ext uri="{FF2B5EF4-FFF2-40B4-BE49-F238E27FC236}">
                    <a16:creationId xmlns:a16="http://schemas.microsoft.com/office/drawing/2014/main" id="{5DDAA9E5-2DD5-756C-63FB-0955B9A7726B}"/>
                  </a:ext>
                </a:extLst>
              </p:cNvPr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87;p46">
                <a:extLst>
                  <a:ext uri="{FF2B5EF4-FFF2-40B4-BE49-F238E27FC236}">
                    <a16:creationId xmlns:a16="http://schemas.microsoft.com/office/drawing/2014/main" id="{047C6C6D-0008-9CB5-E76E-5378ADCE2949}"/>
                  </a:ext>
                </a:extLst>
              </p:cNvPr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88;p46">
                <a:extLst>
                  <a:ext uri="{FF2B5EF4-FFF2-40B4-BE49-F238E27FC236}">
                    <a16:creationId xmlns:a16="http://schemas.microsoft.com/office/drawing/2014/main" id="{48FA3305-0CF5-558F-C19B-F9DAECB67E7B}"/>
                  </a:ext>
                </a:extLst>
              </p:cNvPr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89;p46">
                <a:extLst>
                  <a:ext uri="{FF2B5EF4-FFF2-40B4-BE49-F238E27FC236}">
                    <a16:creationId xmlns:a16="http://schemas.microsoft.com/office/drawing/2014/main" id="{81212920-DC06-4270-C3D4-733E916062FE}"/>
                  </a:ext>
                </a:extLst>
              </p:cNvPr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390;p46">
                <a:extLst>
                  <a:ext uri="{FF2B5EF4-FFF2-40B4-BE49-F238E27FC236}">
                    <a16:creationId xmlns:a16="http://schemas.microsoft.com/office/drawing/2014/main" id="{EE2D83C4-3762-1087-AD37-B85738F5E4F9}"/>
                  </a:ext>
                </a:extLst>
              </p:cNvPr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391;p46">
                <a:extLst>
                  <a:ext uri="{FF2B5EF4-FFF2-40B4-BE49-F238E27FC236}">
                    <a16:creationId xmlns:a16="http://schemas.microsoft.com/office/drawing/2014/main" id="{E1CF7B8B-AD8D-33FE-0CB8-7CC69F7E4858}"/>
                  </a:ext>
                </a:extLst>
              </p:cNvPr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392;p46">
                <a:extLst>
                  <a:ext uri="{FF2B5EF4-FFF2-40B4-BE49-F238E27FC236}">
                    <a16:creationId xmlns:a16="http://schemas.microsoft.com/office/drawing/2014/main" id="{B06FDDC6-4A35-FE1C-845C-C875A7762795}"/>
                  </a:ext>
                </a:extLst>
              </p:cNvPr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393;p46">
                <a:extLst>
                  <a:ext uri="{FF2B5EF4-FFF2-40B4-BE49-F238E27FC236}">
                    <a16:creationId xmlns:a16="http://schemas.microsoft.com/office/drawing/2014/main" id="{B7F0253B-A97F-80D4-D252-513927151861}"/>
                  </a:ext>
                </a:extLst>
              </p:cNvPr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394;p46">
                <a:extLst>
                  <a:ext uri="{FF2B5EF4-FFF2-40B4-BE49-F238E27FC236}">
                    <a16:creationId xmlns:a16="http://schemas.microsoft.com/office/drawing/2014/main" id="{614A94F6-6AB0-EBEB-D9FB-D399BF9E4A2B}"/>
                  </a:ext>
                </a:extLst>
              </p:cNvPr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395;p46">
                <a:extLst>
                  <a:ext uri="{FF2B5EF4-FFF2-40B4-BE49-F238E27FC236}">
                    <a16:creationId xmlns:a16="http://schemas.microsoft.com/office/drawing/2014/main" id="{92714F7C-4FCE-E2B7-1E7B-17A4FAC947B6}"/>
                  </a:ext>
                </a:extLst>
              </p:cNvPr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396;p46">
                <a:extLst>
                  <a:ext uri="{FF2B5EF4-FFF2-40B4-BE49-F238E27FC236}">
                    <a16:creationId xmlns:a16="http://schemas.microsoft.com/office/drawing/2014/main" id="{6CE1C778-7E61-CB94-F907-4440CE75DE73}"/>
                  </a:ext>
                </a:extLst>
              </p:cNvPr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397;p46">
                <a:extLst>
                  <a:ext uri="{FF2B5EF4-FFF2-40B4-BE49-F238E27FC236}">
                    <a16:creationId xmlns:a16="http://schemas.microsoft.com/office/drawing/2014/main" id="{13FAFA99-5DFC-07A9-B4A9-F2F41147C1A1}"/>
                  </a:ext>
                </a:extLst>
              </p:cNvPr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398;p46">
                <a:extLst>
                  <a:ext uri="{FF2B5EF4-FFF2-40B4-BE49-F238E27FC236}">
                    <a16:creationId xmlns:a16="http://schemas.microsoft.com/office/drawing/2014/main" id="{B0EEF9CB-971A-0B2C-8188-F6EF7FE9351B}"/>
                  </a:ext>
                </a:extLst>
              </p:cNvPr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399;p46">
              <a:extLst>
                <a:ext uri="{FF2B5EF4-FFF2-40B4-BE49-F238E27FC236}">
                  <a16:creationId xmlns:a16="http://schemas.microsoft.com/office/drawing/2014/main" id="{B6090973-C71C-E6E6-DAB1-0C7838AD2094}"/>
                </a:ext>
              </a:extLst>
            </p:cNvPr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29" name="Google Shape;1400;p46">
                <a:extLst>
                  <a:ext uri="{FF2B5EF4-FFF2-40B4-BE49-F238E27FC236}">
                    <a16:creationId xmlns:a16="http://schemas.microsoft.com/office/drawing/2014/main" id="{F59D9D9E-E510-6AD8-7E5A-024E6B5DF6E1}"/>
                  </a:ext>
                </a:extLst>
              </p:cNvPr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401;p46">
                <a:extLst>
                  <a:ext uri="{FF2B5EF4-FFF2-40B4-BE49-F238E27FC236}">
                    <a16:creationId xmlns:a16="http://schemas.microsoft.com/office/drawing/2014/main" id="{491A1871-F3E0-DB91-7EAD-2AA522F5F8B3}"/>
                  </a:ext>
                </a:extLst>
              </p:cNvPr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402;p46">
                <a:extLst>
                  <a:ext uri="{FF2B5EF4-FFF2-40B4-BE49-F238E27FC236}">
                    <a16:creationId xmlns:a16="http://schemas.microsoft.com/office/drawing/2014/main" id="{00905705-CEA8-1252-5599-E945E08A7EB3}"/>
                  </a:ext>
                </a:extLst>
              </p:cNvPr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403;p46">
                <a:extLst>
                  <a:ext uri="{FF2B5EF4-FFF2-40B4-BE49-F238E27FC236}">
                    <a16:creationId xmlns:a16="http://schemas.microsoft.com/office/drawing/2014/main" id="{EAA14F6C-DA39-8233-109D-2FEE3BD42030}"/>
                  </a:ext>
                </a:extLst>
              </p:cNvPr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404;p46">
                <a:extLst>
                  <a:ext uri="{FF2B5EF4-FFF2-40B4-BE49-F238E27FC236}">
                    <a16:creationId xmlns:a16="http://schemas.microsoft.com/office/drawing/2014/main" id="{F82F3270-C693-2903-595D-DF89F1B45207}"/>
                  </a:ext>
                </a:extLst>
              </p:cNvPr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405;p46">
                <a:extLst>
                  <a:ext uri="{FF2B5EF4-FFF2-40B4-BE49-F238E27FC236}">
                    <a16:creationId xmlns:a16="http://schemas.microsoft.com/office/drawing/2014/main" id="{D0C5E55C-5136-B7D2-8E76-7C39F8B31961}"/>
                  </a:ext>
                </a:extLst>
              </p:cNvPr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06;p46">
                <a:extLst>
                  <a:ext uri="{FF2B5EF4-FFF2-40B4-BE49-F238E27FC236}">
                    <a16:creationId xmlns:a16="http://schemas.microsoft.com/office/drawing/2014/main" id="{90E0E0FF-B54E-CA3B-2DAD-16CA815C91BF}"/>
                  </a:ext>
                </a:extLst>
              </p:cNvPr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07;p46">
                <a:extLst>
                  <a:ext uri="{FF2B5EF4-FFF2-40B4-BE49-F238E27FC236}">
                    <a16:creationId xmlns:a16="http://schemas.microsoft.com/office/drawing/2014/main" id="{83491743-2F50-1ADD-96AB-3F3B011E610B}"/>
                  </a:ext>
                </a:extLst>
              </p:cNvPr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408;p46">
              <a:extLst>
                <a:ext uri="{FF2B5EF4-FFF2-40B4-BE49-F238E27FC236}">
                  <a16:creationId xmlns:a16="http://schemas.microsoft.com/office/drawing/2014/main" id="{608B1A4A-E7D0-B59B-AA6A-4DBB9E9CE6BE}"/>
                </a:ext>
              </a:extLst>
            </p:cNvPr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7" name="Google Shape;1409;p46">
                <a:extLst>
                  <a:ext uri="{FF2B5EF4-FFF2-40B4-BE49-F238E27FC236}">
                    <a16:creationId xmlns:a16="http://schemas.microsoft.com/office/drawing/2014/main" id="{252EA5D4-D44B-632B-E23A-E05D7B45BA5C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410;p46">
                <a:extLst>
                  <a:ext uri="{FF2B5EF4-FFF2-40B4-BE49-F238E27FC236}">
                    <a16:creationId xmlns:a16="http://schemas.microsoft.com/office/drawing/2014/main" id="{7D050D22-8E01-F794-E59E-9C118AF41680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411;p46">
                <a:extLst>
                  <a:ext uri="{FF2B5EF4-FFF2-40B4-BE49-F238E27FC236}">
                    <a16:creationId xmlns:a16="http://schemas.microsoft.com/office/drawing/2014/main" id="{AF6FA0F5-1F8E-103E-976A-E57AEF711EDB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412;p46">
                <a:extLst>
                  <a:ext uri="{FF2B5EF4-FFF2-40B4-BE49-F238E27FC236}">
                    <a16:creationId xmlns:a16="http://schemas.microsoft.com/office/drawing/2014/main" id="{EB31B3A7-2ADF-ADD7-DE69-5B5D4FAB069A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413;p46">
                <a:extLst>
                  <a:ext uri="{FF2B5EF4-FFF2-40B4-BE49-F238E27FC236}">
                    <a16:creationId xmlns:a16="http://schemas.microsoft.com/office/drawing/2014/main" id="{15085929-E205-145D-56C9-D3D5C5E8697B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414;p46">
                <a:extLst>
                  <a:ext uri="{FF2B5EF4-FFF2-40B4-BE49-F238E27FC236}">
                    <a16:creationId xmlns:a16="http://schemas.microsoft.com/office/drawing/2014/main" id="{A3E4CA8D-F6D9-2721-74BE-65E393AD275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415;p46">
                <a:extLst>
                  <a:ext uri="{FF2B5EF4-FFF2-40B4-BE49-F238E27FC236}">
                    <a16:creationId xmlns:a16="http://schemas.microsoft.com/office/drawing/2014/main" id="{C16FAA2A-CA7F-A464-AACE-EC0BEDBFE0FB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416;p46">
                <a:extLst>
                  <a:ext uri="{FF2B5EF4-FFF2-40B4-BE49-F238E27FC236}">
                    <a16:creationId xmlns:a16="http://schemas.microsoft.com/office/drawing/2014/main" id="{C800C152-99B9-DFC2-2FF2-E7D13ECA0EF1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417;p46">
                <a:extLst>
                  <a:ext uri="{FF2B5EF4-FFF2-40B4-BE49-F238E27FC236}">
                    <a16:creationId xmlns:a16="http://schemas.microsoft.com/office/drawing/2014/main" id="{BC04A0BA-BDC8-A2A2-3871-3D17F83EF3B4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418;p46">
                <a:extLst>
                  <a:ext uri="{FF2B5EF4-FFF2-40B4-BE49-F238E27FC236}">
                    <a16:creationId xmlns:a16="http://schemas.microsoft.com/office/drawing/2014/main" id="{4B2CF7A3-5262-049A-024C-E006B415AA33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419;p46">
                <a:extLst>
                  <a:ext uri="{FF2B5EF4-FFF2-40B4-BE49-F238E27FC236}">
                    <a16:creationId xmlns:a16="http://schemas.microsoft.com/office/drawing/2014/main" id="{A2649871-B104-066B-3AF7-4A922A0FD631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420;p46">
                <a:extLst>
                  <a:ext uri="{FF2B5EF4-FFF2-40B4-BE49-F238E27FC236}">
                    <a16:creationId xmlns:a16="http://schemas.microsoft.com/office/drawing/2014/main" id="{1CE89A9D-CA6E-EAE6-E328-A03E571F4D5D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421;p46">
              <a:extLst>
                <a:ext uri="{FF2B5EF4-FFF2-40B4-BE49-F238E27FC236}">
                  <a16:creationId xmlns:a16="http://schemas.microsoft.com/office/drawing/2014/main" id="{06F0C393-B191-67A2-411A-F22BFC9856F2}"/>
                </a:ext>
              </a:extLst>
            </p:cNvPr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22;p46">
              <a:extLst>
                <a:ext uri="{FF2B5EF4-FFF2-40B4-BE49-F238E27FC236}">
                  <a16:creationId xmlns:a16="http://schemas.microsoft.com/office/drawing/2014/main" id="{D2407A61-1ADC-5061-D38B-5D2DE11BEF0E}"/>
                </a:ext>
              </a:extLst>
            </p:cNvPr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23;p46">
              <a:extLst>
                <a:ext uri="{FF2B5EF4-FFF2-40B4-BE49-F238E27FC236}">
                  <a16:creationId xmlns:a16="http://schemas.microsoft.com/office/drawing/2014/main" id="{2C71B788-7155-DFCC-3FD8-5CB8A5C2E4E0}"/>
                </a:ext>
              </a:extLst>
            </p:cNvPr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24;p46">
              <a:extLst>
                <a:ext uri="{FF2B5EF4-FFF2-40B4-BE49-F238E27FC236}">
                  <a16:creationId xmlns:a16="http://schemas.microsoft.com/office/drawing/2014/main" id="{FB80BE75-881A-707C-BDA9-E7C606967DF1}"/>
                </a:ext>
              </a:extLst>
            </p:cNvPr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25;p46">
              <a:extLst>
                <a:ext uri="{FF2B5EF4-FFF2-40B4-BE49-F238E27FC236}">
                  <a16:creationId xmlns:a16="http://schemas.microsoft.com/office/drawing/2014/main" id="{390D9617-27E0-D812-4957-28B3BB5F02CC}"/>
                </a:ext>
              </a:extLst>
            </p:cNvPr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5" name="Google Shape;1426;p46">
                <a:extLst>
                  <a:ext uri="{FF2B5EF4-FFF2-40B4-BE49-F238E27FC236}">
                    <a16:creationId xmlns:a16="http://schemas.microsoft.com/office/drawing/2014/main" id="{D2463554-BABF-92E9-8043-1EFE60D67739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427;p46">
                <a:extLst>
                  <a:ext uri="{FF2B5EF4-FFF2-40B4-BE49-F238E27FC236}">
                    <a16:creationId xmlns:a16="http://schemas.microsoft.com/office/drawing/2014/main" id="{AC7E0C2B-E0C3-1F4F-5E7E-D116CFE7A733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1" name="Google Shape;1340;p46">
            <a:extLst>
              <a:ext uri="{FF2B5EF4-FFF2-40B4-BE49-F238E27FC236}">
                <a16:creationId xmlns:a16="http://schemas.microsoft.com/office/drawing/2014/main" id="{0A424EE2-24A4-E718-B16A-FAF20D056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088" y="183804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Gracias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1666016412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773</Words>
  <Application>Microsoft Office PowerPoint</Application>
  <PresentationFormat>Presentación en pantalla (16:9)</PresentationFormat>
  <Paragraphs>160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Calibri</vt:lpstr>
      <vt:lpstr>Nunito Light</vt:lpstr>
      <vt:lpstr>Anaheim</vt:lpstr>
      <vt:lpstr>Segoe UI</vt:lpstr>
      <vt:lpstr>DM Sans Medium</vt:lpstr>
      <vt:lpstr>Baloo 2 ExtraBold</vt:lpstr>
      <vt:lpstr>Arial</vt:lpstr>
      <vt:lpstr>DM Sans</vt:lpstr>
      <vt:lpstr>Statistics and Data Analysis - 6th Grade by Slidesgo</vt:lpstr>
      <vt:lpstr>Base de datos para Ciencia de Datos</vt:lpstr>
      <vt:lpstr>2.2.1</vt:lpstr>
      <vt:lpstr>Tema 2. 2 Tipos de nube 2.2.1 Nube Pública</vt:lpstr>
      <vt:lpstr>Proveedores más conocidos</vt:lpstr>
      <vt:lpstr>Características</vt:lpstr>
      <vt:lpstr>Ventajas</vt:lpstr>
      <vt:lpstr>Desventajas</vt:lpstr>
      <vt:lpstr>Ejemplo Nube Pública</vt:lpstr>
      <vt:lpstr>Preguntas</vt:lpstr>
      <vt:lpstr>2.2.2 Nube comunitaria</vt:lpstr>
      <vt:lpstr>Características</vt:lpstr>
      <vt:lpstr>Ventajas</vt:lpstr>
      <vt:lpstr>DesventajasSemiestructurados </vt:lpstr>
      <vt:lpstr>Ejemplo Nube Comunitaria</vt:lpstr>
      <vt:lpstr>Preguntas</vt:lpstr>
      <vt:lpstr>2.2.3 Nube privada  Semiestructurados </vt:lpstr>
      <vt:lpstr>Características</vt:lpstr>
      <vt:lpstr>Ventajas</vt:lpstr>
      <vt:lpstr>Desventajas</vt:lpstr>
      <vt:lpstr>Ejemplo Nube Privada</vt:lpstr>
      <vt:lpstr>Preguntas</vt:lpstr>
      <vt:lpstr>2.2.4 Nube Híbrida   Semiestructurados </vt:lpstr>
      <vt:lpstr>Características   Semiestructurados </vt:lpstr>
      <vt:lpstr>Ventajas   Semiestructurados </vt:lpstr>
      <vt:lpstr>Desventajas   Semiestructurados </vt:lpstr>
      <vt:lpstr>Ejemplo Nube Hibrida</vt:lpstr>
      <vt:lpstr>Preguntas</vt:lpstr>
      <vt:lpstr>Tabla comparativa de los cuatro tipos de nube</vt:lpstr>
      <vt:lpstr>Casos reales   Semiestructurados </vt:lpstr>
      <vt:lpstr>Ejercicios. Tipos de Nube</vt:lpstr>
      <vt:lpstr>Identificación de tipo de nube</vt:lpstr>
      <vt:lpstr>Preguntas</vt:lpstr>
      <vt:lpstr>Conclusiones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 RAMIREZ BLANCA ESTHELA</dc:creator>
  <cp:lastModifiedBy>TORRES RAMIREZ BLANCA ESTHELA</cp:lastModifiedBy>
  <cp:revision>103</cp:revision>
  <dcterms:modified xsi:type="dcterms:W3CDTF">2026-10-14T23:57:06Z</dcterms:modified>
</cp:coreProperties>
</file>