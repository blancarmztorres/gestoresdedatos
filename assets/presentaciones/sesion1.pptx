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7" r:id="rId4"/>
    <p:sldId id="276" r:id="rId5"/>
    <p:sldId id="277" r:id="rId6"/>
    <p:sldId id="278" r:id="rId7"/>
    <p:sldId id="259" r:id="rId8"/>
    <p:sldId id="260" r:id="rId9"/>
    <p:sldId id="261" r:id="rId10"/>
    <p:sldId id="279" r:id="rId11"/>
    <p:sldId id="280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81" r:id="rId21"/>
    <p:sldId id="270" r:id="rId22"/>
    <p:sldId id="271" r:id="rId23"/>
    <p:sldId id="272" r:id="rId24"/>
    <p:sldId id="273" r:id="rId25"/>
    <p:sldId id="275" r:id="rId26"/>
    <p:sldId id="274" r:id="rId2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4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45085" autoAdjust="0"/>
  </p:normalViewPr>
  <p:slideViewPr>
    <p:cSldViewPr snapToGrid="0">
      <p:cViewPr varScale="1">
        <p:scale>
          <a:sx n="43" d="100"/>
          <a:sy n="43" d="100"/>
        </p:scale>
        <p:origin x="221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A523A-3CB4-4D63-B5A3-5471D3655F40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26CFE-A0BA-4F3A-8ED4-C95057FA6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6708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26CFE-A0BA-4F3A-8ED4-C95057FA602F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0571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26CFE-A0BA-4F3A-8ED4-C95057FA602F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5773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26CFE-A0BA-4F3A-8ED4-C95057FA602F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936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F52E8-F234-691F-8107-B6F47EFFE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A3406E-2599-40B3-7C7A-219D738F5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21571D-96AD-A564-0912-B633924BF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127505-D9F5-37FB-60FB-5BF01A054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176344-B7B6-8F03-E0E1-543E4ABE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1445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AE63C-91C0-F8CE-9265-F52BDBD3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BD48CE-91F1-AB51-E16E-2BD400451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CF08FA-9180-AF23-3094-74BC3CFF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E074B2-C7CD-E91A-B9D7-4283858A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857098-167B-B4E4-1C47-94D4683F7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426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3DD30-F9DD-6565-6066-EC5CC402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392F2F-B649-0065-7DFD-912357B82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B1A588-3CBC-8181-093F-C47CFFD8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1E6121-D22D-98F5-6589-47C7CBD7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330B92-B1C5-0E1B-A55D-9929F8C2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130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DC31B-6A62-E67B-76C7-F0D23A386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F2FF6C-BD1B-379B-1050-988C4C79A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830847-FB8A-E6A1-A4F8-828662833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3CFD6F-3304-37E7-F795-F2D3AD2C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A66BC2-3079-D658-BB84-840A02AF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7B90D9-78F5-46F8-26DA-7683CB98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797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ABB930-D731-72F1-859C-235DF929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828AAA-F81F-E03F-EA24-1B41324C6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468A16-C84A-28FD-9B92-9338344A3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831C760-C362-7D7F-D3B2-5A02EA9AC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CC37527-5AC6-8DA7-BA80-64747C406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C167E14-A8F1-A2F3-9335-16B09DAE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D412789-2455-148D-BD4B-D3416EC7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B47C07-4B0E-2252-114C-0774F7AA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148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5E879-3EC4-8E48-7CDA-29B514C33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0AECE6-5788-E3AE-4D4C-2563E6247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5F8D67C-CBFE-3F0E-D580-BA7ABB7A1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086CE4-F7FD-9E15-FC9A-48C174A3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5059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2FD079-0081-E4EA-00F4-9DB3DD5D5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E4F613-BDDD-CE7C-ABF7-0B4230472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63D5F8-4DCF-82E3-6BC4-79038140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1718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C1A77-D213-19FD-514E-C8D24C2E1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385CFB-95C2-8087-FCED-EE412EA5A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1A7021-2802-33F0-3452-051EACAC1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17FBC4-82F7-FA03-FEF8-CA8EB5282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D0CCE0-8961-C1E2-7C48-F468E17B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4A5FEE-ED7D-C2DE-8712-415FC67F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9842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FA01F-96AF-C642-A510-DE2F28477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A1271B-76DB-7613-CE64-C276B4294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F3032-4527-3728-975B-88D097592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1923CD-32D2-6477-4CC3-ABB5CF59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DECD09-59E3-6558-E7C8-5979CEE59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07445C-F27E-FA5C-546F-09A2F456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6855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AD129-8F9E-2E3A-A2D9-29CC3F61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3A7A96-E00A-B505-960E-4566C99C8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002E7A-DC72-2F17-7DF9-183D8211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799F09-956C-B499-D14A-51BBC3141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290AF6-B3AB-B962-35F9-D0C380C0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800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ACD7D7-C56F-B616-CAFA-B40B05117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E39604-BBFC-9C5F-065F-77EEDD5DB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38918A-0A02-E326-1F97-292D7A9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0DE762-AA8B-508D-FA6F-44AFA0DA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ED9012-8ED8-6B49-D6CD-EA70E3214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2881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939D9D-781A-A5E2-9973-B7EBB83E8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CCF526-2DDA-068C-F895-6CA09D585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18E578-18D3-A0B5-CFE0-E6CD1C4D2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2E02C-2637-4F86-86B9-892CF971B664}" type="datetimeFigureOut">
              <a:rPr lang="es-MX" smtClean="0"/>
              <a:t>14/10/2026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C565FD-5590-534F-2221-E176B3D36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38F552-51EB-1CA3-D03B-865B9409F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BD81E-9837-46D6-975D-DEBC5EE770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06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C6BC839-A078-F287-4A5A-0EF6680FE21D}"/>
              </a:ext>
            </a:extLst>
          </p:cNvPr>
          <p:cNvSpPr txBox="1"/>
          <p:nvPr/>
        </p:nvSpPr>
        <p:spPr>
          <a:xfrm>
            <a:off x="1766958" y="2032000"/>
            <a:ext cx="834529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200" b="1" dirty="0"/>
              <a:t>Universidad de la Ciudad de Aguascalientes</a:t>
            </a:r>
          </a:p>
          <a:p>
            <a:pPr algn="ctr"/>
            <a:endParaRPr lang="es-MX" sz="3200" b="1" dirty="0"/>
          </a:p>
          <a:p>
            <a:pPr algn="ctr"/>
            <a:endParaRPr lang="es-MX" sz="3200" b="1" dirty="0"/>
          </a:p>
          <a:p>
            <a:pPr algn="ctr"/>
            <a:r>
              <a:rPr lang="es-MX" sz="3200" b="1" dirty="0"/>
              <a:t>Base de Datos para Ciencia de Datos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B01A191-A154-8AC1-0F99-2EDFFE7D9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38" y="4590734"/>
            <a:ext cx="2054961" cy="22672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659ED2D-CA18-EADC-89F5-61F4083EB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752600" cy="89860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B84FEB7-1C40-03E0-AE24-9F802E67E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33" y="4590734"/>
            <a:ext cx="1981477" cy="2267266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43BBA39-77AA-E943-35D0-1243AAAC3E39}"/>
              </a:ext>
            </a:extLst>
          </p:cNvPr>
          <p:cNvSpPr/>
          <p:nvPr/>
        </p:nvSpPr>
        <p:spPr>
          <a:xfrm>
            <a:off x="-12733" y="898605"/>
            <a:ext cx="12192000" cy="45719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0462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BBE0ED0-23DF-63BC-7D4A-91CE73C71B26}"/>
              </a:ext>
            </a:extLst>
          </p:cNvPr>
          <p:cNvSpPr txBox="1"/>
          <p:nvPr/>
        </p:nvSpPr>
        <p:spPr>
          <a:xfrm>
            <a:off x="2497931" y="3048863"/>
            <a:ext cx="7196137" cy="760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360"/>
              </a:lnSpc>
            </a:pPr>
            <a:r>
              <a:rPr lang="es-MX" sz="9600" dirty="0"/>
              <a:t>Presentación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EAA10AB-E6C8-0551-7E65-6B9C755D7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379200" cy="1143000"/>
          </a:xfrm>
        </p:spPr>
        <p:txBody>
          <a:bodyPr>
            <a:normAutofit/>
          </a:bodyPr>
          <a:lstStyle/>
          <a:p>
            <a:pPr algn="ctr"/>
            <a:r>
              <a:rPr lang="es-MX" sz="3600" b="1" dirty="0">
                <a:solidFill>
                  <a:schemeClr val="bg1"/>
                </a:solidFill>
                <a:latin typeface="Aptos" panose="020B0004020202020204" pitchFamily="34" charset="0"/>
              </a:rPr>
              <a:t>Contacto</a:t>
            </a:r>
            <a:endParaRPr sz="3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79F86400-AA4F-74E8-19A7-B8838CF20EF0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452B1FE9-DE35-7CD1-D905-AFF3D201C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524600B6-3AF4-0514-4AD7-89DAE1F71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9F95B011-F2A6-E7E2-ECF7-7BCE1AB28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C874F600-3F3C-2BE5-38C3-75BBE9D67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888F1CF7-6CF8-1666-B992-51BEC97E7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2A1BC1BA-DAC2-B744-2FDE-0E5EB6A34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F2EDBC5F-2230-5DB5-6354-05D8E169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79D904A8-A18B-E548-1BBA-C891F5C93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F581D771-126C-94C1-75EE-FC976C480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B863B172-1677-9345-655C-F2C4C9AA8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8E3F9DB4-E4D1-C584-9FE8-39BB035DF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783361D7-9574-E8F2-BED4-19EE3D673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E585737A-466B-9C3E-5B72-45DD02BDC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E2D7BE0-C3E9-1635-8037-2D6445FC1BA7}"/>
              </a:ext>
            </a:extLst>
          </p:cNvPr>
          <p:cNvSpPr/>
          <p:nvPr/>
        </p:nvSpPr>
        <p:spPr>
          <a:xfrm flipV="1">
            <a:off x="0" y="1"/>
            <a:ext cx="12192000" cy="251115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0365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A2A33553-8247-6417-D891-806E58619636}"/>
              </a:ext>
            </a:extLst>
          </p:cNvPr>
          <p:cNvSpPr/>
          <p:nvPr/>
        </p:nvSpPr>
        <p:spPr>
          <a:xfrm flipV="1">
            <a:off x="0" y="1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705B6F-7650-A5E2-719C-9D92EC64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379200" cy="1143000"/>
          </a:xfrm>
        </p:spPr>
        <p:txBody>
          <a:bodyPr>
            <a:normAutofit/>
          </a:bodyPr>
          <a:lstStyle/>
          <a:p>
            <a:pPr algn="ctr"/>
            <a:r>
              <a:rPr sz="3600" b="1" dirty="0">
                <a:solidFill>
                  <a:schemeClr val="bg1"/>
                </a:solidFill>
                <a:latin typeface="Aptos" panose="020B0004020202020204" pitchFamily="34" charset="0"/>
              </a:rPr>
              <a:t>¿Por </a:t>
            </a:r>
            <a:r>
              <a:rPr sz="3600" b="1" dirty="0" err="1">
                <a:solidFill>
                  <a:schemeClr val="bg1"/>
                </a:solidFill>
                <a:latin typeface="Aptos" panose="020B0004020202020204" pitchFamily="34" charset="0"/>
              </a:rPr>
              <a:t>qué</a:t>
            </a:r>
            <a:r>
              <a:rPr sz="36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Aptos" panose="020B0004020202020204" pitchFamily="34" charset="0"/>
              </a:rPr>
              <a:t>estudiar</a:t>
            </a:r>
            <a:r>
              <a:rPr sz="3600" b="1" dirty="0">
                <a:solidFill>
                  <a:schemeClr val="bg1"/>
                </a:solidFill>
                <a:latin typeface="Aptos" panose="020B0004020202020204" pitchFamily="34" charset="0"/>
              </a:rPr>
              <a:t> bases de datos </a:t>
            </a:r>
            <a:r>
              <a:rPr sz="3600" b="1" dirty="0" err="1">
                <a:solidFill>
                  <a:schemeClr val="bg1"/>
                </a:solidFill>
                <a:latin typeface="Aptos" panose="020B0004020202020204" pitchFamily="34" charset="0"/>
              </a:rPr>
              <a:t>en</a:t>
            </a:r>
            <a:r>
              <a:rPr sz="3600" b="1" dirty="0">
                <a:solidFill>
                  <a:schemeClr val="bg1"/>
                </a:solidFill>
                <a:latin typeface="Aptos" panose="020B0004020202020204" pitchFamily="34" charset="0"/>
              </a:rPr>
              <a:t> Ciencia de Datos?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254D33-6E8E-68E6-DFF6-923018C2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7534"/>
            <a:ext cx="11379200" cy="2971800"/>
          </a:xfrm>
        </p:spPr>
        <p:txBody>
          <a:bodyPr/>
          <a:lstStyle/>
          <a:p>
            <a:pPr>
              <a:spcAft>
                <a:spcPts val="1200"/>
              </a:spcAft>
              <a:defRPr sz="2400"/>
            </a:pPr>
            <a:r>
              <a:rPr dirty="0"/>
              <a:t>Los datos son la </a:t>
            </a:r>
            <a:r>
              <a:rPr dirty="0" err="1"/>
              <a:t>materia</a:t>
            </a:r>
            <a:r>
              <a:rPr dirty="0"/>
              <a:t> prima de la Ciencia de Datos</a:t>
            </a:r>
          </a:p>
          <a:p>
            <a:pPr>
              <a:spcAft>
                <a:spcPts val="1200"/>
              </a:spcAft>
              <a:defRPr sz="2400"/>
            </a:pPr>
            <a:r>
              <a:rPr dirty="0" err="1"/>
              <a:t>Necesitamos</a:t>
            </a:r>
            <a:r>
              <a:rPr dirty="0"/>
              <a:t> </a:t>
            </a:r>
            <a:r>
              <a:rPr dirty="0" err="1"/>
              <a:t>almacenarlos</a:t>
            </a:r>
            <a:r>
              <a:rPr dirty="0"/>
              <a:t>, </a:t>
            </a:r>
            <a:r>
              <a:rPr dirty="0" err="1"/>
              <a:t>organizarlos</a:t>
            </a:r>
            <a:r>
              <a:rPr dirty="0"/>
              <a:t>, </a:t>
            </a:r>
            <a:r>
              <a:rPr dirty="0" err="1"/>
              <a:t>consultarlos</a:t>
            </a:r>
            <a:r>
              <a:rPr dirty="0"/>
              <a:t> y </a:t>
            </a:r>
            <a:r>
              <a:rPr dirty="0" err="1"/>
              <a:t>procesarlos</a:t>
            </a:r>
            <a:endParaRPr lang="es-MX" dirty="0"/>
          </a:p>
          <a:p>
            <a:pPr>
              <a:spcAft>
                <a:spcPts val="1200"/>
              </a:spcAft>
              <a:defRPr sz="2400"/>
            </a:pPr>
            <a:r>
              <a:rPr lang="es-MX" dirty="0"/>
              <a:t>La tecnología de almacenamiento influye en el análisis y la toma de decisiones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Las </a:t>
            </a:r>
            <a:r>
              <a:rPr dirty="0" err="1"/>
              <a:t>fuentes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ser </a:t>
            </a:r>
            <a:r>
              <a:rPr dirty="0" err="1"/>
              <a:t>estructuradas</a:t>
            </a:r>
            <a:r>
              <a:rPr dirty="0"/>
              <a:t>, </a:t>
            </a:r>
            <a:r>
              <a:rPr dirty="0" err="1"/>
              <a:t>semiestructuradas</a:t>
            </a:r>
            <a:r>
              <a:rPr dirty="0"/>
              <a:t> y de gran volumen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F9D7F0F1-2782-D5BA-A4B9-FD5474907FD2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8000C1BB-C224-C9EB-C94C-C991FB23B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D5EA6D3E-A9F7-9924-0FA7-0FF569727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7C7E311B-A230-0C1F-A92D-D8DF02297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741FFF01-AFAC-EBDF-E3E9-1BA604E8A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54A96FF5-BC54-19A7-228F-C0F3D1E9A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B04618D0-3BDE-5A96-9B6B-5397C4231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75B09AB4-3882-086A-2A2D-9394D8552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153E2D99-7E6E-FB0A-D6E4-E47118FBB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9718465B-9053-DEE0-B359-09CCB2613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84D76AF5-C0C0-E6B8-7E84-6DCDDDC0C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23679BA9-2158-41F2-8DAD-A476DC7A3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27956CF0-9190-ED09-0E6C-DC86E61A0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6471731F-870E-B45D-8B8F-65C50A23D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433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B75C-40DA-B557-B460-DA50DF4C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E650F89-3ABA-0404-6636-F9A69E8123D4}"/>
              </a:ext>
            </a:extLst>
          </p:cNvPr>
          <p:cNvSpPr/>
          <p:nvPr/>
        </p:nvSpPr>
        <p:spPr>
          <a:xfrm flipV="1">
            <a:off x="0" y="1"/>
            <a:ext cx="12192000" cy="914845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73C0F0-FE31-6E33-F026-7ED051F96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35" y="50634"/>
            <a:ext cx="11379200" cy="673266"/>
          </a:xfrm>
        </p:spPr>
        <p:txBody>
          <a:bodyPr>
            <a:normAutofit/>
          </a:bodyPr>
          <a:lstStyle/>
          <a:p>
            <a:pPr algn="ctr"/>
            <a:r>
              <a:rPr lang="es-MX" sz="3600" b="1" dirty="0">
                <a:solidFill>
                  <a:schemeClr val="bg1"/>
                </a:solidFill>
                <a:latin typeface="Aptos" panose="020B0004020202020204" pitchFamily="34" charset="0"/>
              </a:rPr>
              <a:t>Fuentes de información | Estructurada</a:t>
            </a:r>
            <a:endParaRPr sz="3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A2EC60F-9791-0A9F-C5C8-EF7FEE7C568C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991F5D84-F2A1-BDFF-7E6C-075A9752F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BD0CB90C-45A9-04B3-3A8F-675A3E814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264DBA62-A454-E5FB-9B34-D83CB0D7B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6923227C-AB65-41E8-986C-527740F82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CD383F0-C9ED-2508-6B54-594162EED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FAEF77AF-E70C-7FEE-CB3C-122D51FD8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95E7219A-EBD8-5298-7018-58300D10B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35D65FC5-6B1E-5370-F489-9F5CDFE30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85FC0C56-CB87-0E22-25A7-6E9538DAB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0064A240-5DC9-C1E4-FEE3-D5D32AA5F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F6F6CE77-E0D7-D2F1-5131-1DD2365D4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6110A36A-D7DC-B613-E362-1FB7A800D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370D3B83-F75B-10E1-2BEF-A56A501E1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F15DEF0E-96FC-5B7C-768D-A34B660464F5}"/>
              </a:ext>
            </a:extLst>
          </p:cNvPr>
          <p:cNvSpPr txBox="1"/>
          <p:nvPr/>
        </p:nvSpPr>
        <p:spPr>
          <a:xfrm>
            <a:off x="448735" y="1046276"/>
            <a:ext cx="1125219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ct val="100000"/>
              </a:lnSpc>
              <a:buNone/>
            </a:pPr>
            <a:r>
              <a:rPr lang="es-MX" sz="2000" b="0" i="0" dirty="0">
                <a:effectLst/>
                <a:latin typeface="+mn-lt"/>
              </a:rPr>
              <a:t>La </a:t>
            </a:r>
            <a:r>
              <a:rPr lang="es-MX" sz="2000" b="1" i="0" dirty="0">
                <a:effectLst/>
                <a:latin typeface="+mn-lt"/>
              </a:rPr>
              <a:t>información estructurada</a:t>
            </a:r>
            <a:r>
              <a:rPr lang="es-MX" sz="2000" b="0" i="0" dirty="0">
                <a:effectLst/>
                <a:latin typeface="+mn-lt"/>
              </a:rPr>
              <a:t> es aquella que está organizada de manera lógica y consistente siguiendo un formato predefinido, lo que facilita su almacenamiento, búsqueda, análisis y procesamiento por personas o sistemas informáticos.</a:t>
            </a:r>
          </a:p>
          <a:p>
            <a:pPr fontAlgn="t">
              <a:lnSpc>
                <a:spcPct val="100000"/>
              </a:lnSpc>
              <a:buNone/>
            </a:pPr>
            <a:endParaRPr lang="es-MX" sz="2000" dirty="0"/>
          </a:p>
          <a:p>
            <a:pPr fontAlgn="t">
              <a:lnSpc>
                <a:spcPct val="100000"/>
              </a:lnSpc>
              <a:buNone/>
            </a:pPr>
            <a:r>
              <a:rPr lang="es-MX" b="1" dirty="0"/>
              <a:t>Características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Está organizada en </a:t>
            </a:r>
            <a:r>
              <a:rPr lang="es-MX" b="1" dirty="0"/>
              <a:t>campos, categorías o registros</a:t>
            </a:r>
            <a:r>
              <a:rPr lang="es-MX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Sigue una </a:t>
            </a:r>
            <a:r>
              <a:rPr lang="es-MX" b="1" dirty="0"/>
              <a:t>estructura uniforme</a:t>
            </a:r>
            <a:r>
              <a:rPr lang="es-MX" dirty="0"/>
              <a:t>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Puede almacenarse fácilmente en bases de datos y hojas de cálculo.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Permite realizar búsquedas, filtros y análisis de forma eficiente.</a:t>
            </a:r>
          </a:p>
          <a:p>
            <a:pPr fontAlgn="t">
              <a:lnSpc>
                <a:spcPct val="100000"/>
              </a:lnSpc>
              <a:buNone/>
            </a:pPr>
            <a:endParaRPr lang="es-MX" sz="2000" b="0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s-MX" b="1" dirty="0"/>
              <a:t>Ejemplo</a:t>
            </a:r>
          </a:p>
          <a:p>
            <a:pPr fontAlgn="t">
              <a:lnSpc>
                <a:spcPct val="100000"/>
              </a:lnSpc>
              <a:buNone/>
            </a:pPr>
            <a:r>
              <a:rPr lang="es-MX" b="1" dirty="0"/>
              <a:t>Información no estructurada:</a:t>
            </a:r>
            <a:endParaRPr lang="es-MX" dirty="0"/>
          </a:p>
          <a:p>
            <a:pPr fontAlgn="t">
              <a:lnSpc>
                <a:spcPct val="100000"/>
              </a:lnSpc>
              <a:buNone/>
            </a:pPr>
            <a:r>
              <a:rPr lang="es-MX" dirty="0"/>
              <a:t>"María López trabaja en el área de Recursos Humanos, tiene 35 años y su correo es maria.lopez@empresa.com."</a:t>
            </a:r>
          </a:p>
          <a:p>
            <a:pPr fontAlgn="t">
              <a:lnSpc>
                <a:spcPct val="100000"/>
              </a:lnSpc>
              <a:buNone/>
            </a:pPr>
            <a:endParaRPr lang="es-MX" sz="2000" b="0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DA43BE5-BD01-74C4-5889-31F491042F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9715"/>
          <a:stretch>
            <a:fillRect/>
          </a:stretch>
        </p:blipFill>
        <p:spPr>
          <a:xfrm>
            <a:off x="1948367" y="4849540"/>
            <a:ext cx="7981999" cy="113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5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7DC6B-7F8F-7046-805D-811B966D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2A1EC14-2EE6-8F39-A592-2558B74C22CD}"/>
              </a:ext>
            </a:extLst>
          </p:cNvPr>
          <p:cNvSpPr/>
          <p:nvPr/>
        </p:nvSpPr>
        <p:spPr>
          <a:xfrm flipV="1">
            <a:off x="0" y="1"/>
            <a:ext cx="12192000" cy="914845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68703C-9DEA-F0D6-01C6-5568B2749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35" y="50634"/>
            <a:ext cx="11379200" cy="673266"/>
          </a:xfrm>
        </p:spPr>
        <p:txBody>
          <a:bodyPr>
            <a:normAutofit/>
          </a:bodyPr>
          <a:lstStyle/>
          <a:p>
            <a:pPr algn="ctr"/>
            <a:r>
              <a:rPr lang="es-MX" sz="3600" b="1" dirty="0">
                <a:solidFill>
                  <a:schemeClr val="bg1"/>
                </a:solidFill>
                <a:latin typeface="Aptos" panose="020B0004020202020204" pitchFamily="34" charset="0"/>
              </a:rPr>
              <a:t>Fuentes de información | Semiestructurada</a:t>
            </a:r>
            <a:endParaRPr sz="3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09E891E3-0D53-7163-FF58-C34BF83E1DC6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E90D6A4-0AF6-B833-3A3A-F6F91F0D2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4DFA054A-18BE-4459-11F1-D1FAAF5E9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26AC855A-1F04-41CB-8F32-13C24A205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5A358C55-000A-2CCD-66AD-3F797799F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1140A033-AC1B-C4F1-015E-9C7B03844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44399CDD-F8E2-9F8B-98ED-10BCB0674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B9D5FA43-4AE8-D613-E14F-D5D4FF5DD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A15D30C5-CCA4-3A0C-513C-77E307F92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198319EE-740B-95D5-6018-75732E485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A5955976-813F-ECC9-3865-58206A7CB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68E03EA7-8DB4-124B-2F16-203B032F8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766F5869-FD48-7B6A-EDE5-7418BC066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AFDFF77A-5643-C665-C356-FE787A4FF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036806A5-9A36-CA72-A755-FB486B2409D9}"/>
              </a:ext>
            </a:extLst>
          </p:cNvPr>
          <p:cNvSpPr txBox="1"/>
          <p:nvPr/>
        </p:nvSpPr>
        <p:spPr>
          <a:xfrm>
            <a:off x="448735" y="1046276"/>
            <a:ext cx="11552548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ct val="100000"/>
              </a:lnSpc>
              <a:buNone/>
            </a:pPr>
            <a:r>
              <a:rPr lang="es-MX" dirty="0"/>
              <a:t>La </a:t>
            </a:r>
            <a:r>
              <a:rPr lang="es-MX" b="1" dirty="0"/>
              <a:t>información semiestructurada</a:t>
            </a:r>
            <a:r>
              <a:rPr lang="es-MX" dirty="0"/>
              <a:t> es un tipo de información que no está organizada en tablas rígidas como la información estructurada, pero sí contiene etiquetas, marcadores o una organización interna que permite identificar y procesar sus elementos.</a:t>
            </a:r>
          </a:p>
          <a:p>
            <a:pPr fontAlgn="t">
              <a:lnSpc>
                <a:spcPct val="100000"/>
              </a:lnSpc>
              <a:buNone/>
            </a:pPr>
            <a:r>
              <a:rPr lang="es-MX" b="1" dirty="0"/>
              <a:t>Características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No sigue un esquema fijo de filas y columnas.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Utiliza etiquetas, metadatos o marcas para organizar los datos.</a:t>
            </a:r>
          </a:p>
          <a:p>
            <a:pPr marL="342900" lvl="0" indent="-342900" algn="just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Es más flexible que la información estructurada.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s-MX" dirty="0"/>
              <a:t>Puede ser interpretada tanto por personas como por sistemas informáticos.</a:t>
            </a:r>
          </a:p>
          <a:p>
            <a:pPr fontAlgn="t">
              <a:lnSpc>
                <a:spcPct val="100000"/>
              </a:lnSpc>
              <a:buNone/>
            </a:pPr>
            <a:endParaRPr lang="es-MX" b="1" dirty="0"/>
          </a:p>
          <a:p>
            <a:pPr fontAlgn="t">
              <a:lnSpc>
                <a:spcPct val="100000"/>
              </a:lnSpc>
              <a:buNone/>
            </a:pPr>
            <a:r>
              <a:rPr lang="es-MX" b="1" dirty="0"/>
              <a:t>Ejemplo</a:t>
            </a:r>
          </a:p>
          <a:p>
            <a:pPr fontAlgn="t">
              <a:lnSpc>
                <a:spcPct val="100000"/>
              </a:lnSpc>
              <a:buNone/>
            </a:pPr>
            <a:r>
              <a:rPr lang="es-MX" b="1" dirty="0"/>
              <a:t>Correo electrónico:</a:t>
            </a:r>
            <a:endParaRPr lang="es-MX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fontAlgn="t"/>
            <a:endParaRPr lang="es-MX" dirty="0"/>
          </a:p>
          <a:p>
            <a:pPr algn="just" fontAlgn="t"/>
            <a:r>
              <a:rPr lang="es-MX" dirty="0"/>
              <a:t>Aunque el contenido del mensaje es libre, existen campos claramente identificados (De, Para, Asunto), por lo que se considera información semiestructurada.</a:t>
            </a:r>
          </a:p>
          <a:p>
            <a:pPr fontAlgn="t">
              <a:lnSpc>
                <a:spcPct val="100000"/>
              </a:lnSpc>
              <a:buNone/>
            </a:pPr>
            <a:endParaRPr lang="es-MX" sz="2000" b="0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87922F-CEC5-B002-853C-4F2E4D2F00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3286" y="3407944"/>
            <a:ext cx="4953691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33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D93CD-7DF1-4DD1-2BD2-05A03161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0B6E433-4080-8D23-C421-0145AFA31361}"/>
              </a:ext>
            </a:extLst>
          </p:cNvPr>
          <p:cNvSpPr/>
          <p:nvPr/>
        </p:nvSpPr>
        <p:spPr>
          <a:xfrm flipV="1">
            <a:off x="0" y="1"/>
            <a:ext cx="12192000" cy="914845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4CC7DB-CCB9-2F96-653A-4D5A896C2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35" y="50634"/>
            <a:ext cx="11379200" cy="673266"/>
          </a:xfrm>
        </p:spPr>
        <p:txBody>
          <a:bodyPr>
            <a:normAutofit/>
          </a:bodyPr>
          <a:lstStyle/>
          <a:p>
            <a:pPr algn="ctr"/>
            <a:r>
              <a:rPr lang="es-MX" sz="3600" b="1" dirty="0">
                <a:solidFill>
                  <a:schemeClr val="bg1"/>
                </a:solidFill>
                <a:latin typeface="Aptos" panose="020B0004020202020204" pitchFamily="34" charset="0"/>
              </a:rPr>
              <a:t>Fuentes de información | Gran Volumen</a:t>
            </a:r>
            <a:endParaRPr sz="3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9EF6F29-B0B6-DACC-DD95-5F785F610F9B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1C958948-B099-C4D6-F615-E1A22FF5B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BAE5C91-7E41-7433-5B2E-20F1F8BC5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F5C627E4-986B-ADA1-802A-EB504899B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D7824108-C8A1-216C-ADCA-9ACF00989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ACBD890A-C5C9-4849-C618-A878D07D2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1C7A6A02-D3B2-4A8E-666C-19CAE0C30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1FC91A44-3A94-99C5-708E-4CD9FD0A8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F559B8F0-153D-2982-2EEA-AFFF1E953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E165C053-9D2A-0041-A035-E0BDAB687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F3F64995-6D45-CF4C-026C-7A5322493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2E7A4BBE-C5F4-1329-2F94-CAC4FAA6E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FDEEC8C2-AE3E-769B-990C-5D152FAAE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7653E85-24AB-66C6-2A5D-34E446719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6D8276-14C5-97B8-979F-E9993B84F24A}"/>
              </a:ext>
            </a:extLst>
          </p:cNvPr>
          <p:cNvSpPr txBox="1"/>
          <p:nvPr/>
        </p:nvSpPr>
        <p:spPr>
          <a:xfrm>
            <a:off x="321733" y="1046276"/>
            <a:ext cx="1167955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ct val="100000"/>
              </a:lnSpc>
              <a:buNone/>
            </a:pPr>
            <a:r>
              <a:rPr lang="es-MX" dirty="0"/>
              <a:t>La </a:t>
            </a:r>
            <a:r>
              <a:rPr lang="es-MX" b="1" dirty="0"/>
              <a:t>información de gran volumen</a:t>
            </a:r>
            <a:r>
              <a:rPr lang="es-MX" dirty="0"/>
              <a:t> (Big Data) se refiere a conjuntos de datos tan grandes, complejos y generados a gran velocidad que las herramientas tradicionales de procesamiento y almacenamiento resultan insuficientes para gestionarlos de manera eficiente.</a:t>
            </a:r>
          </a:p>
          <a:p>
            <a:pPr fontAlgn="t">
              <a:lnSpc>
                <a:spcPct val="100000"/>
              </a:lnSpc>
              <a:buNone/>
            </a:pPr>
            <a:r>
              <a:rPr lang="es-MX" b="1" dirty="0"/>
              <a:t>Características principales (las 5 V)</a:t>
            </a:r>
          </a:p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es-MX" b="1" dirty="0"/>
              <a:t>Volumen</a:t>
            </a:r>
            <a:endParaRPr lang="es-MX" dirty="0"/>
          </a:p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es-MX" b="1" dirty="0"/>
              <a:t>Velocidad</a:t>
            </a:r>
            <a:endParaRPr lang="es-MX" dirty="0"/>
          </a:p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es-MX" b="1" dirty="0"/>
              <a:t>Variedad</a:t>
            </a:r>
            <a:endParaRPr lang="es-MX" dirty="0"/>
          </a:p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es-MX" b="1" dirty="0"/>
              <a:t>Veracidad</a:t>
            </a:r>
            <a:endParaRPr lang="es-MX" dirty="0"/>
          </a:p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es-MX" b="1" dirty="0"/>
              <a:t>Valor</a:t>
            </a:r>
            <a:endParaRPr lang="es-MX" dirty="0"/>
          </a:p>
          <a:p>
            <a:pPr fontAlgn="t">
              <a:lnSpc>
                <a:spcPct val="100000"/>
              </a:lnSpc>
              <a:buNone/>
            </a:pPr>
            <a:endParaRPr lang="es-MX" b="1" dirty="0"/>
          </a:p>
          <a:p>
            <a:pPr fontAlgn="t">
              <a:lnSpc>
                <a:spcPct val="100000"/>
              </a:lnSpc>
              <a:buNone/>
            </a:pPr>
            <a:r>
              <a:rPr lang="es-MX" b="1" dirty="0"/>
              <a:t>Ejemplos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Redes sociales (Facebook, X, Instagram, TikTok).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Registros de compras en comercio electrónico.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Sensores del Internet de las Cosas (IoT).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Sistemas bancarios y financieros.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Datos generados por dispositivos móviles.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dirty="0"/>
              <a:t>Historiales clínicos electrónicos.</a:t>
            </a:r>
          </a:p>
          <a:p>
            <a:pPr fontAlgn="t">
              <a:lnSpc>
                <a:spcPct val="100000"/>
              </a:lnSpc>
              <a:buNone/>
            </a:pPr>
            <a:endParaRPr lang="es-MX" sz="20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054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57F29DA4-F58E-FE6D-4253-4553FD272027}"/>
              </a:ext>
            </a:extLst>
          </p:cNvPr>
          <p:cNvSpPr/>
          <p:nvPr/>
        </p:nvSpPr>
        <p:spPr>
          <a:xfrm flipV="1">
            <a:off x="-3042" y="-20111"/>
            <a:ext cx="12192000" cy="106927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26258-FFB9-5778-FCBC-F836C3003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264" y="264494"/>
            <a:ext cx="8229600" cy="623772"/>
          </a:xfrm>
        </p:spPr>
        <p:txBody>
          <a:bodyPr>
            <a:normAutofit fontScale="90000"/>
          </a:bodyPr>
          <a:lstStyle/>
          <a:p>
            <a:pPr algn="ctr"/>
            <a:r>
              <a:rPr b="1" dirty="0">
                <a:solidFill>
                  <a:schemeClr val="bg1"/>
                </a:solidFill>
              </a:rPr>
              <a:t>El </a:t>
            </a:r>
            <a:r>
              <a:rPr b="1" dirty="0" err="1">
                <a:solidFill>
                  <a:schemeClr val="bg1"/>
                </a:solidFill>
              </a:rPr>
              <a:t>papel</a:t>
            </a:r>
            <a:r>
              <a:rPr b="1" dirty="0">
                <a:solidFill>
                  <a:schemeClr val="bg1"/>
                </a:solidFill>
              </a:rPr>
              <a:t> de las bases de datos</a:t>
            </a:r>
            <a:r>
              <a:rPr lang="es-MX" b="1" dirty="0">
                <a:solidFill>
                  <a:schemeClr val="bg1"/>
                </a:solidFill>
              </a:rPr>
              <a:t> en Ciencia de Datos</a:t>
            </a:r>
            <a:endParaRPr b="1" dirty="0">
              <a:solidFill>
                <a:schemeClr val="bg1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EE50CFC8-5184-FC88-4C71-8B0286ACCAAF}"/>
              </a:ext>
            </a:extLst>
          </p:cNvPr>
          <p:cNvGrpSpPr/>
          <p:nvPr/>
        </p:nvGrpSpPr>
        <p:grpSpPr>
          <a:xfrm>
            <a:off x="5147951" y="1117660"/>
            <a:ext cx="1896098" cy="609600"/>
            <a:chOff x="92493" y="1874077"/>
            <a:chExt cx="1896098" cy="609600"/>
          </a:xfrm>
        </p:grpSpPr>
        <p:sp>
          <p:nvSpPr>
            <p:cNvPr id="8" name="Rectángulo 7" descr="Fuentes de datos">
              <a:extLst>
                <a:ext uri="{FF2B5EF4-FFF2-40B4-BE49-F238E27FC236}">
                  <a16:creationId xmlns:a16="http://schemas.microsoft.com/office/drawing/2014/main" id="{90FFCDBE-2ECF-DC21-E01F-9DBD24A6EC29}"/>
                </a:ext>
              </a:extLst>
            </p:cNvPr>
            <p:cNvSpPr/>
            <p:nvPr/>
          </p:nvSpPr>
          <p:spPr>
            <a:xfrm>
              <a:off x="92493" y="1874077"/>
              <a:ext cx="1859677" cy="6096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CBE17608-A521-E6F3-5966-116CD4D8E4C9}"/>
                </a:ext>
              </a:extLst>
            </p:cNvPr>
            <p:cNvSpPr txBox="1"/>
            <p:nvPr/>
          </p:nvSpPr>
          <p:spPr>
            <a:xfrm>
              <a:off x="128915" y="2010587"/>
              <a:ext cx="18596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b="1" dirty="0">
                  <a:solidFill>
                    <a:schemeClr val="bg1"/>
                  </a:solidFill>
                </a:rPr>
                <a:t>Fuente de datos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7E7EB941-0620-2D46-05DF-7B948D6F13CD}"/>
              </a:ext>
            </a:extLst>
          </p:cNvPr>
          <p:cNvGrpSpPr/>
          <p:nvPr/>
        </p:nvGrpSpPr>
        <p:grpSpPr>
          <a:xfrm>
            <a:off x="5147951" y="2176055"/>
            <a:ext cx="1985287" cy="609600"/>
            <a:chOff x="2681615" y="1888630"/>
            <a:chExt cx="1985287" cy="609600"/>
          </a:xfrm>
        </p:grpSpPr>
        <p:sp>
          <p:nvSpPr>
            <p:cNvPr id="17" name="Rectángulo 16" descr="Fuentes de datos">
              <a:extLst>
                <a:ext uri="{FF2B5EF4-FFF2-40B4-BE49-F238E27FC236}">
                  <a16:creationId xmlns:a16="http://schemas.microsoft.com/office/drawing/2014/main" id="{BC77E82F-2E6E-5124-A26A-938377D8D16C}"/>
                </a:ext>
              </a:extLst>
            </p:cNvPr>
            <p:cNvSpPr/>
            <p:nvPr/>
          </p:nvSpPr>
          <p:spPr>
            <a:xfrm>
              <a:off x="2711868" y="1888630"/>
              <a:ext cx="1859677" cy="6096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A891555A-543D-5728-7FCB-1D0A303597B8}"/>
                </a:ext>
              </a:extLst>
            </p:cNvPr>
            <p:cNvSpPr txBox="1"/>
            <p:nvPr/>
          </p:nvSpPr>
          <p:spPr>
            <a:xfrm>
              <a:off x="2681615" y="2025140"/>
              <a:ext cx="19852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b="1" dirty="0">
                  <a:solidFill>
                    <a:schemeClr val="bg1"/>
                  </a:solidFill>
                </a:rPr>
                <a:t>Almacenamiento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EF8C25A4-F280-5A53-3733-A64A4A5930D0}"/>
              </a:ext>
            </a:extLst>
          </p:cNvPr>
          <p:cNvGrpSpPr/>
          <p:nvPr/>
        </p:nvGrpSpPr>
        <p:grpSpPr>
          <a:xfrm>
            <a:off x="5166161" y="3221999"/>
            <a:ext cx="1875460" cy="609600"/>
            <a:chOff x="5294822" y="1903183"/>
            <a:chExt cx="1875460" cy="609600"/>
          </a:xfrm>
        </p:grpSpPr>
        <p:sp>
          <p:nvSpPr>
            <p:cNvPr id="23" name="Rectángulo 22" descr="Fuentes de datos">
              <a:extLst>
                <a:ext uri="{FF2B5EF4-FFF2-40B4-BE49-F238E27FC236}">
                  <a16:creationId xmlns:a16="http://schemas.microsoft.com/office/drawing/2014/main" id="{A83511F9-8DF2-FC6A-035F-A6F683E794DB}"/>
                </a:ext>
              </a:extLst>
            </p:cNvPr>
            <p:cNvSpPr/>
            <p:nvPr/>
          </p:nvSpPr>
          <p:spPr>
            <a:xfrm>
              <a:off x="5294822" y="1903183"/>
              <a:ext cx="1859677" cy="609600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EE1A1B0D-C975-4B9A-6A71-65E0BC9BAE2B}"/>
                </a:ext>
              </a:extLst>
            </p:cNvPr>
            <p:cNvSpPr txBox="1"/>
            <p:nvPr/>
          </p:nvSpPr>
          <p:spPr>
            <a:xfrm>
              <a:off x="5390179" y="2042853"/>
              <a:ext cx="1780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b="1" dirty="0">
                  <a:solidFill>
                    <a:schemeClr val="bg1"/>
                  </a:solidFill>
                </a:rPr>
                <a:t>Procesamiento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3B451FD2-066E-2D20-6D4B-623DDCACCFB6}"/>
              </a:ext>
            </a:extLst>
          </p:cNvPr>
          <p:cNvGrpSpPr/>
          <p:nvPr/>
        </p:nvGrpSpPr>
        <p:grpSpPr>
          <a:xfrm>
            <a:off x="5178204" y="4267943"/>
            <a:ext cx="1859677" cy="609600"/>
            <a:chOff x="7829311" y="1897284"/>
            <a:chExt cx="1859677" cy="609600"/>
          </a:xfrm>
        </p:grpSpPr>
        <p:sp>
          <p:nvSpPr>
            <p:cNvPr id="27" name="Rectángulo 26" descr="Fuentes de datos">
              <a:extLst>
                <a:ext uri="{FF2B5EF4-FFF2-40B4-BE49-F238E27FC236}">
                  <a16:creationId xmlns:a16="http://schemas.microsoft.com/office/drawing/2014/main" id="{DCCE15EF-B6BC-19F1-F9A6-1E4283B62A0A}"/>
                </a:ext>
              </a:extLst>
            </p:cNvPr>
            <p:cNvSpPr/>
            <p:nvPr/>
          </p:nvSpPr>
          <p:spPr>
            <a:xfrm>
              <a:off x="7829311" y="1897284"/>
              <a:ext cx="1859677" cy="6096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85DEE954-8F4F-E9AF-0DCD-0D037A50332C}"/>
                </a:ext>
              </a:extLst>
            </p:cNvPr>
            <p:cNvSpPr txBox="1"/>
            <p:nvPr/>
          </p:nvSpPr>
          <p:spPr>
            <a:xfrm>
              <a:off x="8220676" y="2061903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b="1" dirty="0">
                  <a:solidFill>
                    <a:schemeClr val="bg1"/>
                  </a:solidFill>
                </a:rPr>
                <a:t>Análisis</a:t>
              </a:r>
            </a:p>
          </p:txBody>
        </p:sp>
      </p:grp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7924A49C-F25A-97EF-2EFA-941728C97186}"/>
              </a:ext>
            </a:extLst>
          </p:cNvPr>
          <p:cNvSpPr/>
          <p:nvPr/>
        </p:nvSpPr>
        <p:spPr>
          <a:xfrm rot="5400000">
            <a:off x="5896051" y="1793008"/>
            <a:ext cx="359946" cy="2939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0A10F4E2-8AB9-A118-CB26-AF2833186470}"/>
              </a:ext>
            </a:extLst>
          </p:cNvPr>
          <p:cNvGrpSpPr/>
          <p:nvPr/>
        </p:nvGrpSpPr>
        <p:grpSpPr>
          <a:xfrm>
            <a:off x="5163118" y="5299030"/>
            <a:ext cx="1859677" cy="609600"/>
            <a:chOff x="10339714" y="1903183"/>
            <a:chExt cx="1859677" cy="609600"/>
          </a:xfrm>
        </p:grpSpPr>
        <p:sp>
          <p:nvSpPr>
            <p:cNvPr id="35" name="Rectángulo 34" descr="Fuentes de datos">
              <a:extLst>
                <a:ext uri="{FF2B5EF4-FFF2-40B4-BE49-F238E27FC236}">
                  <a16:creationId xmlns:a16="http://schemas.microsoft.com/office/drawing/2014/main" id="{EA60BF82-2A88-F917-78B3-990DF5620A60}"/>
                </a:ext>
              </a:extLst>
            </p:cNvPr>
            <p:cNvSpPr/>
            <p:nvPr/>
          </p:nvSpPr>
          <p:spPr>
            <a:xfrm>
              <a:off x="10339714" y="1903183"/>
              <a:ext cx="1859677" cy="609600"/>
            </a:xfrm>
            <a:prstGeom prst="rect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69A8FF5B-6A69-E833-CB0A-91FC15B9F9B4}"/>
                </a:ext>
              </a:extLst>
            </p:cNvPr>
            <p:cNvSpPr txBox="1"/>
            <p:nvPr/>
          </p:nvSpPr>
          <p:spPr>
            <a:xfrm>
              <a:off x="10589718" y="2023317"/>
              <a:ext cx="1359668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MX" b="1" dirty="0">
                  <a:solidFill>
                    <a:schemeClr val="bg1"/>
                  </a:solidFill>
                </a:rPr>
                <a:t>Decisiones</a:t>
              </a:r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9EB0E632-271F-305F-CBAA-316CB582CB8E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45" name="Imagen 44">
              <a:extLst>
                <a:ext uri="{FF2B5EF4-FFF2-40B4-BE49-F238E27FC236}">
                  <a16:creationId xmlns:a16="http://schemas.microsoft.com/office/drawing/2014/main" id="{59F8E895-5769-5AEB-63E0-183C436F8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46" name="Imagen 45">
              <a:extLst>
                <a:ext uri="{FF2B5EF4-FFF2-40B4-BE49-F238E27FC236}">
                  <a16:creationId xmlns:a16="http://schemas.microsoft.com/office/drawing/2014/main" id="{1BC8FD78-6984-B8D4-D2BF-01B7B2DAC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47" name="Imagen 46">
              <a:extLst>
                <a:ext uri="{FF2B5EF4-FFF2-40B4-BE49-F238E27FC236}">
                  <a16:creationId xmlns:a16="http://schemas.microsoft.com/office/drawing/2014/main" id="{B7336691-F3A6-3D3E-677E-440E158ED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48" name="Imagen 47">
              <a:extLst>
                <a:ext uri="{FF2B5EF4-FFF2-40B4-BE49-F238E27FC236}">
                  <a16:creationId xmlns:a16="http://schemas.microsoft.com/office/drawing/2014/main" id="{75B027A8-00BF-0F75-9F77-FCF817161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49" name="Imagen 48">
              <a:extLst>
                <a:ext uri="{FF2B5EF4-FFF2-40B4-BE49-F238E27FC236}">
                  <a16:creationId xmlns:a16="http://schemas.microsoft.com/office/drawing/2014/main" id="{B151E203-9171-34EE-1EC7-52282A321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50" name="Imagen 49">
              <a:extLst>
                <a:ext uri="{FF2B5EF4-FFF2-40B4-BE49-F238E27FC236}">
                  <a16:creationId xmlns:a16="http://schemas.microsoft.com/office/drawing/2014/main" id="{EC3426F7-2050-305A-FCED-3353D5E97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51" name="Imagen 50">
              <a:extLst>
                <a:ext uri="{FF2B5EF4-FFF2-40B4-BE49-F238E27FC236}">
                  <a16:creationId xmlns:a16="http://schemas.microsoft.com/office/drawing/2014/main" id="{15D3FA5C-BC8F-6377-C693-4FEC630FE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7DD9E66E-E2BB-E9BD-BBBE-5EA31FA40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258F38C6-89E4-7C91-C6B1-D537262C8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54" name="Imagen 53">
              <a:extLst>
                <a:ext uri="{FF2B5EF4-FFF2-40B4-BE49-F238E27FC236}">
                  <a16:creationId xmlns:a16="http://schemas.microsoft.com/office/drawing/2014/main" id="{1D1C74D0-C55D-2716-B5EE-D6B4212AA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55" name="Imagen 54">
              <a:extLst>
                <a:ext uri="{FF2B5EF4-FFF2-40B4-BE49-F238E27FC236}">
                  <a16:creationId xmlns:a16="http://schemas.microsoft.com/office/drawing/2014/main" id="{3BE7B497-4289-3088-FC86-3E1980BF2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56" name="Imagen 55">
              <a:extLst>
                <a:ext uri="{FF2B5EF4-FFF2-40B4-BE49-F238E27FC236}">
                  <a16:creationId xmlns:a16="http://schemas.microsoft.com/office/drawing/2014/main" id="{CE12DFF8-95DB-988D-6A00-1AEEF884F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57" name="Imagen 56">
              <a:extLst>
                <a:ext uri="{FF2B5EF4-FFF2-40B4-BE49-F238E27FC236}">
                  <a16:creationId xmlns:a16="http://schemas.microsoft.com/office/drawing/2014/main" id="{AB103BAA-61E1-364A-EFE6-D8EAA4490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3C958790-9C1F-D53F-990A-1A542CB941E7}"/>
              </a:ext>
            </a:extLst>
          </p:cNvPr>
          <p:cNvSpPr/>
          <p:nvPr/>
        </p:nvSpPr>
        <p:spPr>
          <a:xfrm rot="5400000">
            <a:off x="5896050" y="2844919"/>
            <a:ext cx="359946" cy="2939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7C735F0A-9669-2409-DAF6-1B29DBFBCB5F}"/>
              </a:ext>
            </a:extLst>
          </p:cNvPr>
          <p:cNvSpPr/>
          <p:nvPr/>
        </p:nvSpPr>
        <p:spPr>
          <a:xfrm rot="5400000">
            <a:off x="5912984" y="3894082"/>
            <a:ext cx="359946" cy="2939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A8B85B41-1A96-D7F9-EFEE-66CF16B86427}"/>
              </a:ext>
            </a:extLst>
          </p:cNvPr>
          <p:cNvSpPr/>
          <p:nvPr/>
        </p:nvSpPr>
        <p:spPr>
          <a:xfrm rot="5400000">
            <a:off x="5928068" y="4957451"/>
            <a:ext cx="359946" cy="2939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23271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B7BC61D-4E17-EE2F-395E-68DCFF42E687}"/>
              </a:ext>
            </a:extLst>
          </p:cNvPr>
          <p:cNvSpPr/>
          <p:nvPr/>
        </p:nvSpPr>
        <p:spPr>
          <a:xfrm flipV="1">
            <a:off x="0" y="1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950C2F-B9ED-F96E-6622-F9365A81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379200" cy="1143000"/>
          </a:xfrm>
        </p:spPr>
        <p:txBody>
          <a:bodyPr>
            <a:normAutofit/>
          </a:bodyPr>
          <a:lstStyle/>
          <a:p>
            <a:pPr algn="ctr"/>
            <a:r>
              <a:rPr lang="es-MX" sz="3600" b="1" dirty="0">
                <a:solidFill>
                  <a:schemeClr val="bg1"/>
                </a:solidFill>
              </a:rPr>
              <a:t>¿Qué estudiaremos?</a:t>
            </a:r>
            <a:endParaRPr sz="3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2DC9D7-FA53-37D9-38A8-64C9E960E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80" y="1579390"/>
            <a:ext cx="10605436" cy="4525963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  <a:defRPr sz="2400"/>
            </a:pPr>
            <a:r>
              <a:rPr lang="es-MX" sz="3200" dirty="0"/>
              <a:t>Los temas que se verán durante el semestre son:</a:t>
            </a:r>
          </a:p>
          <a:p>
            <a:pPr marL="457200" lvl="1" indent="0">
              <a:spcAft>
                <a:spcPts val="1200"/>
              </a:spcAft>
              <a:buNone/>
              <a:defRPr sz="2400"/>
            </a:pPr>
            <a:r>
              <a:rPr sz="2800" dirty="0"/>
              <a:t>1. Bases de Datos </a:t>
            </a:r>
            <a:r>
              <a:rPr sz="2800" dirty="0" err="1"/>
              <a:t>Semiestructuradas</a:t>
            </a:r>
            <a:r>
              <a:rPr sz="2800" dirty="0"/>
              <a:t> (XML)</a:t>
            </a:r>
          </a:p>
          <a:p>
            <a:pPr marL="457200" lvl="1" indent="0">
              <a:spcAft>
                <a:spcPts val="1200"/>
              </a:spcAft>
              <a:buNone/>
              <a:defRPr sz="2400"/>
            </a:pPr>
            <a:r>
              <a:rPr sz="2800" dirty="0"/>
              <a:t>2. </a:t>
            </a:r>
            <a:r>
              <a:rPr sz="2800" dirty="0" err="1"/>
              <a:t>Cómputo</a:t>
            </a:r>
            <a:r>
              <a:rPr sz="2800" dirty="0"/>
              <a:t> </a:t>
            </a:r>
            <a:r>
              <a:rPr sz="2800" dirty="0" err="1"/>
              <a:t>en</a:t>
            </a:r>
            <a:r>
              <a:rPr sz="2800" dirty="0"/>
              <a:t> la </a:t>
            </a:r>
            <a:r>
              <a:rPr sz="2800" dirty="0" err="1"/>
              <a:t>nube</a:t>
            </a:r>
            <a:endParaRPr sz="2800" dirty="0"/>
          </a:p>
          <a:p>
            <a:pPr marL="457200" lvl="1" indent="0">
              <a:spcAft>
                <a:spcPts val="1200"/>
              </a:spcAft>
              <a:buNone/>
              <a:defRPr sz="2400"/>
            </a:pPr>
            <a:r>
              <a:rPr sz="2800" dirty="0"/>
              <a:t>3. Bases de datos para la </a:t>
            </a:r>
            <a:r>
              <a:rPr sz="2800" dirty="0" err="1"/>
              <a:t>toma</a:t>
            </a:r>
            <a:r>
              <a:rPr sz="2800" dirty="0"/>
              <a:t> de </a:t>
            </a:r>
            <a:r>
              <a:rPr sz="2800" dirty="0" err="1"/>
              <a:t>decisiones</a:t>
            </a:r>
            <a:endParaRPr sz="2800" dirty="0"/>
          </a:p>
          <a:p>
            <a:pPr marL="457200" lvl="1" indent="0">
              <a:spcAft>
                <a:spcPts val="1200"/>
              </a:spcAft>
              <a:buNone/>
              <a:defRPr sz="2400"/>
            </a:pPr>
            <a:r>
              <a:rPr sz="2800" dirty="0"/>
              <a:t>4. </a:t>
            </a:r>
            <a:r>
              <a:rPr sz="2800" dirty="0" err="1"/>
              <a:t>Herramientas</a:t>
            </a:r>
            <a:r>
              <a:rPr sz="2800" dirty="0"/>
              <a:t> Big Data</a:t>
            </a:r>
          </a:p>
          <a:p>
            <a:pPr marL="457200" lvl="1" indent="0">
              <a:spcAft>
                <a:spcPts val="1200"/>
              </a:spcAft>
              <a:buNone/>
              <a:defRPr sz="2400"/>
            </a:pPr>
            <a:r>
              <a:rPr sz="2800" dirty="0"/>
              <a:t>5. </a:t>
            </a:r>
            <a:r>
              <a:rPr sz="2800" dirty="0" err="1"/>
              <a:t>Tendencias</a:t>
            </a:r>
            <a:r>
              <a:rPr sz="2800" dirty="0"/>
              <a:t> </a:t>
            </a:r>
            <a:r>
              <a:rPr sz="2800" dirty="0" err="1"/>
              <a:t>tecnológicas</a:t>
            </a:r>
            <a:endParaRPr sz="2800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CC4648A-5936-E3B0-6FC0-E111A27BE01F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C51B9DA5-3ADE-1FB9-382A-F07D7A1B0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37D07515-E086-89BE-2D95-F30CB8539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FAE1375D-DADC-09AB-0187-BFD422EC8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93AEFA96-D971-DFB6-7956-254EB3D32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7C042DD7-E104-BD68-0688-0818C53E9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2D722DF3-A04B-2A63-7751-681B3BDA1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B7C50B50-F5FA-1851-13AC-AB205D9D6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FE5ADEB8-BFE8-BC5A-3D67-210FF7A69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8FEE1486-0B75-0A23-24AA-7A390EAE4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E4A9D317-4599-F499-DB0F-60DC3A282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1ABF6F94-33D0-9AB3-0D98-3B0B2ADCB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40FADD96-B888-61A8-9642-DC929D72A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AB92CB63-2636-8C15-6C95-5B14A8D34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1464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2553280-2338-856F-362B-50B5A1BB833A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AE417E-68F0-473E-9E6A-3F4B40446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990" y="160337"/>
            <a:ext cx="10944225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Tema </a:t>
            </a:r>
            <a:r>
              <a:rPr b="1" dirty="0">
                <a:solidFill>
                  <a:schemeClr val="bg1"/>
                </a:solidFill>
              </a:rPr>
              <a:t>1. Bases de Datos </a:t>
            </a:r>
            <a:r>
              <a:rPr b="1" dirty="0" err="1">
                <a:solidFill>
                  <a:schemeClr val="bg1"/>
                </a:solidFill>
              </a:rPr>
              <a:t>Semiestructuradas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2CB53A-4977-912D-A133-A399E7270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2319868"/>
            <a:ext cx="11115675" cy="2734733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 sz="2400"/>
            </a:pPr>
            <a:r>
              <a:rPr sz="3200" dirty="0" err="1"/>
              <a:t>Definición</a:t>
            </a:r>
            <a:r>
              <a:rPr sz="3200" dirty="0"/>
              <a:t> de datos </a:t>
            </a:r>
            <a:r>
              <a:rPr sz="3200" dirty="0" err="1"/>
              <a:t>semiestructurados</a:t>
            </a:r>
            <a:endParaRPr sz="3200" dirty="0"/>
          </a:p>
          <a:p>
            <a:pPr>
              <a:spcAft>
                <a:spcPts val="1200"/>
              </a:spcAft>
              <a:defRPr sz="2400"/>
            </a:pPr>
            <a:r>
              <a:rPr sz="3200" dirty="0" err="1"/>
              <a:t>Introducción</a:t>
            </a:r>
            <a:r>
              <a:rPr sz="3200" dirty="0"/>
              <a:t> a XML</a:t>
            </a:r>
          </a:p>
          <a:p>
            <a:pPr>
              <a:spcAft>
                <a:spcPts val="1200"/>
              </a:spcAft>
              <a:defRPr sz="2400"/>
            </a:pPr>
            <a:r>
              <a:rPr sz="3200" dirty="0" err="1"/>
              <a:t>Consultas</a:t>
            </a:r>
            <a:r>
              <a:rPr sz="3200" dirty="0"/>
              <a:t> con XPath, XQuery y SQL/XML</a:t>
            </a:r>
          </a:p>
          <a:p>
            <a:pPr>
              <a:spcAft>
                <a:spcPts val="1200"/>
              </a:spcAft>
              <a:defRPr sz="2400"/>
            </a:pPr>
            <a:r>
              <a:rPr sz="3200" dirty="0"/>
              <a:t>Motores de consulta XML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017FA5F1-0C9D-AA0C-668C-534EA26AB46C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5AC9938-029C-8F46-16A4-46D04D1A7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567D2D5-F451-9B19-69BE-96B9099CF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AE60689F-7E79-6F53-ED70-1AEE6D1F5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70D62631-2AB3-6D37-6814-E96A1892F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BAD883A4-12E5-15B3-5C15-13084C41F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531692C2-73B7-1760-1DDD-E55E8E847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D94BFBB5-7FEB-6615-CA47-DA5DE9187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FF5F9875-2178-885D-68E0-FBF2D3CF6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09B244E-17F1-E830-C3F3-237916198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F2335B7-BA39-713B-BF1A-0B3614B05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574A34D8-C1FF-F91B-C57A-FE763E9F7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BD46317C-F264-1FFB-4B24-7CE0CFC34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2937D2DC-DC26-829D-EF41-EF6CD95AA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402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D7BF3-4B70-F023-2A52-37253B28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5B53D2AE-040B-1733-1DA9-CEB4B3BABF59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9FD56D-9F1C-B361-6DC0-BFAED70F9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601" y="137319"/>
            <a:ext cx="2658233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Pregunta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65C603-337C-113F-9A44-92CE05545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32" y="2649178"/>
            <a:ext cx="11115675" cy="1559644"/>
          </a:xfrm>
        </p:spPr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None/>
              <a:defRPr sz="2400"/>
            </a:pPr>
            <a:r>
              <a:rPr lang="es-MX" sz="4000" dirty="0"/>
              <a:t>¿Qué ocurre cuando los datos no están organizados como una tabla?</a:t>
            </a:r>
            <a:endParaRPr sz="40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02E83445-A367-0D18-10A2-8A74377CD8DC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A1962888-89EA-9316-9134-0D31A3EE2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7466AF5-B230-E87F-856B-E052FA2A0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EF1484D0-5EF4-697F-106E-8DDB3D39B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5C30D0DE-AAAF-31F0-8A5B-6ECAACFE7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8455423C-C27A-B91E-D055-9CFAF7BD2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FEA134A8-DF7F-0AE9-006F-3974EAA1A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7BEE9B09-BC91-6DED-470E-F2F3AB650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16BF54E5-CD24-A9AB-7619-787561DC2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01542BA3-7F99-57A8-783C-C496DDFE7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F893EFAE-950D-9BA8-D6D0-B326D16E3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21500AE1-C4C4-3AF2-6C4D-AD484936D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A6EEDB23-F4BD-E486-425A-8C60163CF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55B4E233-C390-3641-DBDC-47D96A84A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2316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F0757-8390-094F-408D-AF1CC862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D406243C-67F6-7205-E763-7BEA2DEA6E02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7645FA-ACEF-8A2D-6BB3-D7E3FDED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601" y="137319"/>
            <a:ext cx="2658233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Pregunta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41D16A-97A9-64D8-0962-DE2811092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81" y="1579390"/>
            <a:ext cx="11115675" cy="1559644"/>
          </a:xfrm>
        </p:spPr>
        <p:txBody>
          <a:bodyPr>
            <a:noAutofit/>
          </a:bodyPr>
          <a:lstStyle/>
          <a:p>
            <a:pPr fontAlgn="t">
              <a:buNone/>
            </a:pPr>
            <a:r>
              <a:rPr lang="es-MX" sz="1600" dirty="0"/>
              <a:t>En una </a:t>
            </a:r>
            <a:r>
              <a:rPr lang="es-MX" sz="1600" b="1" dirty="0"/>
              <a:t>base de datos semiestructurada</a:t>
            </a:r>
            <a:r>
              <a:rPr lang="es-MX" sz="1600" dirty="0"/>
              <a:t>, cuando los datos no están organizados como una tabla:</a:t>
            </a:r>
          </a:p>
          <a:p>
            <a:pPr marL="342900" lvl="0" indent="-342900" fontAlgn="t"/>
            <a:r>
              <a:rPr lang="es-MX" sz="1600" b="1" dirty="0"/>
              <a:t>No existe un esquema rígido</a:t>
            </a:r>
            <a:r>
              <a:rPr lang="es-MX" sz="1600" dirty="0"/>
              <a:t> de filas y columnas.</a:t>
            </a:r>
          </a:p>
          <a:p>
            <a:pPr marL="342900" lvl="0" indent="-342900" fontAlgn="t"/>
            <a:r>
              <a:rPr lang="es-MX" sz="1600" dirty="0"/>
              <a:t>Cada registro puede tener </a:t>
            </a:r>
            <a:r>
              <a:rPr lang="es-MX" sz="1600" b="1" dirty="0"/>
              <a:t>atributos diferentes</a:t>
            </a:r>
            <a:r>
              <a:rPr lang="es-MX" sz="1600" dirty="0"/>
              <a:t>.</a:t>
            </a:r>
          </a:p>
          <a:p>
            <a:pPr marL="342900" lvl="0" indent="-342900" fontAlgn="t"/>
            <a:r>
              <a:rPr lang="es-MX" sz="1600" dirty="0"/>
              <a:t>Los datos se organizan mediante </a:t>
            </a:r>
            <a:r>
              <a:rPr lang="es-MX" sz="1600" b="1" dirty="0"/>
              <a:t>etiquetas, claves-valor o documentos</a:t>
            </a:r>
            <a:r>
              <a:rPr lang="es-MX" sz="1600" dirty="0"/>
              <a:t>.</a:t>
            </a:r>
          </a:p>
          <a:p>
            <a:pPr marL="342900" lvl="0" indent="-342900" fontAlgn="t"/>
            <a:r>
              <a:rPr lang="es-MX" sz="1600" dirty="0"/>
              <a:t>Se utilizan formatos como </a:t>
            </a:r>
            <a:r>
              <a:rPr lang="es-MX" sz="1600" b="1" dirty="0"/>
              <a:t>JSON, XML, entre otros</a:t>
            </a:r>
            <a:r>
              <a:rPr lang="es-MX" sz="1600" dirty="0"/>
              <a:t>.</a:t>
            </a:r>
          </a:p>
          <a:p>
            <a:pPr marL="342900" lvl="0" indent="-342900" fontAlgn="t"/>
            <a:r>
              <a:rPr lang="es-MX" sz="1600" dirty="0"/>
              <a:t>La estructura es flexible y puede cambiar sin modificar toda la base de datos.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6B8B7FC-8278-5597-70B5-DA5D1D411415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A9806EF-3828-3631-3FC6-C1B6CCBE4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C0DE655-643E-C7D0-CFF9-EBC571A16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51EDBEE5-422E-9532-591D-E6129BF1F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750AC4F6-D945-3319-DFEB-FFE06E4C3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5A3A853-88E8-28CA-89BE-00F513B52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01987DFC-0D98-11C0-F64C-1000A298E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A2E83A64-EFB6-5658-AF93-9F3D4E6E4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0F525BBA-66EC-2626-9E34-FDE0CD2A7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C0D58334-8238-764F-279A-912E2DCB5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122CAE3E-A525-4598-E362-0908D6C6A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CEF148B1-1571-F7CD-4AB3-0AB600421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0BD71809-2E87-7A91-7244-5A42538C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9AB3402D-AB0F-FB07-CB42-41633B320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466E73E-A1B7-8F3F-15E7-4A5A7976E6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3353" y="3751471"/>
            <a:ext cx="2372056" cy="109552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C5843D0-B8E3-8103-72DA-DE64761692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7717" y="3751471"/>
            <a:ext cx="2838846" cy="1095528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F404F4F-4505-689F-6ECA-9711C5DD8818}"/>
              </a:ext>
            </a:extLst>
          </p:cNvPr>
          <p:cNvSpPr txBox="1"/>
          <p:nvPr/>
        </p:nvSpPr>
        <p:spPr>
          <a:xfrm>
            <a:off x="308716" y="4908389"/>
            <a:ext cx="11115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ct val="100000"/>
              </a:lnSpc>
              <a:buNone/>
            </a:pPr>
            <a:r>
              <a:rPr lang="es-MX" sz="1800" b="1" i="0">
                <a:effectLst/>
                <a:latin typeface="+mn-lt"/>
              </a:rPr>
              <a:t>En resumen:</a:t>
            </a:r>
            <a:r>
              <a:rPr lang="es-MX" sz="1800" b="0" i="0">
                <a:effectLst/>
                <a:latin typeface="+mn-lt"/>
              </a:rPr>
              <a:t> en una base de datos semiestructurada, los datos no se almacenan en tablas, sino en documentos o estructuras flexibles que permiten diferentes campos en cada registro, facilitando el manejo de información variada y cambiante.</a:t>
            </a:r>
            <a:endParaRPr lang="es-MX" sz="1800" b="0" i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278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64BCD-E91B-4BC8-5ED6-1FF18F16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CD6F85F1-98F9-9CEF-5CF6-E7F3A1CD4865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1ECC0D-ACA0-DE9B-3A45-25982FB6B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552" y="274638"/>
            <a:ext cx="10944225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Tema 2. Cómputo en la nube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58A927-8F14-3452-05BE-E3615B785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870" y="1905001"/>
            <a:ext cx="11115675" cy="359123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 sz="2400"/>
            </a:pPr>
            <a:r>
              <a:rPr lang="es-MX" sz="3200" dirty="0"/>
              <a:t>Introducción al cómputo en la nube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Características, beneficios y riesgos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Nubes pública, comunitaria, privada e híbrida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Plataformas y servicios (SaaS, PaaS e IaaS) 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Usos y aplicaciones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30AD250-382E-50B5-66C5-B35FEAB2D558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294064F-9A53-E0EC-B0DC-D4BC7A32B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5F6CB8B7-AC8C-6F7B-2904-8ACBFA628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9FE003B9-A71E-8AA6-19DC-BCFF75763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394EA6A0-A8D4-0ACD-B48A-265CA74CE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8765BCA6-CC84-A9DB-D58E-CB6922BA0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AB12934-1F40-8664-83FB-6127D6401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9212F8EA-3ECF-B290-E22A-DF0CC6B46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9B842C68-62D1-3A83-B1DC-71BCC216C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F2B77C31-1108-59FF-36A7-62A5CDF83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1EAFA662-AEF0-5FB7-8539-E07551914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EFBD6561-EDA9-1928-8A97-A417D0D73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94534C1F-8A7F-5ED8-DB36-30339DBD3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CCA30479-91F7-D4A6-B3B0-16E51E9E9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0089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3C57-1553-484B-3D47-E79E3C16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162002F-DD62-105C-11EA-A24C2538B94F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81F9F3-715F-3F52-CF20-F4C0D5B9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85" y="160337"/>
            <a:ext cx="12192000" cy="1143000"/>
          </a:xfrm>
        </p:spPr>
        <p:txBody>
          <a:bodyPr>
            <a:normAutofit/>
          </a:bodyPr>
          <a:lstStyle/>
          <a:p>
            <a:r>
              <a:rPr lang="es-MX" sz="4000" b="1" dirty="0">
                <a:solidFill>
                  <a:schemeClr val="bg1"/>
                </a:solidFill>
              </a:rPr>
              <a:t>Tema 3. Bases de datos para la toma de decisiones</a:t>
            </a:r>
            <a:endParaRPr sz="400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058B0D-6764-82FC-C9DC-B63E810C6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115675" cy="4525963"/>
          </a:xfrm>
        </p:spPr>
        <p:txBody>
          <a:bodyPr>
            <a:normAutofit lnSpcReduction="10000"/>
          </a:bodyPr>
          <a:lstStyle/>
          <a:p>
            <a:pPr algn="just">
              <a:spcAft>
                <a:spcPts val="1200"/>
              </a:spcAft>
              <a:defRPr sz="2400"/>
            </a:pPr>
            <a:r>
              <a:rPr lang="es-MX" sz="3200" dirty="0"/>
              <a:t>Data </a:t>
            </a:r>
            <a:r>
              <a:rPr lang="es-MX" sz="3200" dirty="0" err="1"/>
              <a:t>Warehouse</a:t>
            </a:r>
            <a:endParaRPr lang="es-MX" sz="3200" dirty="0"/>
          </a:p>
          <a:p>
            <a:pPr algn="just">
              <a:spcAft>
                <a:spcPts val="1200"/>
              </a:spcAft>
              <a:defRPr sz="2400"/>
            </a:pPr>
            <a:r>
              <a:rPr lang="es-MX" sz="3200" dirty="0"/>
              <a:t>OLAP (Permite analizar grandes volúmenes de datos) </a:t>
            </a:r>
          </a:p>
          <a:p>
            <a:pPr algn="just">
              <a:spcAft>
                <a:spcPts val="1200"/>
              </a:spcAft>
              <a:defRPr sz="2400"/>
            </a:pPr>
            <a:r>
              <a:rPr lang="es-MX" sz="3200" dirty="0"/>
              <a:t>Data Mart (Subconjunto especializado de una Data </a:t>
            </a:r>
            <a:r>
              <a:rPr lang="es-MX" sz="3200" dirty="0" err="1"/>
              <a:t>Warehouse</a:t>
            </a:r>
            <a:r>
              <a:rPr lang="es-MX" sz="3200" dirty="0"/>
              <a:t> que almacena información especifica de un área)</a:t>
            </a:r>
          </a:p>
          <a:p>
            <a:pPr algn="just">
              <a:spcAft>
                <a:spcPts val="1200"/>
              </a:spcAft>
              <a:defRPr sz="2400"/>
            </a:pPr>
            <a:r>
              <a:rPr lang="es-MX" sz="3200" dirty="0"/>
              <a:t>Data </a:t>
            </a:r>
            <a:r>
              <a:rPr lang="es-MX" sz="3200" dirty="0" err="1"/>
              <a:t>Mining</a:t>
            </a:r>
            <a:r>
              <a:rPr lang="es-MX" sz="3200" dirty="0"/>
              <a:t> (Proceso de descubrir patrones)</a:t>
            </a:r>
          </a:p>
          <a:p>
            <a:pPr algn="just">
              <a:spcAft>
                <a:spcPts val="1200"/>
              </a:spcAft>
              <a:defRPr sz="2400"/>
            </a:pPr>
            <a:r>
              <a:rPr lang="es-MX" sz="3200" b="1" dirty="0"/>
              <a:t>Objetivo: </a:t>
            </a:r>
            <a:r>
              <a:rPr lang="es-MX" sz="3200" dirty="0"/>
              <a:t>transformar grandes cantidades de datos en información útil para decidir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880E5B27-28A1-8B1F-5329-C443CF9B2082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74A33171-BCD9-2DD8-A92D-42FFF6CC5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D763D9A6-F1A4-763A-3E43-9F5C1575B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4C89B354-CFFF-120B-8E33-87F27F9DD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6781A9D1-6883-4DFC-CE3D-7A9140FA0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01627E0E-B370-9456-3778-C794469DC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8DEAD19E-1050-1EBD-8EE2-F6DD5A1A1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172B24A9-0326-4A80-A8CA-F49FEAB8D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7BD6E15D-DCF6-8AE1-A416-B2819E1F5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CBD76B17-76EC-08C7-A632-9986874FF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EBD92435-1A71-657A-6A96-C4D06418B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8D55F7C9-AEEF-FB5D-083C-581CB2F1D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5082429F-9584-A150-480F-CFC9B09DD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5DFE24FF-3EC1-396E-AC1A-7019F25B1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932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B2BF-5395-9D32-613C-7ADB7D986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AC767B47-8795-F9D7-881B-BA0049D7CE28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9D7EDF-F46A-D5CE-7D45-EBB121BE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667" y="137319"/>
            <a:ext cx="7430557" cy="114300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Tema 4. Herramientas BIG DATA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7C769A-FA04-8B76-68DB-24414A4FF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115675" cy="4525963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 sz="2400"/>
            </a:pPr>
            <a:r>
              <a:rPr lang="es-MX" sz="3200" dirty="0"/>
              <a:t>Introducción al concepto Big Data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Ecosistema de herramientas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Beneficios para las organizaciones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Repositorios de almacenamiento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Práctica sobre un caso de estudio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Ejemplos: banca, </a:t>
            </a:r>
            <a:r>
              <a:rPr lang="es-MX" sz="3200" dirty="0" err="1"/>
              <a:t>retail</a:t>
            </a:r>
            <a:r>
              <a:rPr lang="es-MX" sz="3200" dirty="0"/>
              <a:t> y telefonía</a:t>
            </a:r>
          </a:p>
          <a:p>
            <a:pPr>
              <a:spcAft>
                <a:spcPts val="1200"/>
              </a:spcAft>
              <a:defRPr sz="2400"/>
            </a:pPr>
            <a:endParaRPr lang="es-MX" sz="32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057C440-B021-0A19-EEE8-51F8CADF9CD5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7BC1C94-C96E-E506-5083-A68312F39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ED8BDEED-9052-F8B9-CA1E-6DA19EE09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1B0587F-034E-28D0-5105-10D0CCC02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AFB8C2A-FFE0-145D-8CC6-594663752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5517200E-784E-115F-1AF6-89F013C43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72479AF0-93DD-9F65-D93E-439B72ABE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20131FC9-3E6D-2412-49EC-F040CA152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F205DA15-2AD1-DB15-9264-6BBA3F02B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02A9CB2C-C695-6E48-47D3-AF2E631CF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C45AD65-B373-924C-711F-D80597717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A0F248CA-BD1D-4A81-6A1D-2387B749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7225416C-009E-0142-117B-8041CDA20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AD9DEE86-0550-FF1B-E9A7-035CCC18B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6128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DC1C1-ADAF-3E39-7788-515E9418F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41F070E-6795-5828-A408-309B7E3DE5CE}"/>
              </a:ext>
            </a:extLst>
          </p:cNvPr>
          <p:cNvSpPr/>
          <p:nvPr/>
        </p:nvSpPr>
        <p:spPr>
          <a:xfrm flipV="1">
            <a:off x="4235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737E36-7557-151F-7ED9-E485F15E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668" y="137319"/>
            <a:ext cx="7878232" cy="114300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Tema 5. Tendencias tecnológicas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2264C9-EDFE-9108-6DC1-0F90C86C2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62" y="2108746"/>
            <a:ext cx="11115675" cy="288331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 sz="2400"/>
            </a:pPr>
            <a:r>
              <a:rPr lang="es-MX" sz="3200" dirty="0"/>
              <a:t>Tecnologías emergentes en bases de datos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NoSQL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Blockchain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3200" dirty="0"/>
              <a:t>Internet de las Cosas (IoT)</a:t>
            </a:r>
          </a:p>
          <a:p>
            <a:pPr marL="0" indent="0">
              <a:spcAft>
                <a:spcPts val="1200"/>
              </a:spcAft>
              <a:buNone/>
              <a:defRPr sz="2000"/>
            </a:pPr>
            <a:endParaRPr lang="es-MX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3FC8AA-E5D4-4C19-B002-D83B0F5C0AC9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EA748FFA-06C3-B823-1D2B-183CBDD31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D6A3BC29-83EF-2404-A9B4-887F8FCA7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556089BE-303B-36FF-54F9-77060D675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0F726BCC-FCB6-01FD-978A-C7A4244BA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40411E16-267D-84FA-B720-1BAA044F9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4BDF883C-DD50-F2B5-403E-1235B59E7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9FD99E81-3A79-221A-0605-A99A3679D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F73DBE8B-EFF6-D712-0EC1-4E8715EF1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6963CE2B-AD32-D0B7-9606-FA620E429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6071F5A0-82DE-05BE-F321-EB0872A4E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EECD5551-7440-7D69-F4B0-1612D3B22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4EC2B8BF-58AA-C968-8F72-DDCB0A3CC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D1EA6D16-5001-5E4D-4A79-A0E5C4D24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600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77430-66F1-3EF0-AE70-A6385A3E7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58C1416-6FAF-64D3-8906-618B35188C6D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73B0D6-ECA7-C6B8-8C6B-9CBF9BDB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4053" y="160337"/>
            <a:ext cx="2582332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Pregunta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35E22F-DA73-6744-3AEA-CBAB07328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948" y="2552272"/>
            <a:ext cx="11115675" cy="2271558"/>
          </a:xfrm>
        </p:spPr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None/>
              <a:defRPr sz="2400"/>
            </a:pPr>
            <a:r>
              <a:rPr lang="es-MX" sz="4800" dirty="0"/>
              <a:t>¿Son suficientes las bases de datos tradicionales para los nuevos escenarios?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6E56B87-CF33-BBF8-D03A-BF6BF8969A47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0E87398-2B66-C2C0-97E5-6815DCFB5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6FA84B74-2B00-AD51-C707-4CB247893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2D9DFA94-6A19-E2F5-9FF4-E4F58803D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FF530486-3E1D-539D-B82A-07EB8E6CF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B5FD2E9F-5F7D-5500-C828-362668220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C20CCF5D-1659-EAF1-2ABE-97A7A86E0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904B0705-42A0-BF62-7A9B-3F2BAE565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8B82B588-DC4F-1A6F-109F-9A1A2EED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38B727D6-41C9-9FB5-99A6-9946D2849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09EF710C-9A5A-2497-8DA5-AE60B96CE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767D70F7-A4B5-2FCD-4EC4-5266D37EE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A32B972A-9440-034D-7855-2A0C00224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1C321DD1-49D9-4A99-26D0-A34D77159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3563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05A89-F543-C633-D06C-E15383EA3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0F393CA-B378-E4A9-44B1-997EEB3BC61B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036BE9-3188-3301-1746-5ECAB6F31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99" y="160337"/>
            <a:ext cx="7724775" cy="114300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¿Cómo se relacionan los temas?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D91191-BC34-58A8-B527-4558E444F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97" y="2021188"/>
            <a:ext cx="11115675" cy="3373438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  <a:defRPr sz="2400"/>
            </a:pPr>
            <a:r>
              <a:rPr lang="es-MX" sz="4800" b="1" dirty="0"/>
              <a:t>XML / datos semiestructurados</a:t>
            </a:r>
            <a:r>
              <a:rPr lang="es-MX" sz="4800" dirty="0"/>
              <a:t> → nuevas formas de representar información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b="1" dirty="0"/>
              <a:t>Nube</a:t>
            </a:r>
            <a:r>
              <a:rPr lang="es-MX" sz="4800" dirty="0"/>
              <a:t> → infraestructura y servicios para almacenar/procesar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b="1" dirty="0"/>
              <a:t>Data </a:t>
            </a:r>
            <a:r>
              <a:rPr lang="es-MX" sz="4800" b="1" dirty="0" err="1"/>
              <a:t>Warehouse</a:t>
            </a:r>
            <a:r>
              <a:rPr lang="es-MX" sz="4800" b="1" dirty="0"/>
              <a:t> / OLAP / Data </a:t>
            </a:r>
            <a:r>
              <a:rPr lang="es-MX" sz="4800" b="1" dirty="0" err="1"/>
              <a:t>Mining</a:t>
            </a:r>
            <a:r>
              <a:rPr lang="es-MX" sz="4800" b="1" dirty="0"/>
              <a:t> </a:t>
            </a:r>
            <a:r>
              <a:rPr lang="es-MX" sz="4800" dirty="0"/>
              <a:t>→ análisis y decisiones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b="1" dirty="0"/>
              <a:t>Big Data </a:t>
            </a:r>
            <a:r>
              <a:rPr lang="es-MX" sz="4800" dirty="0"/>
              <a:t>→ grandes volúmenes y procesamiento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b="1" dirty="0"/>
              <a:t>NoSQL / Blockchain / IoT </a:t>
            </a:r>
            <a:r>
              <a:rPr lang="es-MX" sz="4800" dirty="0"/>
              <a:t>→ nuevas necesidades y escenarios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35A27BA-7C30-B802-BB8F-CA26708A7DD5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7FFCE0D-52E8-6489-4A02-CE89F103F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6F992B5-688D-348A-8665-4EEA3C2E5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4E6181B6-AB80-ABA7-5B8A-8A3CAF68D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4DEABA6F-83FC-71EF-03BB-DDD73B339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D0D37EB-4B17-7B3A-07AA-999841CAA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86E7EB47-6D18-2442-223E-6B4D311D2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7C5BA783-4637-7AB2-B3DA-D9A9A5EE0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325F227F-A27F-932F-20DB-20BC70223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02F12C80-85EC-E014-0DFD-EF5E0C1FD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091EAE70-4A6F-E9DD-54C4-E29AF3D7E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090FAC84-995B-EE84-0C64-64EF9680A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3C1F3553-4999-7F6C-9A3F-1C858BAAA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700B5957-8F95-2DD8-F908-E8834D63F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6748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F80BA-B292-978E-4F2B-6D61AE6A4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55E2EFE-BEA3-F666-1589-D331EADE94A5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A0725C-2885-DC57-1361-89432D8A0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923" y="252183"/>
            <a:ext cx="5920154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¿Cómo trabajaremos?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7F443C-B10A-11E1-9B23-AF9AC47C9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97" y="2021188"/>
            <a:ext cx="11115675" cy="3373438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1200"/>
              </a:spcAft>
              <a:defRPr sz="2400"/>
            </a:pPr>
            <a:r>
              <a:rPr lang="es-MX" sz="4800" dirty="0"/>
              <a:t>Clases presenciales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dirty="0"/>
              <a:t>Análisis de casos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dirty="0"/>
              <a:t>Prácticas con software y herramientas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dirty="0"/>
              <a:t>Participación y discusión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dirty="0"/>
              <a:t>Aplicación de los conceptos a situaciones reales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A76E1B3C-DBD1-3966-AB47-35CA324AB34D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31718B33-F1E0-BB6B-8A54-D496C7E46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1C3CB1AC-CD00-2575-0E43-6DEBA1A55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9BB179D1-9AA8-4A38-6FB9-A15407864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8CFCEDC7-F169-C01D-CCD7-B5AE309F5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53BD1F12-19C9-EF67-A3AE-7BBDD29D0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26BB36BA-C8B8-9F28-DD09-CB4B4BFFB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BC7FA55B-788E-7B87-1405-D775A8BC1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A5521597-D02E-8B22-3E34-5232AC58B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C219BD90-F7E2-0ED7-EB3C-FB2678771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D2380093-D59E-9F3B-79E4-C3F50D1FD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BD23580C-1D7F-7FD3-76BD-43BCCC21F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84E6041A-F251-0F5C-9B0E-BE0C58A67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93F40292-E771-5B9A-9F46-64A84749F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331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A4BAC-4B81-A6C5-CD5E-B16128FF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49DE0D2-7CBC-7005-E1A9-2946BEDBE065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51F71E-259C-6714-0119-F307935D9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208" y="286399"/>
            <a:ext cx="3598252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Proyecto final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9F174A-DC2F-3550-2D76-7C009FC97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97" y="2021188"/>
            <a:ext cx="11115675" cy="3373438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1200"/>
              </a:spcAft>
              <a:defRPr sz="2400"/>
            </a:pPr>
            <a:r>
              <a:rPr lang="es-MX" sz="4800" dirty="0"/>
              <a:t>Integrar los conocimientos de la materia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dirty="0"/>
              <a:t>Explorar una solución con nube, Big Data o NoSQL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dirty="0"/>
              <a:t>Analizar el problema y seleccionar tecnologías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dirty="0"/>
              <a:t>Desarrollar una solución y una interfaz de visualización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4800" dirty="0"/>
              <a:t>Justificar técnicamente las decisiones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99E86D59-13D9-8755-3FC2-6E7A3F165F08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0760D6B4-7F71-AB7C-682D-6CA1AD7B3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669F2DBF-D017-BA50-A110-6AAD40871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E8EC3F14-0609-E501-183A-895FB2702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8E1F30EF-7FAF-8DA4-CA26-6961B4F95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F7C589F6-524B-D24E-605C-17D6CFDE7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1058524F-D449-7CFE-793A-F370E6CF4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6E13AB21-817A-7FD4-B511-DC6885565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7C0CCEB8-E66B-F9B2-6598-708749429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52579D30-B7CC-B2ED-3E89-1216CBCC8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FA7BF1E7-39C6-B120-00E9-61F4194DB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2A89376C-9E24-FC1D-63C6-89EB65DD4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3C8C67A6-A073-785F-DE80-AE3492295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D7A3D6E8-0882-6DAF-FF2F-E16260963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0791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DA5E6-6295-FECA-76C4-BBE4B5D74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9B1FC1C-E2F7-88CB-3DFA-A700D02E89AE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9A7F59-3115-326C-D7F6-F84F90697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452" y="137319"/>
            <a:ext cx="5925669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Ejemplo proyecto 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10D6F6-F48E-4DF8-E316-15C0134EA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62" y="1525674"/>
            <a:ext cx="11115675" cy="3373438"/>
          </a:xfrm>
        </p:spPr>
        <p:txBody>
          <a:bodyPr>
            <a:noAutofit/>
          </a:bodyPr>
          <a:lstStyle/>
          <a:p>
            <a:pPr fontAlgn="t">
              <a:buNone/>
            </a:pPr>
            <a:r>
              <a:rPr lang="es-MX" sz="2000" b="1" dirty="0"/>
              <a:t>Análisis de redes sociales (ideal para Ciencia de Datos)</a:t>
            </a:r>
          </a:p>
          <a:p>
            <a:pPr fontAlgn="t">
              <a:buNone/>
            </a:pPr>
            <a:r>
              <a:rPr lang="es-MX" sz="2000" b="1" dirty="0"/>
              <a:t>Datos:</a:t>
            </a:r>
            <a:endParaRPr lang="es-MX" sz="2000" dirty="0"/>
          </a:p>
          <a:p>
            <a:pPr marL="342900" lvl="0" indent="-342900" fontAlgn="t"/>
            <a:r>
              <a:rPr lang="es-MX" sz="2000" dirty="0"/>
              <a:t>Publicaciones</a:t>
            </a:r>
          </a:p>
          <a:p>
            <a:pPr marL="342900" lvl="0" indent="-342900" fontAlgn="t"/>
            <a:r>
              <a:rPr lang="es-MX" sz="2000" dirty="0"/>
              <a:t>Likes</a:t>
            </a:r>
          </a:p>
          <a:p>
            <a:pPr marL="342900" lvl="0" indent="-342900" fontAlgn="t"/>
            <a:r>
              <a:rPr lang="es-MX" sz="2000" dirty="0"/>
              <a:t>Comentarios</a:t>
            </a:r>
          </a:p>
          <a:p>
            <a:pPr marL="342900" lvl="0" indent="-342900" fontAlgn="t"/>
            <a:r>
              <a:rPr lang="es-MX" sz="2000" dirty="0"/>
              <a:t>Usuarios</a:t>
            </a:r>
          </a:p>
          <a:p>
            <a:pPr fontAlgn="t">
              <a:buNone/>
            </a:pPr>
            <a:r>
              <a:rPr lang="es-MX" sz="2000" b="1" dirty="0"/>
              <a:t>Análisis:</a:t>
            </a:r>
            <a:endParaRPr lang="es-MX" sz="2000" dirty="0"/>
          </a:p>
          <a:p>
            <a:pPr marL="342900" lvl="0" indent="-342900" fontAlgn="t"/>
            <a:r>
              <a:rPr lang="es-MX" sz="2000" dirty="0"/>
              <a:t>Publicaciones más populares.</a:t>
            </a:r>
          </a:p>
          <a:p>
            <a:pPr marL="342900" lvl="0" indent="-342900" fontAlgn="t"/>
            <a:r>
              <a:rPr lang="es-MX" sz="2000" dirty="0"/>
              <a:t>Horarios con mayor interacción.</a:t>
            </a:r>
          </a:p>
          <a:p>
            <a:pPr marL="342900" lvl="0" indent="-342900" fontAlgn="t"/>
            <a:r>
              <a:rPr lang="es-MX" sz="2000" dirty="0"/>
              <a:t>Análisis de sentimiento básico.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80C2BB7D-E088-0F48-5476-EA8AEE86CF3B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6B0476C0-E114-7EA7-DD94-40D7E02A3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A517609-0ED6-BB5F-3F1D-F5E4DBE83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A6F80034-5122-3B16-76A4-92D495A7B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03EFF2F8-65C9-1894-CA20-81EC3A0EB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029361BC-DB90-E93F-4BD5-FB1642D92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07FCB54A-25D2-788C-7810-D817E3658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CD83846-ECBF-9628-A9F7-C7841FE80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A314800A-A1FB-7F69-4408-F9504F8FD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E90DECB5-0A76-DE3A-72F7-625E523CF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2ABDCB3C-5526-3E5B-E1B5-D15B228DE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06A8183C-752A-3321-A69C-25B26D133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CC1509FE-F297-7FE0-A7F8-404B1AD32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329843C4-94FC-2E89-A559-471C9073A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1829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0CF9-8EE2-8690-93C3-E9F414CF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0C6B973-4C9C-47E4-ED31-F8B86C4BBD44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7AA8CE-CFAD-7359-7E2C-1F03D0B2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893" y="252183"/>
            <a:ext cx="5185792" cy="114300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Criterios de evaluación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B2ED81-B36A-1F41-97EC-2D0E4F68F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97" y="2021188"/>
            <a:ext cx="11115675" cy="3373438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1200"/>
              </a:spcAft>
              <a:buNone/>
              <a:defRPr sz="2400"/>
            </a:pPr>
            <a:r>
              <a:rPr lang="es-MX" sz="3600" dirty="0"/>
              <a:t>La calificación final estará compuesta de tres partes: </a:t>
            </a:r>
          </a:p>
          <a:p>
            <a:pPr>
              <a:spcAft>
                <a:spcPts val="1200"/>
              </a:spcAft>
              <a:buFontTx/>
              <a:buChar char="-"/>
              <a:defRPr sz="2400"/>
            </a:pPr>
            <a:r>
              <a:rPr lang="es-MX" sz="3600" dirty="0"/>
              <a:t>Un examen final 25% </a:t>
            </a:r>
          </a:p>
          <a:p>
            <a:pPr>
              <a:spcAft>
                <a:spcPts val="1200"/>
              </a:spcAft>
              <a:buFontTx/>
              <a:buChar char="-"/>
              <a:defRPr sz="2400"/>
            </a:pPr>
            <a:r>
              <a:rPr lang="es-MX" sz="3600" dirty="0"/>
              <a:t>Controles de lectura 25% </a:t>
            </a:r>
          </a:p>
          <a:p>
            <a:pPr>
              <a:spcAft>
                <a:spcPts val="1200"/>
              </a:spcAft>
              <a:buFontTx/>
              <a:buChar char="-"/>
              <a:defRPr sz="2400"/>
            </a:pPr>
            <a:r>
              <a:rPr lang="es-MX" sz="3600" dirty="0"/>
              <a:t>Presentación de lectura 50%</a:t>
            </a:r>
          </a:p>
          <a:p>
            <a:pPr>
              <a:spcAft>
                <a:spcPts val="1200"/>
              </a:spcAft>
              <a:buFontTx/>
              <a:buChar char="-"/>
              <a:defRPr sz="2400"/>
            </a:pPr>
            <a:r>
              <a:rPr lang="es-MX" sz="3600" dirty="0"/>
              <a:t>Asistencia 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FD10B1A-0DE4-D0F3-BFA5-E21A5A0B1C9F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D79B6088-0951-6C9F-A485-B887BF92B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F085DC2-2D94-F82E-ED19-0B60705F5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5E46D03-9ABB-52E0-C121-F75590DB8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980D5DF-DBC5-E5B3-EBE3-6E0378BC0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047B913E-B210-74C4-2860-FB25AAD1B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B7A52E36-8630-91D3-6D26-B4A30ACA8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DB53B117-9665-E955-0FD1-E42F5ADBA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BFE27A6B-277E-C1EF-F5BD-B12CFF368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5EC3B00D-8E72-BD1F-E2FA-8F8CC2AC0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EF1260EB-7C80-134F-2B5E-9F5BBB0A0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5D3A7E7A-1DA7-05D8-660E-10440475C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5D5639B3-EF33-4DD9-6067-CD7CF21E0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710FE5F2-2C87-D06F-D7B5-BC1FD448A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9536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18843-4951-3F28-CF14-9F4CB5E2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87F603E-3A38-4B25-E8A0-BA1857E0369F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20ED41-B0BA-8C22-4314-43F9AA24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606" y="225812"/>
            <a:ext cx="8224788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Pregunta para iniciar la discusión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D36521-431E-BA17-F2C7-D3632AC5C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97" y="1742281"/>
            <a:ext cx="11115675" cy="3373438"/>
          </a:xfrm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  <a:defRPr sz="2000"/>
            </a:pPr>
            <a:r>
              <a:rPr lang="es-MX" sz="2000" b="1" dirty="0"/>
              <a:t>Si una organización nos entrega millones de registros para desarrollar una solución de Ciencia de Datos: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2000" dirty="0"/>
              <a:t>¿De dónde vienen los datos?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2000" dirty="0"/>
              <a:t>¿Qué estructura tienen?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2000" dirty="0"/>
              <a:t>¿Dónde están almacenados?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2000" dirty="0"/>
              <a:t>¿Cómo los vamos a procesar?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2000" dirty="0"/>
              <a:t>¿Qué tecnología necesitamos?</a:t>
            </a:r>
          </a:p>
          <a:p>
            <a:pPr>
              <a:spcAft>
                <a:spcPts val="1200"/>
              </a:spcAft>
              <a:defRPr sz="2400"/>
            </a:pPr>
            <a:r>
              <a:rPr lang="es-MX" sz="2000" dirty="0"/>
              <a:t>¿Qué decisión queremos apoyar?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2CD99BC-014E-3724-AD04-E00A925168DF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817F3D66-1B77-38CB-B5FF-C488E55AD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46F85233-484E-0088-B929-185F81AB4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5DF116D4-2803-42C9-C9A4-D4001F91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19361702-FBA5-562A-DC1A-B5DD9C7BD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D8308CB-0479-19F2-BD84-9B932B90D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24BF6CDD-C5DA-DC38-9143-3B2564376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8490DD9C-93D7-6EF2-7D1E-6900D4EE1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BB02D5C9-CC85-4FC8-6802-D00115620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24914D7F-A3BE-8AD7-4A95-46A208036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F83E48F9-4DEC-7AEA-1AE0-7F8DDFE29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35BE77BE-A864-2D2A-EE73-2EA1D2F7D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C0248550-36FD-3BD2-6485-58BCA3072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A30DABE3-41CC-6BB4-1102-8B1EB7F58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7934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4A0D-EE9A-0615-947C-65EA67A4E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92AB39A-8487-9CDA-AE22-B5F063BDB219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7AC9BB-A035-CF96-E45A-DB37D9BBD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440" y="182452"/>
            <a:ext cx="2293119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Cierre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F06204-ED6F-82D7-B9C8-C584603B1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97" y="1742281"/>
            <a:ext cx="11115675" cy="3373438"/>
          </a:xfrm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  <a:defRPr sz="2400"/>
            </a:pPr>
            <a:r>
              <a:rPr lang="es-MX" sz="3200" dirty="0"/>
              <a:t>Antes de pensar en el algoritmo, debemos pensar en los datos.</a:t>
            </a:r>
          </a:p>
          <a:p>
            <a:pPr algn="just">
              <a:spcAft>
                <a:spcPts val="1200"/>
              </a:spcAft>
              <a:defRPr sz="2000"/>
            </a:pPr>
            <a:r>
              <a:rPr lang="es-MX" sz="3200" dirty="0"/>
              <a:t>Durante la materia aprenderemos a seleccionar tecnologías de bases de datos de acuerdo con las necesidades del problema.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E2753E7-DD1F-690E-3051-0890520A6867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F805EB5-4B70-205F-A56E-D03896F86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A7EAD0C3-1A20-E622-E97C-C019A5A84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5D205B0C-16DF-9884-3DD3-8F971E210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93096ADE-8BF4-6ACB-9C67-A0B022D0F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896BFDC-2202-AAE7-E968-3F3176A60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C7B82BC9-F81D-3584-60AA-5B36D7D41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A1D5882C-25B1-741B-6CBF-CC1A4C3D8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C1F2AACF-DEF4-E24A-D99F-0375A6C5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E985FE5D-83C5-6D0A-3E7D-6D810E50C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BDF848EF-24D8-8CAE-9F61-9859D71AB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FBF8A007-BF02-796F-629C-CA4A5DDAE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9FAC1C9A-8EAE-76BC-E85E-BEB34F2E2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DAFEF895-1B54-F184-B30D-85A7ECEB1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8588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05C3B-19A6-FB12-9980-F5AD9C8BE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A66760-BE33-C5BB-A560-533770E1C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677" y="1758468"/>
            <a:ext cx="5182323" cy="375337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1D46E90-C713-0654-BC95-2574FA7516CA}"/>
              </a:ext>
            </a:extLst>
          </p:cNvPr>
          <p:cNvSpPr/>
          <p:nvPr/>
        </p:nvSpPr>
        <p:spPr>
          <a:xfrm flipV="1">
            <a:off x="0" y="0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E559A5-C607-9512-5374-04D92220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539" y="199858"/>
            <a:ext cx="3737359" cy="114300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Siguiente sesión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633B21-B684-6030-B294-7F7D61573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534" y="2043877"/>
            <a:ext cx="11115675" cy="3373438"/>
          </a:xfrm>
        </p:spPr>
        <p:txBody>
          <a:bodyPr>
            <a:noAutofit/>
          </a:bodyPr>
          <a:lstStyle/>
          <a:p>
            <a:pPr marL="342900" indent="-342900">
              <a:spcAft>
                <a:spcPts val="1200"/>
              </a:spcAft>
              <a:buAutoNum type="arabicPeriod"/>
              <a:defRPr sz="2400"/>
            </a:pPr>
            <a:r>
              <a:rPr lang="es-MX" sz="2000" b="1" dirty="0"/>
              <a:t>Bases de Datos </a:t>
            </a:r>
            <a:r>
              <a:rPr lang="es-MX" sz="2000" b="1" dirty="0" err="1"/>
              <a:t>Semi-estructuradas</a:t>
            </a:r>
            <a:r>
              <a:rPr lang="es-MX" sz="2000" b="1" dirty="0"/>
              <a:t> (XML). </a:t>
            </a:r>
          </a:p>
          <a:p>
            <a:pPr marL="0" indent="0">
              <a:spcAft>
                <a:spcPts val="1200"/>
              </a:spcAft>
              <a:buNone/>
              <a:defRPr sz="2400"/>
            </a:pPr>
            <a:r>
              <a:rPr lang="es-MX" sz="2000" b="1" dirty="0"/>
              <a:t>	1.1 Definición de datos semiestructurados. </a:t>
            </a:r>
          </a:p>
          <a:p>
            <a:pPr marL="0" indent="0">
              <a:spcAft>
                <a:spcPts val="1200"/>
              </a:spcAft>
              <a:buNone/>
              <a:defRPr sz="2400"/>
            </a:pPr>
            <a:r>
              <a:rPr lang="es-MX" sz="2000" b="1" dirty="0"/>
              <a:t>	1.2 Introducción a XML. </a:t>
            </a:r>
          </a:p>
          <a:p>
            <a:pPr marL="0" indent="0">
              <a:spcAft>
                <a:spcPts val="1200"/>
              </a:spcAft>
              <a:buNone/>
              <a:defRPr sz="2400"/>
            </a:pPr>
            <a:r>
              <a:rPr lang="es-MX" sz="2000" b="1" dirty="0"/>
              <a:t>	1.3 Consultando datos con </a:t>
            </a:r>
            <a:r>
              <a:rPr lang="es-MX" sz="2000" b="1" dirty="0" err="1"/>
              <a:t>XPath</a:t>
            </a:r>
            <a:r>
              <a:rPr lang="es-MX" sz="2000" b="1" dirty="0"/>
              <a:t>, </a:t>
            </a:r>
            <a:r>
              <a:rPr lang="es-MX" sz="2000" b="1" dirty="0" err="1"/>
              <a:t>XQuery</a:t>
            </a:r>
            <a:r>
              <a:rPr lang="es-MX" sz="2000" b="1" dirty="0"/>
              <a:t> y SQL/XML. </a:t>
            </a:r>
          </a:p>
          <a:p>
            <a:pPr marL="0" indent="0">
              <a:spcAft>
                <a:spcPts val="1200"/>
              </a:spcAft>
              <a:buNone/>
              <a:defRPr sz="2400"/>
            </a:pPr>
            <a:r>
              <a:rPr lang="es-MX" sz="2000" b="1" dirty="0"/>
              <a:t>	1.4 Motores de consulta XML.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CB68B0E1-34E4-A888-9B18-11C11A90D7D5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EA658234-BC74-EAA6-3A05-F7BA89E73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E328B10-9B86-829B-D7F1-210B37DB3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4569F8D2-1E10-BF6F-9996-D223B1E76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F216894B-E143-3BAF-E715-3AB7BC202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256F7D49-D7EE-2513-B57D-66DA7DACC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D394DF9-22A7-8843-E21C-AD532C985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BC8F740D-9207-D552-3CB7-F3A993476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C272D1B1-400D-556A-CC0C-BF828D1D8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463D0983-FE70-8E36-5263-FEDDFD217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54E1B96F-F7F3-5CDB-6921-974DDA9CA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5AD264EB-2C1B-2D69-AF03-DB84D3D99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DF9CC7A8-A6A7-77D1-0BD9-0A4DCB891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D11864E0-49AC-79F0-708B-54C4F4BFF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3292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EA766-1551-11D4-45C6-54CB3AB36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A0EB469-CF87-56B2-8EFC-CD7F6A0A905F}"/>
              </a:ext>
            </a:extLst>
          </p:cNvPr>
          <p:cNvSpPr txBox="1"/>
          <p:nvPr/>
        </p:nvSpPr>
        <p:spPr>
          <a:xfrm>
            <a:off x="3386667" y="2234737"/>
            <a:ext cx="483901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360"/>
              </a:lnSpc>
            </a:pPr>
            <a:r>
              <a:rPr lang="es-MX" sz="2800" dirty="0"/>
              <a:t>Blanca </a:t>
            </a:r>
            <a:r>
              <a:rPr lang="es-MX" sz="2800" dirty="0" err="1"/>
              <a:t>Esthela</a:t>
            </a:r>
            <a:r>
              <a:rPr lang="es-MX" sz="2800" dirty="0"/>
              <a:t> Torres Ramírez</a:t>
            </a:r>
          </a:p>
          <a:p>
            <a:pPr>
              <a:lnSpc>
                <a:spcPts val="3360"/>
              </a:lnSpc>
            </a:pPr>
            <a:endParaRPr lang="es-MX" sz="2800" dirty="0"/>
          </a:p>
          <a:p>
            <a:pPr>
              <a:lnSpc>
                <a:spcPts val="3360"/>
              </a:lnSpc>
            </a:pPr>
            <a:r>
              <a:rPr lang="es-MX" sz="2800" dirty="0"/>
              <a:t>blancarmztorres@gmail.com</a:t>
            </a:r>
          </a:p>
          <a:p>
            <a:pPr>
              <a:lnSpc>
                <a:spcPts val="3360"/>
              </a:lnSpc>
            </a:pPr>
            <a:endParaRPr lang="es-MX" sz="2800" dirty="0"/>
          </a:p>
          <a:p>
            <a:pPr>
              <a:lnSpc>
                <a:spcPts val="3360"/>
              </a:lnSpc>
            </a:pPr>
            <a:r>
              <a:rPr lang="es-MX" sz="2800" dirty="0"/>
              <a:t>Cel. 449-466-77-37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49B3BF9-5EDB-EB76-8629-9B3DD20F237B}"/>
              </a:ext>
            </a:extLst>
          </p:cNvPr>
          <p:cNvSpPr/>
          <p:nvPr/>
        </p:nvSpPr>
        <p:spPr>
          <a:xfrm flipV="1">
            <a:off x="0" y="1"/>
            <a:ext cx="12192000" cy="1417638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6E59CF-5691-1D60-4EF7-9AA94AC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379200" cy="1143000"/>
          </a:xfrm>
        </p:spPr>
        <p:txBody>
          <a:bodyPr>
            <a:normAutofit/>
          </a:bodyPr>
          <a:lstStyle/>
          <a:p>
            <a:pPr algn="ctr"/>
            <a:r>
              <a:rPr lang="es-MX" sz="3600" b="1" dirty="0">
                <a:solidFill>
                  <a:schemeClr val="bg1"/>
                </a:solidFill>
                <a:latin typeface="Aptos" panose="020B0004020202020204" pitchFamily="34" charset="0"/>
              </a:rPr>
              <a:t>Contacto</a:t>
            </a:r>
            <a:endParaRPr sz="3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144FEB8-5BF5-679A-5C02-6A1EDABC3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403" y="2306266"/>
            <a:ext cx="274176" cy="41395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26018FE-1F49-7277-AF2C-7B3CDCF1F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514" y="3205698"/>
            <a:ext cx="427955" cy="30484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37BDF86-8052-EE71-A60D-604ABB570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349" y="3996023"/>
            <a:ext cx="418120" cy="40040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E9A7DAA-588D-E899-6E9B-E8658F4AE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33628"/>
            <a:ext cx="2048161" cy="212437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B93BB1D-A2F4-9BDE-60DD-D4BBAF944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3627" y="3942943"/>
            <a:ext cx="2848373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140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BE7E8-6354-EDE5-1464-D274D6C9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66D494-9504-1233-9BC7-8974DF47A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6935" y="2474501"/>
            <a:ext cx="5779491" cy="1908998"/>
          </a:xfrm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  <a:defRPr sz="2400"/>
            </a:pPr>
            <a:r>
              <a:rPr lang="es-MX" sz="9600" b="1" dirty="0"/>
              <a:t>Gracias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ED02EB6-A9AD-E6F5-DF81-ED50AF74DDCE}"/>
              </a:ext>
            </a:extLst>
          </p:cNvPr>
          <p:cNvGrpSpPr/>
          <p:nvPr/>
        </p:nvGrpSpPr>
        <p:grpSpPr>
          <a:xfrm>
            <a:off x="138331" y="5912595"/>
            <a:ext cx="11878128" cy="956632"/>
            <a:chOff x="95996" y="5912595"/>
            <a:chExt cx="11878128" cy="95663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F9B1957-F758-D047-C434-E6915C3D0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96" y="6009403"/>
              <a:ext cx="891672" cy="84859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28C49AA1-6D72-5409-AF9E-F7CEE54A2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548" y="6075414"/>
              <a:ext cx="891673" cy="78258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FFC76B0-A9AF-AF38-2085-803B1F79B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101" y="6075414"/>
              <a:ext cx="586232" cy="771358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8A4BABB-14BD-8706-C644-2ACF716C5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9333" y="5913662"/>
              <a:ext cx="1028098" cy="93311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08373857-D5B4-25B2-7E84-9FA913C92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779" y="6008336"/>
              <a:ext cx="891672" cy="8485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CF98D0F-2DB7-BFB1-9818-EABAB8FB5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331" y="6074347"/>
              <a:ext cx="891673" cy="78258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69F90794-5210-4CBA-DB1E-64C53A1F8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02884" y="6074347"/>
              <a:ext cx="586232" cy="771358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8EE1CFB0-C851-F686-7A77-886E5D7EB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768" y="5912595"/>
              <a:ext cx="1028098" cy="93311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7C63E278-FF01-2708-64C3-CD283FB4E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866" y="6020631"/>
              <a:ext cx="891672" cy="84859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9D21C9E0-DD1C-12DF-F38E-54B535CE1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418" y="6086642"/>
              <a:ext cx="891673" cy="7825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E28E1A9B-468F-7CE0-0FC3-AEF1AEF67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05971" y="6086642"/>
              <a:ext cx="586232" cy="771358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645F22CE-8453-70CB-7D0C-D4E778AD9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2203" y="5924890"/>
              <a:ext cx="1028098" cy="93311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A2B103E2-DE7A-903B-1648-10E0F0D10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82452" y="5997109"/>
              <a:ext cx="891672" cy="848596"/>
            </a:xfrm>
            <a:prstGeom prst="rect">
              <a:avLst/>
            </a:prstGeom>
          </p:spPr>
        </p:pic>
      </p:grpSp>
      <p:sp>
        <p:nvSpPr>
          <p:cNvPr id="6" name="Rectángulo 5">
            <a:extLst>
              <a:ext uri="{FF2B5EF4-FFF2-40B4-BE49-F238E27FC236}">
                <a16:creationId xmlns:a16="http://schemas.microsoft.com/office/drawing/2014/main" id="{C65D016A-2A19-FEE2-23F0-74275D567511}"/>
              </a:ext>
            </a:extLst>
          </p:cNvPr>
          <p:cNvSpPr/>
          <p:nvPr/>
        </p:nvSpPr>
        <p:spPr>
          <a:xfrm flipV="1">
            <a:off x="0" y="0"/>
            <a:ext cx="12192000" cy="200025"/>
          </a:xfrm>
          <a:prstGeom prst="rect">
            <a:avLst/>
          </a:prstGeom>
          <a:solidFill>
            <a:srgbClr val="0449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58938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1107</Words>
  <Application>Microsoft Office PowerPoint</Application>
  <PresentationFormat>Panorámica</PresentationFormat>
  <Paragraphs>171</Paragraphs>
  <Slides>26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Segoe UI</vt:lpstr>
      <vt:lpstr>Tema de Office</vt:lpstr>
      <vt:lpstr>Presentación de PowerPoint</vt:lpstr>
      <vt:lpstr>Contacto</vt:lpstr>
      <vt:lpstr>¿Por qué estudiar bases de datos en Ciencia de Datos?</vt:lpstr>
      <vt:lpstr>Fuentes de información | Estructurada</vt:lpstr>
      <vt:lpstr>Fuentes de información | Semiestructurada</vt:lpstr>
      <vt:lpstr>Fuentes de información | Gran Volumen</vt:lpstr>
      <vt:lpstr>El papel de las bases de datos en Ciencia de Datos</vt:lpstr>
      <vt:lpstr>¿Qué estudiaremos?</vt:lpstr>
      <vt:lpstr>Tema 1. Bases de Datos Semiestructuradas</vt:lpstr>
      <vt:lpstr>Pregunta</vt:lpstr>
      <vt:lpstr>Pregunta</vt:lpstr>
      <vt:lpstr>Tema 2. Cómputo en la nube</vt:lpstr>
      <vt:lpstr>Tema 3. Bases de datos para la toma de decisiones</vt:lpstr>
      <vt:lpstr>Tema 4. Herramientas BIG DATA</vt:lpstr>
      <vt:lpstr>Tema 5. Tendencias tecnológicas</vt:lpstr>
      <vt:lpstr>Pregunta</vt:lpstr>
      <vt:lpstr>¿Cómo se relacionan los temas?</vt:lpstr>
      <vt:lpstr>¿Cómo trabajaremos?</vt:lpstr>
      <vt:lpstr>Proyecto final</vt:lpstr>
      <vt:lpstr>Ejemplo proyecto </vt:lpstr>
      <vt:lpstr>Criterios de evaluación</vt:lpstr>
      <vt:lpstr>Pregunta para iniciar la discusión</vt:lpstr>
      <vt:lpstr>Cierre</vt:lpstr>
      <vt:lpstr>Siguiente sesión</vt:lpstr>
      <vt:lpstr>Contacto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TORRES RAMIREZ BLANCA ESTHELA</dc:creator>
  <cp:lastModifiedBy>TORRES RAMIREZ BLANCA ESTHELA</cp:lastModifiedBy>
  <cp:revision>25</cp:revision>
  <dcterms:created xsi:type="dcterms:W3CDTF">2026-08-22T02:54:08Z</dcterms:created>
  <dcterms:modified xsi:type="dcterms:W3CDTF">2026-10-14T23:50:48Z</dcterms:modified>
</cp:coreProperties>
</file>