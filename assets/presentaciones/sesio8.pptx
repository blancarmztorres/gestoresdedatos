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44"/>
  </p:notesMasterIdLst>
  <p:sldIdLst>
    <p:sldId id="256" r:id="rId2"/>
    <p:sldId id="258" r:id="rId3"/>
    <p:sldId id="259" r:id="rId4"/>
    <p:sldId id="260" r:id="rId5"/>
    <p:sldId id="340" r:id="rId6"/>
    <p:sldId id="341" r:id="rId7"/>
    <p:sldId id="342" r:id="rId8"/>
    <p:sldId id="355" r:id="rId9"/>
    <p:sldId id="261" r:id="rId10"/>
    <p:sldId id="343" r:id="rId11"/>
    <p:sldId id="265" r:id="rId12"/>
    <p:sldId id="262" r:id="rId13"/>
    <p:sldId id="358" r:id="rId14"/>
    <p:sldId id="359" r:id="rId15"/>
    <p:sldId id="361" r:id="rId16"/>
    <p:sldId id="338" r:id="rId17"/>
    <p:sldId id="339" r:id="rId18"/>
    <p:sldId id="266" r:id="rId19"/>
    <p:sldId id="305" r:id="rId20"/>
    <p:sldId id="367" r:id="rId21"/>
    <p:sldId id="310" r:id="rId22"/>
    <p:sldId id="344" r:id="rId23"/>
    <p:sldId id="346" r:id="rId24"/>
    <p:sldId id="350" r:id="rId25"/>
    <p:sldId id="348" r:id="rId26"/>
    <p:sldId id="349" r:id="rId27"/>
    <p:sldId id="357" r:id="rId28"/>
    <p:sldId id="306" r:id="rId29"/>
    <p:sldId id="311" r:id="rId30"/>
    <p:sldId id="364" r:id="rId31"/>
    <p:sldId id="365" r:id="rId32"/>
    <p:sldId id="312" r:id="rId33"/>
    <p:sldId id="315" r:id="rId34"/>
    <p:sldId id="351" r:id="rId35"/>
    <p:sldId id="316" r:id="rId36"/>
    <p:sldId id="352" r:id="rId37"/>
    <p:sldId id="353" r:id="rId38"/>
    <p:sldId id="354" r:id="rId39"/>
    <p:sldId id="362" r:id="rId40"/>
    <p:sldId id="363" r:id="rId41"/>
    <p:sldId id="366" r:id="rId42"/>
    <p:sldId id="284" r:id="rId43"/>
  </p:sldIdLst>
  <p:sldSz cx="9144000" cy="5143500" type="screen16x9"/>
  <p:notesSz cx="6858000" cy="9144000"/>
  <p:embeddedFontLst>
    <p:embeddedFont>
      <p:font typeface="ADLaM Display" panose="02010000000000000000" pitchFamily="2" charset="0"/>
      <p:regular r:id="rId45"/>
    </p:embeddedFont>
    <p:embeddedFont>
      <p:font typeface="Bahnschrift SemiCondensed" panose="020B0502040204020203" pitchFamily="34" charset="0"/>
      <p:regular r:id="rId46"/>
      <p:bold r:id="rId47"/>
    </p:embeddedFont>
    <p:embeddedFont>
      <p:font typeface="Barlow Condensed Medium" panose="00000606000000000000" pitchFamily="2" charset="0"/>
      <p:regular r:id="rId48"/>
      <p:italic r:id="rId49"/>
    </p:embeddedFont>
    <p:embeddedFont>
      <p:font typeface="Barlow Semi Condensed" panose="00000506000000000000" pitchFamily="2" charset="0"/>
      <p:regular r:id="rId50"/>
      <p:bold r:id="rId51"/>
    </p:embeddedFont>
    <p:embeddedFont>
      <p:font typeface="Barlow Semi Condensed Medium" panose="00000606000000000000" pitchFamily="2" charset="0"/>
      <p:regular r:id="rId52"/>
    </p:embeddedFont>
    <p:embeddedFont>
      <p:font typeface="Fjalla One" panose="02000506040000020004" pitchFamily="2" charset="0"/>
      <p:regular r:id="rId53"/>
    </p:embeddedFont>
    <p:embeddedFont>
      <p:font typeface="Segoe UI" panose="020B0502040204020203"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C6FC"/>
    <a:srgbClr val="FBFDFE"/>
    <a:srgbClr val="F5F8FB"/>
    <a:srgbClr val="F0E6FD"/>
    <a:srgbClr val="FBB132"/>
    <a:srgbClr val="F9E6C7"/>
    <a:srgbClr val="9C54EC"/>
    <a:srgbClr val="EDE6FB"/>
    <a:srgbClr val="EEEAFA"/>
    <a:srgbClr val="99DC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E9E1F4-964A-4C0C-AB1B-2E9AAE976577}">
  <a:tblStyle styleId="{B3E9E1F4-964A-4C0C-AB1B-2E9AAE97657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73898" autoAdjust="0"/>
  </p:normalViewPr>
  <p:slideViewPr>
    <p:cSldViewPr snapToGrid="0">
      <p:cViewPr varScale="1">
        <p:scale>
          <a:sx n="93" d="100"/>
          <a:sy n="93" d="100"/>
        </p:scale>
        <p:origin x="11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a:extLst>
            <a:ext uri="{FF2B5EF4-FFF2-40B4-BE49-F238E27FC236}">
              <a16:creationId xmlns:a16="http://schemas.microsoft.com/office/drawing/2014/main" id="{1C36A105-2892-6516-9F03-B812E4932B5D}"/>
            </a:ext>
          </a:extLst>
        </p:cNvPr>
        <p:cNvGrpSpPr/>
        <p:nvPr/>
      </p:nvGrpSpPr>
      <p:grpSpPr>
        <a:xfrm>
          <a:off x="0" y="0"/>
          <a:ext cx="0" cy="0"/>
          <a:chOff x="0" y="0"/>
          <a:chExt cx="0" cy="0"/>
        </a:xfrm>
      </p:grpSpPr>
      <p:sp>
        <p:nvSpPr>
          <p:cNvPr id="2159" name="Google Shape;2159;g804e9800b4_0_1104:notes">
            <a:extLst>
              <a:ext uri="{FF2B5EF4-FFF2-40B4-BE49-F238E27FC236}">
                <a16:creationId xmlns:a16="http://schemas.microsoft.com/office/drawing/2014/main" id="{E2C360D0-C1C6-BC06-0D64-5FF6D098B6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a:extLst>
              <a:ext uri="{FF2B5EF4-FFF2-40B4-BE49-F238E27FC236}">
                <a16:creationId xmlns:a16="http://schemas.microsoft.com/office/drawing/2014/main" id="{8F362CC2-64EB-9FBD-61A7-68DDD36219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580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a:extLst>
            <a:ext uri="{FF2B5EF4-FFF2-40B4-BE49-F238E27FC236}">
              <a16:creationId xmlns:a16="http://schemas.microsoft.com/office/drawing/2014/main" id="{11D636EC-DC5D-7FFE-B584-69A42EFD294B}"/>
            </a:ext>
          </a:extLst>
        </p:cNvPr>
        <p:cNvGrpSpPr/>
        <p:nvPr/>
      </p:nvGrpSpPr>
      <p:grpSpPr>
        <a:xfrm>
          <a:off x="0" y="0"/>
          <a:ext cx="0" cy="0"/>
          <a:chOff x="0" y="0"/>
          <a:chExt cx="0" cy="0"/>
        </a:xfrm>
      </p:grpSpPr>
      <p:sp>
        <p:nvSpPr>
          <p:cNvPr id="2159" name="Google Shape;2159;g804e9800b4_0_1104:notes">
            <a:extLst>
              <a:ext uri="{FF2B5EF4-FFF2-40B4-BE49-F238E27FC236}">
                <a16:creationId xmlns:a16="http://schemas.microsoft.com/office/drawing/2014/main" id="{B2AAF70F-7576-9A13-1D75-EA476EE596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a:extLst>
              <a:ext uri="{FF2B5EF4-FFF2-40B4-BE49-F238E27FC236}">
                <a16:creationId xmlns:a16="http://schemas.microsoft.com/office/drawing/2014/main" id="{8C2B85EC-48A6-8029-96C9-967523CACF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667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a:extLst>
            <a:ext uri="{FF2B5EF4-FFF2-40B4-BE49-F238E27FC236}">
              <a16:creationId xmlns:a16="http://schemas.microsoft.com/office/drawing/2014/main" id="{C1C5C618-CF41-52E1-14B5-34D2E35CDD97}"/>
            </a:ext>
          </a:extLst>
        </p:cNvPr>
        <p:cNvGrpSpPr/>
        <p:nvPr/>
      </p:nvGrpSpPr>
      <p:grpSpPr>
        <a:xfrm>
          <a:off x="0" y="0"/>
          <a:ext cx="0" cy="0"/>
          <a:chOff x="0" y="0"/>
          <a:chExt cx="0" cy="0"/>
        </a:xfrm>
      </p:grpSpPr>
      <p:sp>
        <p:nvSpPr>
          <p:cNvPr id="2159" name="Google Shape;2159;g804e9800b4_0_1104:notes">
            <a:extLst>
              <a:ext uri="{FF2B5EF4-FFF2-40B4-BE49-F238E27FC236}">
                <a16:creationId xmlns:a16="http://schemas.microsoft.com/office/drawing/2014/main" id="{AD853D89-35F6-FA2E-7AE3-65FDA7F98F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a:extLst>
              <a:ext uri="{FF2B5EF4-FFF2-40B4-BE49-F238E27FC236}">
                <a16:creationId xmlns:a16="http://schemas.microsoft.com/office/drawing/2014/main" id="{F00989D4-706D-FE6B-38C2-6F31509F1C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3269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4A1CC731-547A-DF1B-A44F-145A24A7D880}"/>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6CB54602-D290-C679-A844-94E99D1474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AAC878A7-9764-8D28-1EF1-6EDC79DF76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ETL – Extrae, transforma y carga los datos en el Data Ware House</a:t>
            </a:r>
          </a:p>
          <a:p>
            <a:pPr marL="0" lvl="0" indent="0" algn="l" rtl="0">
              <a:spcBef>
                <a:spcPts val="0"/>
              </a:spcBef>
              <a:spcAft>
                <a:spcPts val="0"/>
              </a:spcAft>
              <a:buNone/>
            </a:pPr>
            <a:r>
              <a:rPr lang="es-MX" dirty="0"/>
              <a:t>ELT – Extrae, cargados los datos en el almacén de datos y en el Data Ware House los transforma</a:t>
            </a:r>
          </a:p>
          <a:p>
            <a:pPr marL="0" lvl="0" indent="0" algn="l" rtl="0">
              <a:spcBef>
                <a:spcPts val="0"/>
              </a:spcBef>
              <a:spcAft>
                <a:spcPts val="0"/>
              </a:spcAft>
              <a:buNone/>
            </a:pPr>
            <a:endParaRPr lang="es-MX" dirty="0"/>
          </a:p>
          <a:p>
            <a:pPr marL="0" lvl="0" indent="0" algn="l" rtl="0">
              <a:spcBef>
                <a:spcPts val="0"/>
              </a:spcBef>
              <a:spcAft>
                <a:spcPts val="0"/>
              </a:spcAft>
              <a:buNone/>
            </a:pPr>
            <a:endParaRPr lang="es-MX" dirty="0"/>
          </a:p>
          <a:p>
            <a:pPr marL="0" lvl="0" indent="0" algn="l" rtl="0">
              <a:spcBef>
                <a:spcPts val="0"/>
              </a:spcBef>
              <a:spcAft>
                <a:spcPts val="0"/>
              </a:spcAft>
              <a:buNone/>
            </a:pPr>
            <a:r>
              <a:rPr lang="es-MX" dirty="0"/>
              <a:t>La tabla de hechos es la tabla central de un esquema estrella que almacena los eventos o transacciones de negocio que se desean analizar.</a:t>
            </a:r>
            <a:endParaRPr dirty="0"/>
          </a:p>
        </p:txBody>
      </p:sp>
    </p:spTree>
    <p:extLst>
      <p:ext uri="{BB962C8B-B14F-4D97-AF65-F5344CB8AC3E}">
        <p14:creationId xmlns:p14="http://schemas.microsoft.com/office/powerpoint/2010/main" val="2183207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a:extLst>
            <a:ext uri="{FF2B5EF4-FFF2-40B4-BE49-F238E27FC236}">
              <a16:creationId xmlns:a16="http://schemas.microsoft.com/office/drawing/2014/main" id="{E4C1E9B7-7B96-45CB-7731-6741803DB611}"/>
            </a:ext>
          </a:extLst>
        </p:cNvPr>
        <p:cNvGrpSpPr/>
        <p:nvPr/>
      </p:nvGrpSpPr>
      <p:grpSpPr>
        <a:xfrm>
          <a:off x="0" y="0"/>
          <a:ext cx="0" cy="0"/>
          <a:chOff x="0" y="0"/>
          <a:chExt cx="0" cy="0"/>
        </a:xfrm>
      </p:grpSpPr>
      <p:sp>
        <p:nvSpPr>
          <p:cNvPr id="2152" name="Google Shape;2152;g8714a43093_3_952:notes">
            <a:extLst>
              <a:ext uri="{FF2B5EF4-FFF2-40B4-BE49-F238E27FC236}">
                <a16:creationId xmlns:a16="http://schemas.microsoft.com/office/drawing/2014/main" id="{32D06AF6-7CDF-FE2D-F06D-9C4B9FF3C7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a:extLst>
              <a:ext uri="{FF2B5EF4-FFF2-40B4-BE49-F238E27FC236}">
                <a16:creationId xmlns:a16="http://schemas.microsoft.com/office/drawing/2014/main" id="{D32FE396-B2C4-1D95-9F64-EC814D6768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9149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a:extLst>
            <a:ext uri="{FF2B5EF4-FFF2-40B4-BE49-F238E27FC236}">
              <a16:creationId xmlns:a16="http://schemas.microsoft.com/office/drawing/2014/main" id="{8D5FEF63-C7AC-FBB9-21BD-F9DD76AED8C3}"/>
            </a:ext>
          </a:extLst>
        </p:cNvPr>
        <p:cNvGrpSpPr/>
        <p:nvPr/>
      </p:nvGrpSpPr>
      <p:grpSpPr>
        <a:xfrm>
          <a:off x="0" y="0"/>
          <a:ext cx="0" cy="0"/>
          <a:chOff x="0" y="0"/>
          <a:chExt cx="0" cy="0"/>
        </a:xfrm>
      </p:grpSpPr>
      <p:sp>
        <p:nvSpPr>
          <p:cNvPr id="2221" name="Google Shape;2221;g804e9800b4_0_1360:notes">
            <a:extLst>
              <a:ext uri="{FF2B5EF4-FFF2-40B4-BE49-F238E27FC236}">
                <a16:creationId xmlns:a16="http://schemas.microsoft.com/office/drawing/2014/main" id="{F72E1E73-4CD9-6D17-1AE7-6AEF83F36E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a:extLst>
              <a:ext uri="{FF2B5EF4-FFF2-40B4-BE49-F238E27FC236}">
                <a16:creationId xmlns:a16="http://schemas.microsoft.com/office/drawing/2014/main" id="{68AC22D8-EAB7-8B99-E223-8C62DDBEF8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96328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0C8BC417-E785-ECFA-E8C3-38FEAB4B9FDE}"/>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5CDE9405-6219-11F3-F333-0B47F03598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4D6D0D52-4C98-4041-353B-DC02B7B445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119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154453B2-ECD8-38DA-569D-F490B416BF6C}"/>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4E5001A7-290B-380F-33FE-BCA85230A6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964DE5F4-56DD-8AB8-8BCE-A8B225CA8B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Se propone construir un </a:t>
            </a:r>
            <a:r>
              <a:rPr lang="es-MX" sz="1100" b="1" i="0" u="none" strike="noStrike" cap="none" spc="0" dirty="0">
                <a:solidFill>
                  <a:srgbClr val="000000"/>
                </a:solidFill>
                <a:effectLst/>
                <a:latin typeface="Arial"/>
                <a:ea typeface="Arial"/>
                <a:cs typeface="Arial"/>
                <a:sym typeface="Arial"/>
              </a:rPr>
              <a:t>Data Mart de Ventas</a:t>
            </a:r>
            <a:r>
              <a:rPr lang="es-MX" sz="1100" b="0" i="0" u="none" strike="noStrike" cap="none" spc="0" dirty="0">
                <a:solidFill>
                  <a:srgbClr val="000000"/>
                </a:solidFill>
                <a:effectLst/>
                <a:latin typeface="Arial"/>
                <a:ea typeface="Arial"/>
                <a:cs typeface="Arial"/>
                <a:sym typeface="Arial"/>
              </a:rPr>
              <a:t> que concentre información de clientes, productos, ventas e inventarios. Mediante la técnica de </a:t>
            </a:r>
            <a:r>
              <a:rPr lang="es-MX" sz="1100" b="1" i="0" u="none" strike="noStrike" cap="none" spc="0" dirty="0">
                <a:solidFill>
                  <a:srgbClr val="000000"/>
                </a:solidFill>
                <a:effectLst/>
                <a:latin typeface="Arial"/>
                <a:ea typeface="Arial"/>
                <a:cs typeface="Arial"/>
                <a:sym typeface="Arial"/>
              </a:rPr>
              <a:t>Análisis de Asociación (Market Basket </a:t>
            </a:r>
            <a:r>
              <a:rPr lang="es-MX" sz="1100" b="1" i="0" u="none" strike="noStrike" cap="none" spc="0" dirty="0" err="1">
                <a:solidFill>
                  <a:srgbClr val="000000"/>
                </a:solidFill>
                <a:effectLst/>
                <a:latin typeface="Arial"/>
                <a:ea typeface="Arial"/>
                <a:cs typeface="Arial"/>
                <a:sym typeface="Arial"/>
              </a:rPr>
              <a:t>Analysis</a:t>
            </a:r>
            <a:r>
              <a:rPr lang="es-MX" sz="1100" b="1" i="0" u="none" strike="noStrike" cap="none" spc="0" dirty="0">
                <a:solidFill>
                  <a:srgbClr val="000000"/>
                </a:solidFill>
                <a:effectLst/>
                <a:latin typeface="Arial"/>
                <a:ea typeface="Arial"/>
                <a:cs typeface="Arial"/>
                <a:sym typeface="Arial"/>
              </a:rPr>
              <a:t>)</a:t>
            </a:r>
            <a:r>
              <a:rPr lang="es-MX" sz="1100" b="0" i="0" u="none" strike="noStrike" cap="none" spc="0" dirty="0">
                <a:solidFill>
                  <a:srgbClr val="000000"/>
                </a:solidFill>
                <a:effectLst/>
                <a:latin typeface="Arial"/>
                <a:ea typeface="Arial"/>
                <a:cs typeface="Arial"/>
                <a:sym typeface="Arial"/>
              </a:rPr>
              <a:t> se identifican patrones de compra para apoyar decisiones como crear promociones, optimizar inventarios, mejorar la distribución de productos, fidelizar clientes y pronosticar ventas futuras.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61890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sz="1100" dirty="0"/>
              <a:t>Proceso estándar intersectorial para la minería de datos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a:extLst>
            <a:ext uri="{FF2B5EF4-FFF2-40B4-BE49-F238E27FC236}">
              <a16:creationId xmlns:a16="http://schemas.microsoft.com/office/drawing/2014/main" id="{64321A6E-7831-EB11-7DC0-F2142429FCFC}"/>
            </a:ext>
          </a:extLst>
        </p:cNvPr>
        <p:cNvGrpSpPr/>
        <p:nvPr/>
      </p:nvGrpSpPr>
      <p:grpSpPr>
        <a:xfrm>
          <a:off x="0" y="0"/>
          <a:ext cx="0" cy="0"/>
          <a:chOff x="0" y="0"/>
          <a:chExt cx="0" cy="0"/>
        </a:xfrm>
      </p:grpSpPr>
      <p:sp>
        <p:nvSpPr>
          <p:cNvPr id="2221" name="Google Shape;2221;g804e9800b4_0_1360:notes">
            <a:extLst>
              <a:ext uri="{FF2B5EF4-FFF2-40B4-BE49-F238E27FC236}">
                <a16:creationId xmlns:a16="http://schemas.microsoft.com/office/drawing/2014/main" id="{008B906A-F416-ABF6-2498-690AA073CA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a:extLst>
              <a:ext uri="{FF2B5EF4-FFF2-40B4-BE49-F238E27FC236}">
                <a16:creationId xmlns:a16="http://schemas.microsoft.com/office/drawing/2014/main" id="{C8E59E59-DB52-89A0-1B17-151AA87EF8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Es un </a:t>
            </a:r>
            <a:r>
              <a:rPr lang="es-MX" dirty="0" err="1"/>
              <a:t>módelo</a:t>
            </a:r>
            <a:r>
              <a:rPr lang="es-MX" dirty="0"/>
              <a:t> que guía la planificación y el desarrollo de proyectos de minería de datos y ciencias de datos.</a:t>
            </a:r>
          </a:p>
          <a:p>
            <a:pPr marL="0" lvl="0" indent="0" algn="l" rtl="0">
              <a:spcBef>
                <a:spcPts val="0"/>
              </a:spcBef>
              <a:spcAft>
                <a:spcPts val="0"/>
              </a:spcAft>
              <a:buNone/>
            </a:pPr>
            <a:endParaRPr lang="es-MX" dirty="0"/>
          </a:p>
          <a:p>
            <a:pPr marL="0" lvl="0" indent="0" algn="l" rtl="0">
              <a:spcBef>
                <a:spcPts val="0"/>
              </a:spcBef>
              <a:spcAft>
                <a:spcPts val="0"/>
              </a:spcAft>
              <a:buNone/>
            </a:pPr>
            <a:r>
              <a:rPr lang="es-MX" dirty="0"/>
              <a:t>Como conclusión CRISP-DM ofrece un resume del ciclo igual de minería de datos.</a:t>
            </a:r>
            <a:endParaRPr dirty="0"/>
          </a:p>
        </p:txBody>
      </p:sp>
    </p:spTree>
    <p:extLst>
      <p:ext uri="{BB962C8B-B14F-4D97-AF65-F5344CB8AC3E}">
        <p14:creationId xmlns:p14="http://schemas.microsoft.com/office/powerpoint/2010/main" val="2313920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a:extLst>
            <a:ext uri="{FF2B5EF4-FFF2-40B4-BE49-F238E27FC236}">
              <a16:creationId xmlns:a16="http://schemas.microsoft.com/office/drawing/2014/main" id="{4C87B574-E2F7-C776-3EB4-90C738E11904}"/>
            </a:ext>
          </a:extLst>
        </p:cNvPr>
        <p:cNvGrpSpPr/>
        <p:nvPr/>
      </p:nvGrpSpPr>
      <p:grpSpPr>
        <a:xfrm>
          <a:off x="0" y="0"/>
          <a:ext cx="0" cy="0"/>
          <a:chOff x="0" y="0"/>
          <a:chExt cx="0" cy="0"/>
        </a:xfrm>
      </p:grpSpPr>
      <p:sp>
        <p:nvSpPr>
          <p:cNvPr id="2221" name="Google Shape;2221;g804e9800b4_0_1360:notes">
            <a:extLst>
              <a:ext uri="{FF2B5EF4-FFF2-40B4-BE49-F238E27FC236}">
                <a16:creationId xmlns:a16="http://schemas.microsoft.com/office/drawing/2014/main" id="{F923ECF3-DAF4-E27A-7428-618932A4E3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a:extLst>
              <a:ext uri="{FF2B5EF4-FFF2-40B4-BE49-F238E27FC236}">
                <a16:creationId xmlns:a16="http://schemas.microsoft.com/office/drawing/2014/main" id="{F74591D1-36E0-512E-7448-BD19EDD4DD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6783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FC4FB7EE-689B-9D2A-CEE7-3EB2CDF5CC54}"/>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02363953-0C46-6FFF-EE00-7B708B8A47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1FB937E0-9AC9-6E67-2915-A31D6096E4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La tienda quiere </a:t>
            </a:r>
            <a:r>
              <a:rPr lang="es-MX" sz="1100" b="1" i="0" u="none" strike="noStrike" cap="none" spc="0" dirty="0">
                <a:solidFill>
                  <a:srgbClr val="000000"/>
                </a:solidFill>
                <a:effectLst/>
                <a:latin typeface="Arial"/>
                <a:ea typeface="Arial"/>
                <a:cs typeface="Arial"/>
                <a:sym typeface="Arial"/>
              </a:rPr>
              <a:t>aumentar las ventas</a:t>
            </a:r>
            <a:r>
              <a:rPr lang="es-MX" sz="1100" b="0" i="0" u="none" strike="noStrike" cap="none" spc="0" dirty="0">
                <a:solidFill>
                  <a:srgbClr val="000000"/>
                </a:solidFill>
                <a:effectLst/>
                <a:latin typeface="Arial"/>
                <a:ea typeface="Arial"/>
                <a:cs typeface="Arial"/>
                <a:sym typeface="Arial"/>
              </a:rPr>
              <a:t> identificando qué productos compran juntos los clientes.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296706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2AEEC4ED-5D49-D94C-631A-C554C81E439A}"/>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7D9A023D-FE4C-3224-3781-125174C076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2D6A273C-2723-23AD-A762-E6ECCD9107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Se recopilan tickets de venta con información de </a:t>
            </a:r>
            <a:r>
              <a:rPr lang="es-MX" sz="1100" b="1" i="0" u="none" strike="noStrike" cap="none" spc="0" dirty="0">
                <a:solidFill>
                  <a:srgbClr val="000000"/>
                </a:solidFill>
                <a:effectLst/>
                <a:latin typeface="Arial"/>
                <a:ea typeface="Arial"/>
                <a:cs typeface="Arial"/>
                <a:sym typeface="Arial"/>
              </a:rPr>
              <a:t>cliente, producto, fecha, cantidad y precio</a:t>
            </a:r>
            <a:r>
              <a:rPr lang="es-MX" sz="1100" b="0" i="0" u="none" strike="noStrike" cap="none" spc="0"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439575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99D1087F-B690-93B9-4576-A2AEAA2C9DEA}"/>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82710CFB-A031-D770-B790-9398B94DCA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77D10104-C217-2BAB-8466-CD4FE5801B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Se eliminan registros duplicados, se corrigen errores y se organizan los datos para el análisis.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00982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2E6F872F-48DA-2FD6-F26B-A5464E630850}"/>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55583D49-CCF7-7263-7136-6B35D5A2D1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E17A0EB1-FE10-EE33-F586-A55EA2A50B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fontAlgn="t">
              <a:buNone/>
            </a:pPr>
            <a:r>
              <a:rPr lang="es-MX" sz="1100" b="0" i="0" u="none" strike="noStrike" cap="none" spc="0" dirty="0">
                <a:solidFill>
                  <a:srgbClr val="000000"/>
                </a:solidFill>
                <a:effectLst/>
                <a:latin typeface="Arial"/>
                <a:ea typeface="Arial"/>
                <a:cs typeface="Arial"/>
                <a:sym typeface="Arial"/>
              </a:rPr>
              <a:t>Forma Normal</a:t>
            </a:r>
          </a:p>
          <a:p>
            <a:pPr marL="158750" indent="0" fontAlgn="t">
              <a:buNone/>
            </a:pPr>
            <a:r>
              <a:rPr lang="es-MX" sz="1100" b="0" i="0" u="none" strike="noStrike" cap="none" spc="0" dirty="0">
                <a:solidFill>
                  <a:srgbClr val="000000"/>
                </a:solidFill>
                <a:effectLst/>
                <a:latin typeface="Arial"/>
                <a:ea typeface="Arial"/>
                <a:cs typeface="Arial"/>
                <a:sym typeface="Arial"/>
              </a:rPr>
              <a:t>- 1FN	Eliminar grupos repetitivos</a:t>
            </a:r>
          </a:p>
          <a:p>
            <a:pPr marL="158750" indent="0" fontAlgn="t">
              <a:buNone/>
            </a:pPr>
            <a:r>
              <a:rPr lang="es-MX" sz="1100" b="0" i="0" u="none" strike="noStrike" cap="none" spc="0" dirty="0">
                <a:solidFill>
                  <a:srgbClr val="000000"/>
                </a:solidFill>
                <a:effectLst/>
                <a:latin typeface="Arial"/>
                <a:ea typeface="Arial"/>
                <a:cs typeface="Arial"/>
                <a:sym typeface="Arial"/>
              </a:rPr>
              <a:t>- 2FN	Eliminar dependencias parciales</a:t>
            </a:r>
          </a:p>
          <a:p>
            <a:pPr marL="158750" indent="0" fontAlgn="t">
              <a:buNone/>
            </a:pPr>
            <a:r>
              <a:rPr lang="es-MX" sz="1100" b="0" i="0" u="none" strike="noStrike" cap="none" spc="0" dirty="0">
                <a:solidFill>
                  <a:srgbClr val="000000"/>
                </a:solidFill>
                <a:effectLst/>
                <a:latin typeface="Arial"/>
                <a:ea typeface="Arial"/>
                <a:cs typeface="Arial"/>
                <a:sym typeface="Arial"/>
              </a:rPr>
              <a:t>- 3FN	Eliminar dependencias transitivas</a:t>
            </a:r>
          </a:p>
          <a:p>
            <a:pPr marL="158750" indent="0" fontAlgn="t">
              <a:buNone/>
            </a:pPr>
            <a:r>
              <a:rPr lang="es-MX" sz="1100" b="0" i="0" u="none" strike="noStrike" cap="none" spc="0" dirty="0">
                <a:solidFill>
                  <a:srgbClr val="000000"/>
                </a:solidFill>
                <a:effectLst/>
                <a:latin typeface="Arial"/>
                <a:ea typeface="Arial"/>
                <a:cs typeface="Arial"/>
                <a:sym typeface="Arial"/>
              </a:rPr>
              <a:t>- BCNF	Fortalecer la 3FN</a:t>
            </a:r>
          </a:p>
          <a:p>
            <a:pPr marL="158750" indent="0" fontAlgn="t">
              <a:buNone/>
            </a:pPr>
            <a:r>
              <a:rPr lang="es-MX" sz="1100" b="0" i="0" u="none" strike="noStrike" cap="none" spc="0" dirty="0">
                <a:solidFill>
                  <a:srgbClr val="000000"/>
                </a:solidFill>
                <a:effectLst/>
                <a:latin typeface="Arial"/>
                <a:ea typeface="Arial"/>
                <a:cs typeface="Arial"/>
                <a:sym typeface="Arial"/>
              </a:rPr>
              <a:t>- 4FN	Eliminar dependencias multivaluadas</a:t>
            </a:r>
          </a:p>
          <a:p>
            <a:pPr marL="158750" indent="0" fontAlgn="t">
              <a:buNone/>
            </a:pPr>
            <a:r>
              <a:rPr lang="es-MX" sz="1100" b="0" i="0" u="none" strike="noStrike" cap="none" spc="0" dirty="0">
                <a:solidFill>
                  <a:srgbClr val="000000"/>
                </a:solidFill>
                <a:effectLst/>
                <a:latin typeface="Arial"/>
                <a:ea typeface="Arial"/>
                <a:cs typeface="Arial"/>
                <a:sym typeface="Arial"/>
              </a:rPr>
              <a:t>- 5FN	Eliminar dependencias de unión</a:t>
            </a:r>
          </a:p>
          <a:p>
            <a:pPr marL="158750" indent="0" fontAlgn="t">
              <a:buNone/>
            </a:pPr>
            <a:endParaRPr lang="es-MX" sz="1100" b="1" i="0" u="none" strike="noStrike" cap="none" spc="0" dirty="0">
              <a:solidFill>
                <a:srgbClr val="000000"/>
              </a:solidFill>
              <a:effectLst/>
              <a:latin typeface="Arial"/>
              <a:ea typeface="Arial"/>
              <a:cs typeface="Arial"/>
              <a:sym typeface="Arial"/>
            </a:endParaRPr>
          </a:p>
          <a:p>
            <a:pPr marL="158750" indent="0" fontAlgn="t">
              <a:buNone/>
            </a:pPr>
            <a:r>
              <a:rPr lang="es-MX" sz="1100" b="1" i="0" u="none" strike="noStrike" cap="none" spc="0" dirty="0">
                <a:solidFill>
                  <a:srgbClr val="000000"/>
                </a:solidFill>
                <a:effectLst/>
                <a:latin typeface="Arial"/>
                <a:ea typeface="Arial"/>
                <a:cs typeface="Arial"/>
                <a:sym typeface="Arial"/>
              </a:rPr>
              <a:t>En la práctica, la mayoría de las bases de datos relacionales se diseñan hasta la Tercera Forma Normal (3FN), ya que ofrece un buen equilibrio entre integridad y rendimiento.</a:t>
            </a:r>
            <a:endParaRPr lang="es-MX" sz="1100" b="0" i="0" u="none" strike="noStrike" cap="none" spc="0"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817025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E79494AD-4350-0D9A-ECDF-C64817855631}"/>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496200BC-126C-04C4-FC9B-B539765F3D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43065802-727C-01F9-A583-EA0AE2034C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Se aplica </a:t>
            </a:r>
            <a:r>
              <a:rPr lang="es-MX" sz="1100" b="1" i="0" u="none" strike="noStrike" cap="none" spc="0" dirty="0">
                <a:solidFill>
                  <a:srgbClr val="000000"/>
                </a:solidFill>
                <a:effectLst/>
                <a:latin typeface="Arial"/>
                <a:ea typeface="Arial"/>
                <a:cs typeface="Arial"/>
                <a:sym typeface="Arial"/>
              </a:rPr>
              <a:t>Market Basket </a:t>
            </a:r>
            <a:r>
              <a:rPr lang="es-MX" sz="1100" b="1" i="0" u="none" strike="noStrike" cap="none" spc="0" dirty="0" err="1">
                <a:solidFill>
                  <a:srgbClr val="000000"/>
                </a:solidFill>
                <a:effectLst/>
                <a:latin typeface="Arial"/>
                <a:ea typeface="Arial"/>
                <a:cs typeface="Arial"/>
                <a:sym typeface="Arial"/>
              </a:rPr>
              <a:t>Analysis</a:t>
            </a:r>
            <a:r>
              <a:rPr lang="es-MX" sz="1100" b="1" i="0" u="none" strike="noStrike" cap="none" spc="0" dirty="0">
                <a:solidFill>
                  <a:srgbClr val="000000"/>
                </a:solidFill>
                <a:effectLst/>
                <a:latin typeface="Arial"/>
                <a:ea typeface="Arial"/>
                <a:cs typeface="Arial"/>
                <a:sym typeface="Arial"/>
              </a:rPr>
              <a:t> (</a:t>
            </a:r>
            <a:r>
              <a:rPr lang="es-MX" sz="1100" b="0" i="0" u="none" strike="noStrike" cap="none" spc="0" dirty="0">
                <a:solidFill>
                  <a:srgbClr val="000000"/>
                </a:solidFill>
                <a:effectLst/>
                <a:latin typeface="Arial"/>
                <a:ea typeface="Arial"/>
                <a:cs typeface="Arial"/>
                <a:sym typeface="Arial"/>
              </a:rPr>
              <a:t>es una técnica de </a:t>
            </a:r>
            <a:r>
              <a:rPr lang="es-MX" sz="1100" b="1" i="0" u="none" strike="noStrike" cap="none" spc="0" dirty="0">
                <a:solidFill>
                  <a:srgbClr val="000000"/>
                </a:solidFill>
                <a:effectLst/>
                <a:latin typeface="Arial"/>
                <a:ea typeface="Arial"/>
                <a:cs typeface="Arial"/>
                <a:sym typeface="Arial"/>
              </a:rPr>
              <a:t>minería de datos por asociación</a:t>
            </a:r>
            <a:r>
              <a:rPr lang="es-MX" sz="1100" b="0" i="0" u="none" strike="noStrike" cap="none" spc="0" dirty="0">
                <a:solidFill>
                  <a:srgbClr val="000000"/>
                </a:solidFill>
                <a:effectLst/>
                <a:latin typeface="Arial"/>
                <a:ea typeface="Arial"/>
                <a:cs typeface="Arial"/>
                <a:sym typeface="Arial"/>
              </a:rPr>
              <a:t> que busca descubrir qué productos suelen comprarse juntos en una misma transacción.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 para descubrir patrones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886186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D59ADB3A-5E7D-A7A9-B570-37B35028171C}"/>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F0D46738-B785-A06D-C412-9C96D418C8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23D0B446-2B62-FC19-F65C-98BE48A810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La tienda crea promociones y mide si las ventas aumentan después de aplicar la estrategia.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186261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a:extLst>
            <a:ext uri="{FF2B5EF4-FFF2-40B4-BE49-F238E27FC236}">
              <a16:creationId xmlns:a16="http://schemas.microsoft.com/office/drawing/2014/main" id="{9705C680-6238-5BE5-3737-34DF2674A4BD}"/>
            </a:ext>
          </a:extLst>
        </p:cNvPr>
        <p:cNvGrpSpPr/>
        <p:nvPr/>
      </p:nvGrpSpPr>
      <p:grpSpPr>
        <a:xfrm>
          <a:off x="0" y="0"/>
          <a:ext cx="0" cy="0"/>
          <a:chOff x="0" y="0"/>
          <a:chExt cx="0" cy="0"/>
        </a:xfrm>
      </p:grpSpPr>
      <p:sp>
        <p:nvSpPr>
          <p:cNvPr id="2333" name="Google Shape;2333;g8728718f4e_1_1316:notes">
            <a:extLst>
              <a:ext uri="{FF2B5EF4-FFF2-40B4-BE49-F238E27FC236}">
                <a16:creationId xmlns:a16="http://schemas.microsoft.com/office/drawing/2014/main" id="{4290DA94-7A6D-2CFC-AF52-F840E698DD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a:extLst>
              <a:ext uri="{FF2B5EF4-FFF2-40B4-BE49-F238E27FC236}">
                <a16:creationId xmlns:a16="http://schemas.microsoft.com/office/drawing/2014/main" id="{DFC816D9-9BBE-22FB-FB00-4AFE35E46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52941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AB4E2D45-A29E-E98A-5FFE-81C374125D9F}"/>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4A5304C1-978C-171E-0875-4DA7F0373B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1E870A4A-2068-BC20-2157-DAC04556EF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MX" sz="1100" b="0" i="0" u="none" strike="noStrike" cap="none" spc="0"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5954459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A239F0AE-B138-BC81-C064-409FFF70B38B}"/>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1A6072FB-2998-7E09-34D6-150581558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2B17AEBF-80A9-262A-748C-D089DE2C62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97055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D3415BF3-2A08-72BE-5FBA-59480735110B}"/>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E903ECAB-AFED-FCF5-2C39-CAAD1E9929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9EF70BD6-F65C-059F-240A-916186339C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30770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B7A84BEC-ED2A-E009-0D3B-3114E723B68F}"/>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99FCC9BD-6BFE-2348-9338-8DDA15ECA6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732A2647-4310-6E88-198E-4AE22D1ECB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81370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932B06E1-04D3-F5D3-7C96-D40C87F2B991}"/>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B5447DC7-FC75-D94A-436D-8AB4B04A1A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5AA5F2B4-4CE1-A08C-F434-44D8490FA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1042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C4392C17-EF25-8832-5C05-CCE0BD8FC689}"/>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33A70CD3-9AF4-D031-07D7-68F9D0B1DB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91303C12-FAB2-CFE8-8307-2AEFFEA01B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2295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5FD18559-FE2D-DA2E-8DA7-110DF40FA2DB}"/>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B67F587F-F66B-1574-2984-C3B33286D4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ADF86107-F8AE-F2A9-2D21-FD5BA1008A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29556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C5DCF849-3BEE-1724-613E-D8E318985F10}"/>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4A78B61F-E13B-C5F5-1458-60C7CE3030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CAA0B80D-48D8-C001-7D5C-9290E53B44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65511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6691B695-5BC9-7F09-F5F0-2C30D43E9FDC}"/>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7AA2A8B1-60BC-8718-A449-986157CCD1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4C7B2AED-F276-3701-5411-8421E6FE6B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85732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0F449BDB-5C88-4CC5-EFB1-951C46C9C770}"/>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341B1DA1-37B1-12EE-1F07-21A8677AFD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1D742542-C51B-A22A-B6F2-634CDF4617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66593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344FC3D7-42C7-8E36-9B6F-F147326B1DC7}"/>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02AD781B-3491-A9C8-8AB8-8FEB480FA0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FA04AB8B-8C62-0FFC-744F-E113938567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MX" sz="1100" b="0" i="0" u="none" strike="noStrike" cap="none" spc="0" dirty="0">
                <a:solidFill>
                  <a:srgbClr val="000000"/>
                </a:solidFill>
                <a:effectLst/>
                <a:latin typeface="Arial"/>
                <a:ea typeface="Arial"/>
                <a:cs typeface="Arial"/>
                <a:sym typeface="Arial"/>
              </a:rPr>
              <a:t>No estamos haciendo minería de datos cuando vemos los datos; hacemos minería de datos cuando descubrimos relaciones, patrones o conocimientos que no eran evidentes y que nos ayudan a tomar mejores decisiones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4574511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MX" dirty="0"/>
              <a:t>Market Basket </a:t>
            </a:r>
            <a:r>
              <a:rPr lang="es-MX" dirty="0" err="1"/>
              <a:t>Analysis</a:t>
            </a:r>
            <a:r>
              <a:rPr lang="es-MX" dirty="0"/>
              <a:t>: Es una técnica de minería de datos que descubre patrones de asociación entre productos que los clientes adquieren juntos en una misma transacción.</a:t>
            </a:r>
          </a:p>
        </p:txBody>
      </p:sp>
    </p:spTree>
    <p:extLst>
      <p:ext uri="{BB962C8B-B14F-4D97-AF65-F5344CB8AC3E}">
        <p14:creationId xmlns:p14="http://schemas.microsoft.com/office/powerpoint/2010/main" val="14615171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1"/>
        <p:cNvGrpSpPr/>
        <p:nvPr/>
      </p:nvGrpSpPr>
      <p:grpSpPr>
        <a:xfrm>
          <a:off x="0" y="0"/>
          <a:ext cx="0" cy="0"/>
          <a:chOff x="0" y="0"/>
          <a:chExt cx="0" cy="0"/>
        </a:xfrm>
      </p:grpSpPr>
      <p:sp>
        <p:nvSpPr>
          <p:cNvPr id="3602" name="Google Shape;3602;g8714a43093_5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3" name="Google Shape;3603;g8714a43093_5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8" r:id="rId8"/>
    <p:sldLayoutId id="2147483659" r:id="rId9"/>
    <p:sldLayoutId id="2147483660" r:id="rId10"/>
    <p:sldLayoutId id="2147483661" r:id="rId11"/>
    <p:sldLayoutId id="2147483665" r:id="rId12"/>
    <p:sldLayoutId id="2147483673" r:id="rId13"/>
    <p:sldLayoutId id="2147483674" r:id="rId14"/>
    <p:sldLayoutId id="2147483675" r:id="rId15"/>
    <p:sldLayoutId id="2147483676"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5499794" y="2936254"/>
            <a:ext cx="3264300" cy="1792200"/>
          </a:xfrm>
          <a:prstGeom prst="rect">
            <a:avLst/>
          </a:prstGeom>
        </p:spPr>
        <p:txBody>
          <a:bodyPr spcFirstLastPara="1" wrap="square" lIns="91425" tIns="91425" rIns="91425" bIns="91425" anchor="b" anchorCtr="0">
            <a:noAutofit/>
          </a:bodyPr>
          <a:lstStyle/>
          <a:p>
            <a:pPr lvl="0"/>
            <a:r>
              <a:rPr lang="es-MX" sz="4800" dirty="0"/>
              <a:t>3. Base de datos para la toma de decisiones</a:t>
            </a:r>
            <a:endParaRPr sz="48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3994598" y="1510458"/>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25207" y="1535955"/>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25207" y="2612842"/>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Contenido</a:t>
            </a:r>
            <a:endParaRPr dirty="0"/>
          </a:p>
        </p:txBody>
      </p:sp>
      <p:sp>
        <p:nvSpPr>
          <p:cNvPr id="2140" name="Google Shape;2140;p37"/>
          <p:cNvSpPr txBox="1">
            <a:spLocks noGrp="1"/>
          </p:cNvSpPr>
          <p:nvPr>
            <p:ph type="subTitle" idx="1"/>
          </p:nvPr>
        </p:nvSpPr>
        <p:spPr>
          <a:xfrm>
            <a:off x="1657768" y="170299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Mercado de datos</a:t>
            </a:r>
          </a:p>
          <a:p>
            <a:pPr marL="0" lvl="0" indent="0" algn="l" rtl="0">
              <a:lnSpc>
                <a:spcPct val="115000"/>
              </a:lnSpc>
              <a:spcBef>
                <a:spcPts val="0"/>
              </a:spcBef>
              <a:spcAft>
                <a:spcPts val="0"/>
              </a:spcAft>
              <a:buNone/>
            </a:pPr>
            <a:r>
              <a:rPr lang="en" sz="1800" dirty="0">
                <a:solidFill>
                  <a:schemeClr val="accent1"/>
                </a:solidFill>
              </a:rPr>
              <a:t>(Data Mart)</a:t>
            </a:r>
            <a:endParaRPr dirty="0"/>
          </a:p>
        </p:txBody>
      </p:sp>
      <p:sp>
        <p:nvSpPr>
          <p:cNvPr id="2141" name="Google Shape;2141;p37"/>
          <p:cNvSpPr txBox="1">
            <a:spLocks noGrp="1"/>
          </p:cNvSpPr>
          <p:nvPr>
            <p:ph type="subTitle" idx="3"/>
          </p:nvPr>
        </p:nvSpPr>
        <p:spPr>
          <a:xfrm>
            <a:off x="1657768" y="2571750"/>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Minería de Datos</a:t>
            </a:r>
          </a:p>
          <a:p>
            <a:pPr marL="0" lvl="0" indent="0" algn="l" rtl="0">
              <a:lnSpc>
                <a:spcPct val="115000"/>
              </a:lnSpc>
              <a:spcBef>
                <a:spcPts val="0"/>
              </a:spcBef>
              <a:spcAft>
                <a:spcPts val="0"/>
              </a:spcAft>
              <a:buNone/>
            </a:pPr>
            <a:r>
              <a:rPr lang="en" dirty="0"/>
              <a:t>(Data Mining)</a:t>
            </a:r>
            <a:endParaRPr dirty="0"/>
          </a:p>
        </p:txBody>
      </p:sp>
      <p:sp>
        <p:nvSpPr>
          <p:cNvPr id="2147" name="Google Shape;2147;p37"/>
          <p:cNvSpPr txBox="1">
            <a:spLocks noGrp="1"/>
          </p:cNvSpPr>
          <p:nvPr>
            <p:ph type="title" idx="9"/>
          </p:nvPr>
        </p:nvSpPr>
        <p:spPr>
          <a:xfrm>
            <a:off x="807376" y="168475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07376" y="276375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812424" y="2443638"/>
            <a:ext cx="3519152" cy="804600"/>
          </a:xfrm>
          <a:prstGeom prst="rect">
            <a:avLst/>
          </a:prstGeom>
        </p:spPr>
        <p:txBody>
          <a:bodyPr spcFirstLastPara="1" wrap="square" lIns="91425" tIns="91425" rIns="91425" bIns="91425" anchor="ctr" anchorCtr="0">
            <a:noAutofit/>
          </a:bodyPr>
          <a:lstStyle/>
          <a:p>
            <a:pPr lvl="0"/>
            <a:r>
              <a:rPr lang="es-MX" sz="3200" dirty="0"/>
              <a:t>Mercado de datos</a:t>
            </a:r>
            <a:br>
              <a:rPr lang="es-MX" sz="3200" dirty="0"/>
            </a:br>
            <a:r>
              <a:rPr lang="es-MX" sz="3200" dirty="0"/>
              <a:t>(Data Marts)</a:t>
            </a:r>
            <a:endParaRPr sz="32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803270" y="158335"/>
            <a:ext cx="1328961" cy="1295445"/>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977" y="490629"/>
              <a:ext cx="1404000" cy="1404001"/>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66" name="Google Shape;2166;p39"/>
          <p:cNvGrpSpPr/>
          <p:nvPr/>
        </p:nvGrpSpPr>
        <p:grpSpPr>
          <a:xfrm>
            <a:off x="4172022" y="510737"/>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14896" y="159783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Definición</a:t>
            </a:r>
            <a:endParaRPr dirty="0"/>
          </a:p>
        </p:txBody>
      </p:sp>
      <p:sp>
        <p:nvSpPr>
          <p:cNvPr id="2178" name="Google Shape;2178;p39"/>
          <p:cNvSpPr txBox="1">
            <a:spLocks noGrp="1"/>
          </p:cNvSpPr>
          <p:nvPr>
            <p:ph type="subTitle" idx="1"/>
          </p:nvPr>
        </p:nvSpPr>
        <p:spPr>
          <a:xfrm>
            <a:off x="1445311" y="2317888"/>
            <a:ext cx="6487649" cy="1134000"/>
          </a:xfrm>
          <a:prstGeom prst="rect">
            <a:avLst/>
          </a:prstGeom>
        </p:spPr>
        <p:txBody>
          <a:bodyPr spcFirstLastPara="1" wrap="square" lIns="91425" tIns="91425" rIns="91425" bIns="91425" anchor="t" anchorCtr="0">
            <a:noAutofit/>
          </a:bodyPr>
          <a:lstStyle/>
          <a:p>
            <a:pPr fontAlgn="t"/>
            <a:r>
              <a:rPr lang="es-MX" sz="2400" dirty="0">
                <a:latin typeface="Bahnschrift SemiCondensed" panose="020B0502040204020203" pitchFamily="34" charset="0"/>
              </a:rPr>
              <a:t>Un Data Mart es un subconjunto del Data </a:t>
            </a:r>
            <a:r>
              <a:rPr lang="es-MX" sz="2400" dirty="0" err="1">
                <a:latin typeface="Bahnschrift SemiCondensed" panose="020B0502040204020203" pitchFamily="34" charset="0"/>
              </a:rPr>
              <a:t>Warehouse</a:t>
            </a:r>
            <a:r>
              <a:rPr lang="es-MX" sz="2400" dirty="0">
                <a:latin typeface="Bahnschrift SemiCondensed" panose="020B0502040204020203" pitchFamily="34" charset="0"/>
              </a:rPr>
              <a:t> orientado a un área específica de negocio. Por lo que en una base de datos especializada es la que contiene información relevante para un departamento o proceso empresarial particular.</a:t>
            </a:r>
          </a:p>
          <a:p>
            <a:pPr fontAlgn="t"/>
            <a:endParaRPr lang="es-MX"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61">
          <a:extLst>
            <a:ext uri="{FF2B5EF4-FFF2-40B4-BE49-F238E27FC236}">
              <a16:creationId xmlns:a16="http://schemas.microsoft.com/office/drawing/2014/main" id="{B00E95BB-C00F-A0E3-9882-620A9D8AAAC8}"/>
            </a:ext>
          </a:extLst>
        </p:cNvPr>
        <p:cNvGrpSpPr/>
        <p:nvPr/>
      </p:nvGrpSpPr>
      <p:grpSpPr>
        <a:xfrm>
          <a:off x="0" y="0"/>
          <a:ext cx="0" cy="0"/>
          <a:chOff x="0" y="0"/>
          <a:chExt cx="0" cy="0"/>
        </a:xfrm>
      </p:grpSpPr>
      <p:sp>
        <p:nvSpPr>
          <p:cNvPr id="2177" name="Google Shape;2177;p39">
            <a:extLst>
              <a:ext uri="{FF2B5EF4-FFF2-40B4-BE49-F238E27FC236}">
                <a16:creationId xmlns:a16="http://schemas.microsoft.com/office/drawing/2014/main" id="{F93F6D5B-F106-28D1-6B7B-D3FEF7B98A88}"/>
              </a:ext>
            </a:extLst>
          </p:cNvPr>
          <p:cNvSpPr txBox="1">
            <a:spLocks noGrp="1"/>
          </p:cNvSpPr>
          <p:nvPr>
            <p:ph type="title"/>
          </p:nvPr>
        </p:nvSpPr>
        <p:spPr>
          <a:xfrm>
            <a:off x="1066800" y="419274"/>
            <a:ext cx="7231329" cy="576000"/>
          </a:xfrm>
          <a:prstGeom prst="rect">
            <a:avLst/>
          </a:prstGeom>
        </p:spPr>
        <p:txBody>
          <a:bodyPr spcFirstLastPara="1" wrap="square" lIns="91425" tIns="91425" rIns="91425" bIns="91425" anchor="t" anchorCtr="0">
            <a:noAutofit/>
          </a:bodyPr>
          <a:lstStyle/>
          <a:p>
            <a:r>
              <a:rPr lang="es-MX" sz="3200" b="1" dirty="0">
                <a:solidFill>
                  <a:schemeClr val="accent1"/>
                </a:solidFill>
              </a:rPr>
              <a:t>Relación entre Data </a:t>
            </a:r>
            <a:r>
              <a:rPr lang="es-MX" sz="3200" b="1" dirty="0" err="1">
                <a:solidFill>
                  <a:schemeClr val="accent1"/>
                </a:solidFill>
              </a:rPr>
              <a:t>Warehouse</a:t>
            </a:r>
            <a:r>
              <a:rPr lang="es-MX" sz="3200" b="1" dirty="0">
                <a:solidFill>
                  <a:schemeClr val="accent1"/>
                </a:solidFill>
              </a:rPr>
              <a:t> y Data Mart</a:t>
            </a:r>
            <a:br>
              <a:rPr lang="es-MX" b="1" dirty="0"/>
            </a:br>
            <a:endParaRPr b="1" dirty="0"/>
          </a:p>
        </p:txBody>
      </p:sp>
      <p:sp>
        <p:nvSpPr>
          <p:cNvPr id="2178" name="Google Shape;2178;p39">
            <a:extLst>
              <a:ext uri="{FF2B5EF4-FFF2-40B4-BE49-F238E27FC236}">
                <a16:creationId xmlns:a16="http://schemas.microsoft.com/office/drawing/2014/main" id="{04E9871F-F325-2665-5F00-7C8C1BC92962}"/>
              </a:ext>
            </a:extLst>
          </p:cNvPr>
          <p:cNvSpPr txBox="1">
            <a:spLocks noGrp="1"/>
          </p:cNvSpPr>
          <p:nvPr>
            <p:ph type="subTitle" idx="1"/>
          </p:nvPr>
        </p:nvSpPr>
        <p:spPr>
          <a:xfrm>
            <a:off x="956335" y="1301888"/>
            <a:ext cx="7231329" cy="1134000"/>
          </a:xfrm>
          <a:prstGeom prst="rect">
            <a:avLst/>
          </a:prstGeom>
        </p:spPr>
        <p:txBody>
          <a:bodyPr spcFirstLastPara="1" wrap="square" lIns="91425" tIns="91425" rIns="91425" bIns="91425" anchor="t" anchorCtr="0">
            <a:noAutofit/>
          </a:bodyPr>
          <a:lstStyle/>
          <a:p>
            <a:pPr marL="342900" lvl="0" indent="-342900" algn="just" fontAlgn="t">
              <a:lnSpc>
                <a:spcPct val="150000"/>
              </a:lnSpc>
              <a:buFont typeface="Arial" panose="020B0604020202020204" pitchFamily="34" charset="0"/>
              <a:buChar char="•"/>
            </a:pPr>
            <a:r>
              <a:rPr lang="es-MX" sz="2800" dirty="0"/>
              <a:t>El Data </a:t>
            </a:r>
            <a:r>
              <a:rPr lang="es-MX" sz="2800" dirty="0" err="1"/>
              <a:t>Warehouse</a:t>
            </a:r>
            <a:r>
              <a:rPr lang="es-MX" sz="2800" dirty="0"/>
              <a:t> contiene toda la información corporativa.</a:t>
            </a:r>
          </a:p>
          <a:p>
            <a:pPr marL="342900" lvl="0" indent="-342900" algn="just" fontAlgn="t">
              <a:lnSpc>
                <a:spcPct val="150000"/>
              </a:lnSpc>
              <a:buFont typeface="Arial" panose="020B0604020202020204" pitchFamily="34" charset="0"/>
              <a:buChar char="•"/>
            </a:pPr>
            <a:r>
              <a:rPr lang="es-MX" sz="2800" dirty="0"/>
              <a:t>Los Data Mart contienen información especializada.</a:t>
            </a:r>
          </a:p>
          <a:p>
            <a:pPr marL="342900" lvl="0" indent="-342900" algn="just" fontAlgn="t">
              <a:lnSpc>
                <a:spcPct val="150000"/>
              </a:lnSpc>
              <a:buFont typeface="Arial" panose="020B0604020202020204" pitchFamily="34" charset="0"/>
              <a:buChar char="•"/>
            </a:pPr>
            <a:r>
              <a:rPr lang="es-MX" sz="2800" dirty="0"/>
              <a:t>Facilitan el acceso rápido a los usuarios.</a:t>
            </a:r>
          </a:p>
          <a:p>
            <a:pPr algn="just" fontAlgn="t">
              <a:lnSpc>
                <a:spcPct val="150000"/>
              </a:lnSpc>
            </a:pPr>
            <a:r>
              <a:rPr lang="es-MX" sz="2400" dirty="0">
                <a:latin typeface="Bahnschrift SemiCondensed" panose="020B0502040204020203" pitchFamily="34" charset="0"/>
              </a:rPr>
              <a:t>.</a:t>
            </a:r>
          </a:p>
          <a:p>
            <a:pPr algn="just" fontAlgn="t">
              <a:lnSpc>
                <a:spcPct val="150000"/>
              </a:lnSpc>
            </a:pPr>
            <a:endParaRPr lang="es-MX" sz="3200" dirty="0"/>
          </a:p>
        </p:txBody>
      </p:sp>
    </p:spTree>
    <p:extLst>
      <p:ext uri="{BB962C8B-B14F-4D97-AF65-F5344CB8AC3E}">
        <p14:creationId xmlns:p14="http://schemas.microsoft.com/office/powerpoint/2010/main" val="1251273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1">
          <a:extLst>
            <a:ext uri="{FF2B5EF4-FFF2-40B4-BE49-F238E27FC236}">
              <a16:creationId xmlns:a16="http://schemas.microsoft.com/office/drawing/2014/main" id="{B663D462-2B20-4F76-FD99-0D3CE10EC0DC}"/>
            </a:ext>
          </a:extLst>
        </p:cNvPr>
        <p:cNvGrpSpPr/>
        <p:nvPr/>
      </p:nvGrpSpPr>
      <p:grpSpPr>
        <a:xfrm>
          <a:off x="0" y="0"/>
          <a:ext cx="0" cy="0"/>
          <a:chOff x="0" y="0"/>
          <a:chExt cx="0" cy="0"/>
        </a:xfrm>
      </p:grpSpPr>
      <p:sp>
        <p:nvSpPr>
          <p:cNvPr id="2177" name="Google Shape;2177;p39">
            <a:extLst>
              <a:ext uri="{FF2B5EF4-FFF2-40B4-BE49-F238E27FC236}">
                <a16:creationId xmlns:a16="http://schemas.microsoft.com/office/drawing/2014/main" id="{CC7AE9FA-49BE-6915-D266-EFC3698C1812}"/>
              </a:ext>
            </a:extLst>
          </p:cNvPr>
          <p:cNvSpPr txBox="1">
            <a:spLocks noGrp="1"/>
          </p:cNvSpPr>
          <p:nvPr>
            <p:ph type="title"/>
          </p:nvPr>
        </p:nvSpPr>
        <p:spPr>
          <a:xfrm>
            <a:off x="1066800" y="419274"/>
            <a:ext cx="7231329" cy="576000"/>
          </a:xfrm>
          <a:prstGeom prst="rect">
            <a:avLst/>
          </a:prstGeom>
        </p:spPr>
        <p:txBody>
          <a:bodyPr spcFirstLastPara="1" wrap="square" lIns="91425" tIns="91425" rIns="91425" bIns="91425" anchor="t" anchorCtr="0">
            <a:noAutofit/>
          </a:bodyPr>
          <a:lstStyle/>
          <a:p>
            <a:r>
              <a:rPr lang="es-MX" sz="3200" b="1" dirty="0">
                <a:solidFill>
                  <a:schemeClr val="accent1"/>
                </a:solidFill>
              </a:rPr>
              <a:t>Ventajas</a:t>
            </a:r>
            <a:endParaRPr b="1" dirty="0"/>
          </a:p>
        </p:txBody>
      </p:sp>
      <p:sp>
        <p:nvSpPr>
          <p:cNvPr id="2178" name="Google Shape;2178;p39">
            <a:extLst>
              <a:ext uri="{FF2B5EF4-FFF2-40B4-BE49-F238E27FC236}">
                <a16:creationId xmlns:a16="http://schemas.microsoft.com/office/drawing/2014/main" id="{FF90F4CC-B015-8A51-7952-4BE867139DFD}"/>
              </a:ext>
            </a:extLst>
          </p:cNvPr>
          <p:cNvSpPr txBox="1">
            <a:spLocks noGrp="1"/>
          </p:cNvSpPr>
          <p:nvPr>
            <p:ph type="subTitle" idx="1"/>
          </p:nvPr>
        </p:nvSpPr>
        <p:spPr>
          <a:xfrm>
            <a:off x="956335" y="995274"/>
            <a:ext cx="7231329" cy="1134000"/>
          </a:xfrm>
          <a:prstGeom prst="rect">
            <a:avLst/>
          </a:prstGeom>
        </p:spPr>
        <p:txBody>
          <a:bodyPr spcFirstLastPara="1" wrap="square" lIns="91425" tIns="91425" rIns="91425" bIns="91425" anchor="t" anchorCtr="0">
            <a:noAutofit/>
          </a:bodyPr>
          <a:lstStyle/>
          <a:p>
            <a:pPr marL="457200" indent="-457200" algn="l" fontAlgn="t">
              <a:lnSpc>
                <a:spcPct val="150000"/>
              </a:lnSpc>
              <a:buSzPct val="150000"/>
              <a:buFont typeface="Arial" panose="020B0604020202020204" pitchFamily="34" charset="0"/>
              <a:buChar char="•"/>
            </a:pPr>
            <a:r>
              <a:rPr lang="es-MX" sz="2800" dirty="0"/>
              <a:t>Mejor rendimiento</a:t>
            </a:r>
          </a:p>
          <a:p>
            <a:pPr marL="457200" indent="-457200" algn="l" fontAlgn="t">
              <a:lnSpc>
                <a:spcPct val="150000"/>
              </a:lnSpc>
              <a:buSzPct val="150000"/>
              <a:buFont typeface="Arial" panose="020B0604020202020204" pitchFamily="34" charset="0"/>
              <a:buChar char="•"/>
            </a:pPr>
            <a:r>
              <a:rPr lang="es-MX" sz="2800" dirty="0"/>
              <a:t>Menor cantidad de datos</a:t>
            </a:r>
          </a:p>
          <a:p>
            <a:pPr marL="457200" indent="-457200" algn="l" fontAlgn="t">
              <a:lnSpc>
                <a:spcPct val="150000"/>
              </a:lnSpc>
              <a:buSzPct val="150000"/>
              <a:buFont typeface="Arial" panose="020B0604020202020204" pitchFamily="34" charset="0"/>
              <a:buChar char="•"/>
            </a:pPr>
            <a:r>
              <a:rPr lang="es-MX" sz="2800" dirty="0"/>
              <a:t>Consultas más rápidas</a:t>
            </a:r>
          </a:p>
          <a:p>
            <a:pPr marL="457200" indent="-457200" algn="l" fontAlgn="t">
              <a:lnSpc>
                <a:spcPct val="150000"/>
              </a:lnSpc>
              <a:buSzPct val="150000"/>
              <a:buFont typeface="Arial" panose="020B0604020202020204" pitchFamily="34" charset="0"/>
              <a:buChar char="•"/>
            </a:pPr>
            <a:r>
              <a:rPr lang="es-MX" sz="2800" dirty="0"/>
              <a:t>Facilidad de uso</a:t>
            </a:r>
          </a:p>
          <a:p>
            <a:pPr marL="457200" indent="-457200" algn="l" fontAlgn="t">
              <a:lnSpc>
                <a:spcPct val="150000"/>
              </a:lnSpc>
              <a:buSzPct val="150000"/>
              <a:buFont typeface="Arial" panose="020B0604020202020204" pitchFamily="34" charset="0"/>
              <a:buChar char="•"/>
            </a:pPr>
            <a:r>
              <a:rPr lang="es-MX" sz="2800" dirty="0"/>
              <a:t>Seguridad segmentada</a:t>
            </a:r>
          </a:p>
          <a:p>
            <a:pPr algn="just" fontAlgn="t">
              <a:lnSpc>
                <a:spcPct val="150000"/>
              </a:lnSpc>
            </a:pPr>
            <a:endParaRPr lang="es-MX" sz="3200" dirty="0"/>
          </a:p>
        </p:txBody>
      </p:sp>
    </p:spTree>
    <p:extLst>
      <p:ext uri="{BB962C8B-B14F-4D97-AF65-F5344CB8AC3E}">
        <p14:creationId xmlns:p14="http://schemas.microsoft.com/office/powerpoint/2010/main" val="1787715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1">
          <a:extLst>
            <a:ext uri="{FF2B5EF4-FFF2-40B4-BE49-F238E27FC236}">
              <a16:creationId xmlns:a16="http://schemas.microsoft.com/office/drawing/2014/main" id="{D3F736B2-B241-95A4-1230-83225C1932B0}"/>
            </a:ext>
          </a:extLst>
        </p:cNvPr>
        <p:cNvGrpSpPr/>
        <p:nvPr/>
      </p:nvGrpSpPr>
      <p:grpSpPr>
        <a:xfrm>
          <a:off x="0" y="0"/>
          <a:ext cx="0" cy="0"/>
          <a:chOff x="0" y="0"/>
          <a:chExt cx="0" cy="0"/>
        </a:xfrm>
      </p:grpSpPr>
      <p:sp>
        <p:nvSpPr>
          <p:cNvPr id="2177" name="Google Shape;2177;p39">
            <a:extLst>
              <a:ext uri="{FF2B5EF4-FFF2-40B4-BE49-F238E27FC236}">
                <a16:creationId xmlns:a16="http://schemas.microsoft.com/office/drawing/2014/main" id="{BC3938F6-581E-B2DE-DA9E-2645C9FD7D94}"/>
              </a:ext>
            </a:extLst>
          </p:cNvPr>
          <p:cNvSpPr txBox="1">
            <a:spLocks noGrp="1"/>
          </p:cNvSpPr>
          <p:nvPr>
            <p:ph type="title"/>
          </p:nvPr>
        </p:nvSpPr>
        <p:spPr>
          <a:xfrm>
            <a:off x="1066800" y="419274"/>
            <a:ext cx="7231329" cy="576000"/>
          </a:xfrm>
          <a:prstGeom prst="rect">
            <a:avLst/>
          </a:prstGeom>
        </p:spPr>
        <p:txBody>
          <a:bodyPr spcFirstLastPara="1" wrap="square" lIns="91425" tIns="91425" rIns="91425" bIns="91425" anchor="t" anchorCtr="0">
            <a:noAutofit/>
          </a:bodyPr>
          <a:lstStyle/>
          <a:p>
            <a:r>
              <a:rPr lang="es-MX" sz="3200" b="1" dirty="0">
                <a:solidFill>
                  <a:schemeClr val="accent1"/>
                </a:solidFill>
              </a:rPr>
              <a:t>Desventajas</a:t>
            </a:r>
            <a:endParaRPr b="1" dirty="0"/>
          </a:p>
        </p:txBody>
      </p:sp>
      <p:sp>
        <p:nvSpPr>
          <p:cNvPr id="2178" name="Google Shape;2178;p39">
            <a:extLst>
              <a:ext uri="{FF2B5EF4-FFF2-40B4-BE49-F238E27FC236}">
                <a16:creationId xmlns:a16="http://schemas.microsoft.com/office/drawing/2014/main" id="{27600B3F-88AE-24B4-B78E-62BF40DD6AB9}"/>
              </a:ext>
            </a:extLst>
          </p:cNvPr>
          <p:cNvSpPr txBox="1">
            <a:spLocks noGrp="1"/>
          </p:cNvSpPr>
          <p:nvPr>
            <p:ph type="subTitle" idx="1"/>
          </p:nvPr>
        </p:nvSpPr>
        <p:spPr>
          <a:xfrm>
            <a:off x="956335" y="1301888"/>
            <a:ext cx="7231329" cy="1134000"/>
          </a:xfrm>
          <a:prstGeom prst="rect">
            <a:avLst/>
          </a:prstGeom>
        </p:spPr>
        <p:txBody>
          <a:bodyPr spcFirstLastPara="1" wrap="square" lIns="91425" tIns="91425" rIns="91425" bIns="91425" anchor="t" anchorCtr="0">
            <a:noAutofit/>
          </a:bodyPr>
          <a:lstStyle/>
          <a:p>
            <a:pPr marL="457200" indent="-457200" algn="l" fontAlgn="t">
              <a:lnSpc>
                <a:spcPct val="150000"/>
              </a:lnSpc>
              <a:buSzPct val="150000"/>
              <a:buFont typeface="Arial" panose="020B0604020202020204" pitchFamily="34" charset="0"/>
              <a:buChar char="•"/>
            </a:pPr>
            <a:r>
              <a:rPr lang="es-MX" sz="2800" dirty="0"/>
              <a:t>Redundancia de información entre Data Marts</a:t>
            </a:r>
          </a:p>
          <a:p>
            <a:pPr marL="457200" indent="-457200" algn="l" fontAlgn="t">
              <a:lnSpc>
                <a:spcPct val="150000"/>
              </a:lnSpc>
              <a:buSzPct val="150000"/>
              <a:buFont typeface="Arial" panose="020B0604020202020204" pitchFamily="34" charset="0"/>
              <a:buChar char="•"/>
            </a:pPr>
            <a:r>
              <a:rPr lang="es-MX" sz="2800" dirty="0"/>
              <a:t>Mayor mantenimiento</a:t>
            </a:r>
          </a:p>
          <a:p>
            <a:pPr marL="457200" indent="-457200" algn="l" fontAlgn="t">
              <a:lnSpc>
                <a:spcPct val="150000"/>
              </a:lnSpc>
              <a:buSzPct val="150000"/>
              <a:buFont typeface="Arial" panose="020B0604020202020204" pitchFamily="34" charset="0"/>
              <a:buChar char="•"/>
            </a:pPr>
            <a:r>
              <a:rPr lang="es-MX" sz="2800" dirty="0"/>
              <a:t>Riesgo de inconsistencia</a:t>
            </a:r>
          </a:p>
          <a:p>
            <a:pPr algn="just" fontAlgn="t">
              <a:lnSpc>
                <a:spcPct val="150000"/>
              </a:lnSpc>
            </a:pPr>
            <a:endParaRPr lang="es-MX" sz="3200" dirty="0"/>
          </a:p>
        </p:txBody>
      </p:sp>
    </p:spTree>
    <p:extLst>
      <p:ext uri="{BB962C8B-B14F-4D97-AF65-F5344CB8AC3E}">
        <p14:creationId xmlns:p14="http://schemas.microsoft.com/office/powerpoint/2010/main" val="3118308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8E514F8F-D99F-04D2-6F18-825F26864F43}"/>
            </a:ext>
          </a:extLst>
        </p:cNvPr>
        <p:cNvGrpSpPr/>
        <p:nvPr/>
      </p:nvGrpSpPr>
      <p:grpSpPr>
        <a:xfrm>
          <a:off x="0" y="0"/>
          <a:ext cx="0" cy="0"/>
          <a:chOff x="0" y="0"/>
          <a:chExt cx="0" cy="0"/>
        </a:xfrm>
      </p:grpSpPr>
      <p:grpSp>
        <p:nvGrpSpPr>
          <p:cNvPr id="2183" name="Google Shape;2183;p40">
            <a:extLst>
              <a:ext uri="{FF2B5EF4-FFF2-40B4-BE49-F238E27FC236}">
                <a16:creationId xmlns:a16="http://schemas.microsoft.com/office/drawing/2014/main" id="{96994F5B-B069-51D4-7845-AA1BD5710A52}"/>
              </a:ext>
            </a:extLst>
          </p:cNvPr>
          <p:cNvGrpSpPr/>
          <p:nvPr/>
        </p:nvGrpSpPr>
        <p:grpSpPr>
          <a:xfrm>
            <a:off x="1744008" y="3132028"/>
            <a:ext cx="175013" cy="27000"/>
            <a:chOff x="5662375" y="212375"/>
            <a:chExt cx="175013" cy="27000"/>
          </a:xfrm>
        </p:grpSpPr>
        <p:sp>
          <p:nvSpPr>
            <p:cNvPr id="2184" name="Google Shape;2184;p40">
              <a:extLst>
                <a:ext uri="{FF2B5EF4-FFF2-40B4-BE49-F238E27FC236}">
                  <a16:creationId xmlns:a16="http://schemas.microsoft.com/office/drawing/2014/main" id="{82348235-60EE-E483-5991-E5C27384CF36}"/>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5" name="Google Shape;2185;p40">
              <a:extLst>
                <a:ext uri="{FF2B5EF4-FFF2-40B4-BE49-F238E27FC236}">
                  <a16:creationId xmlns:a16="http://schemas.microsoft.com/office/drawing/2014/main" id="{06A96EF2-0BEA-F47A-2C2D-16C5B1E2B807}"/>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6" name="Google Shape;2186;p40">
              <a:extLst>
                <a:ext uri="{FF2B5EF4-FFF2-40B4-BE49-F238E27FC236}">
                  <a16:creationId xmlns:a16="http://schemas.microsoft.com/office/drawing/2014/main" id="{55ECAE80-371E-0424-D8B4-4CD8D28E34A2}"/>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87" name="Google Shape;2187;p40">
            <a:extLst>
              <a:ext uri="{FF2B5EF4-FFF2-40B4-BE49-F238E27FC236}">
                <a16:creationId xmlns:a16="http://schemas.microsoft.com/office/drawing/2014/main" id="{8000CBB3-DBF8-4910-4119-46397F52F72D}"/>
              </a:ext>
            </a:extLst>
          </p:cNvPr>
          <p:cNvGrpSpPr/>
          <p:nvPr/>
        </p:nvGrpSpPr>
        <p:grpSpPr>
          <a:xfrm>
            <a:off x="4446990" y="3159028"/>
            <a:ext cx="175013" cy="27000"/>
            <a:chOff x="5662375" y="212375"/>
            <a:chExt cx="175013" cy="27000"/>
          </a:xfrm>
        </p:grpSpPr>
        <p:sp>
          <p:nvSpPr>
            <p:cNvPr id="2188" name="Google Shape;2188;p40">
              <a:extLst>
                <a:ext uri="{FF2B5EF4-FFF2-40B4-BE49-F238E27FC236}">
                  <a16:creationId xmlns:a16="http://schemas.microsoft.com/office/drawing/2014/main" id="{558420F0-6507-9EB9-9845-16424E69381B}"/>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9" name="Google Shape;2189;p40">
              <a:extLst>
                <a:ext uri="{FF2B5EF4-FFF2-40B4-BE49-F238E27FC236}">
                  <a16:creationId xmlns:a16="http://schemas.microsoft.com/office/drawing/2014/main" id="{EF336455-F22C-7625-C763-BF4670873775}"/>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0" name="Google Shape;2190;p40">
              <a:extLst>
                <a:ext uri="{FF2B5EF4-FFF2-40B4-BE49-F238E27FC236}">
                  <a16:creationId xmlns:a16="http://schemas.microsoft.com/office/drawing/2014/main" id="{7BAEE93F-021C-342A-6A19-8770AD5491AF}"/>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91" name="Google Shape;2191;p40">
            <a:extLst>
              <a:ext uri="{FF2B5EF4-FFF2-40B4-BE49-F238E27FC236}">
                <a16:creationId xmlns:a16="http://schemas.microsoft.com/office/drawing/2014/main" id="{8E0429D5-4476-62EB-9B6F-B79B2325E624}"/>
              </a:ext>
            </a:extLst>
          </p:cNvPr>
          <p:cNvGrpSpPr/>
          <p:nvPr/>
        </p:nvGrpSpPr>
        <p:grpSpPr>
          <a:xfrm>
            <a:off x="7128002" y="3186028"/>
            <a:ext cx="175013" cy="27000"/>
            <a:chOff x="5662375" y="212375"/>
            <a:chExt cx="175013" cy="27000"/>
          </a:xfrm>
        </p:grpSpPr>
        <p:sp>
          <p:nvSpPr>
            <p:cNvPr id="2192" name="Google Shape;2192;p40">
              <a:extLst>
                <a:ext uri="{FF2B5EF4-FFF2-40B4-BE49-F238E27FC236}">
                  <a16:creationId xmlns:a16="http://schemas.microsoft.com/office/drawing/2014/main" id="{AB70833F-CE84-BE62-D659-550AAC398BF7}"/>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3" name="Google Shape;2193;p40">
              <a:extLst>
                <a:ext uri="{FF2B5EF4-FFF2-40B4-BE49-F238E27FC236}">
                  <a16:creationId xmlns:a16="http://schemas.microsoft.com/office/drawing/2014/main" id="{8578258B-6797-9A2E-995B-73490E7BD9BA}"/>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4" name="Google Shape;2194;p40">
              <a:extLst>
                <a:ext uri="{FF2B5EF4-FFF2-40B4-BE49-F238E27FC236}">
                  <a16:creationId xmlns:a16="http://schemas.microsoft.com/office/drawing/2014/main" id="{8CB49C05-F3C8-23BF-B9FC-D399549D852B}"/>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7" name="Grupo 6">
            <a:extLst>
              <a:ext uri="{FF2B5EF4-FFF2-40B4-BE49-F238E27FC236}">
                <a16:creationId xmlns:a16="http://schemas.microsoft.com/office/drawing/2014/main" id="{90A65499-6018-9463-80E0-1B4768783A45}"/>
              </a:ext>
            </a:extLst>
          </p:cNvPr>
          <p:cNvGrpSpPr/>
          <p:nvPr/>
        </p:nvGrpSpPr>
        <p:grpSpPr>
          <a:xfrm>
            <a:off x="714375" y="0"/>
            <a:ext cx="7715250" cy="5143500"/>
            <a:chOff x="714375" y="0"/>
            <a:chExt cx="7715250" cy="5143500"/>
          </a:xfrm>
        </p:grpSpPr>
        <p:pic>
          <p:nvPicPr>
            <p:cNvPr id="5" name="Imagen 4">
              <a:extLst>
                <a:ext uri="{FF2B5EF4-FFF2-40B4-BE49-F238E27FC236}">
                  <a16:creationId xmlns:a16="http://schemas.microsoft.com/office/drawing/2014/main" id="{0CE5FA79-7725-47D6-C28A-12B9BC2F7880}"/>
                </a:ext>
              </a:extLst>
            </p:cNvPr>
            <p:cNvPicPr>
              <a:picLocks noChangeAspect="1"/>
            </p:cNvPicPr>
            <p:nvPr/>
          </p:nvPicPr>
          <p:blipFill>
            <a:blip r:embed="rId3"/>
            <a:stretch>
              <a:fillRect/>
            </a:stretch>
          </p:blipFill>
          <p:spPr>
            <a:xfrm>
              <a:off x="714375" y="0"/>
              <a:ext cx="7715250" cy="5143500"/>
            </a:xfrm>
            <a:prstGeom prst="rect">
              <a:avLst/>
            </a:prstGeom>
          </p:spPr>
        </p:pic>
        <p:sp>
          <p:nvSpPr>
            <p:cNvPr id="6" name="Rectángulo 5">
              <a:extLst>
                <a:ext uri="{FF2B5EF4-FFF2-40B4-BE49-F238E27FC236}">
                  <a16:creationId xmlns:a16="http://schemas.microsoft.com/office/drawing/2014/main" id="{923D819F-BC81-E677-E58B-511D7433506D}"/>
                </a:ext>
              </a:extLst>
            </p:cNvPr>
            <p:cNvSpPr/>
            <p:nvPr/>
          </p:nvSpPr>
          <p:spPr>
            <a:xfrm>
              <a:off x="5135336" y="57150"/>
              <a:ext cx="1061357" cy="326571"/>
            </a:xfrm>
            <a:prstGeom prst="rect">
              <a:avLst/>
            </a:prstGeom>
            <a:solidFill>
              <a:srgbClr val="134A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4030325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grpSp>
        <p:nvGrpSpPr>
          <p:cNvPr id="2183" name="Google Shape;2183;p40"/>
          <p:cNvGrpSpPr/>
          <p:nvPr/>
        </p:nvGrpSpPr>
        <p:grpSpPr>
          <a:xfrm>
            <a:off x="1744008" y="3132028"/>
            <a:ext cx="175013" cy="27000"/>
            <a:chOff x="5662375" y="212375"/>
            <a:chExt cx="175013" cy="27000"/>
          </a:xfrm>
        </p:grpSpPr>
        <p:sp>
          <p:nvSpPr>
            <p:cNvPr id="2184" name="Google Shape;2184;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5" name="Google Shape;2185;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6" name="Google Shape;2186;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87" name="Google Shape;2187;p40"/>
          <p:cNvGrpSpPr/>
          <p:nvPr/>
        </p:nvGrpSpPr>
        <p:grpSpPr>
          <a:xfrm>
            <a:off x="4446990" y="3159028"/>
            <a:ext cx="175013" cy="27000"/>
            <a:chOff x="5662375" y="212375"/>
            <a:chExt cx="175013" cy="27000"/>
          </a:xfrm>
        </p:grpSpPr>
        <p:sp>
          <p:nvSpPr>
            <p:cNvPr id="2188" name="Google Shape;2188;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9" name="Google Shape;2189;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0" name="Google Shape;2190;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91" name="Google Shape;2191;p40"/>
          <p:cNvGrpSpPr/>
          <p:nvPr/>
        </p:nvGrpSpPr>
        <p:grpSpPr>
          <a:xfrm>
            <a:off x="7128002" y="3186028"/>
            <a:ext cx="175013" cy="27000"/>
            <a:chOff x="5662375" y="212375"/>
            <a:chExt cx="175013" cy="27000"/>
          </a:xfrm>
        </p:grpSpPr>
        <p:sp>
          <p:nvSpPr>
            <p:cNvPr id="2192" name="Google Shape;2192;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3" name="Google Shape;2193;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4" name="Google Shape;2194;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1" name="Google Shape;2241;p42">
            <a:extLst>
              <a:ext uri="{FF2B5EF4-FFF2-40B4-BE49-F238E27FC236}">
                <a16:creationId xmlns:a16="http://schemas.microsoft.com/office/drawing/2014/main" id="{3A97659A-4ACE-C9CA-A3FB-B25DEFE267B5}"/>
              </a:ext>
            </a:extLst>
          </p:cNvPr>
          <p:cNvSpPr txBox="1">
            <a:spLocks noGrp="1"/>
          </p:cNvSpPr>
          <p:nvPr>
            <p:ph type="title"/>
          </p:nvPr>
        </p:nvSpPr>
        <p:spPr>
          <a:xfrm>
            <a:off x="1631102" y="322797"/>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dirty="0"/>
              <a:t>Ejemplos de Data Mart</a:t>
            </a:r>
            <a:endParaRPr sz="2800" b="1" dirty="0"/>
          </a:p>
        </p:txBody>
      </p:sp>
      <p:pic>
        <p:nvPicPr>
          <p:cNvPr id="3" name="Imagen 2">
            <a:extLst>
              <a:ext uri="{FF2B5EF4-FFF2-40B4-BE49-F238E27FC236}">
                <a16:creationId xmlns:a16="http://schemas.microsoft.com/office/drawing/2014/main" id="{F2D222FE-403C-B7E6-CD5C-032C8BFCD516}"/>
              </a:ext>
            </a:extLst>
          </p:cNvPr>
          <p:cNvPicPr>
            <a:picLocks noChangeAspect="1"/>
          </p:cNvPicPr>
          <p:nvPr/>
        </p:nvPicPr>
        <p:blipFill>
          <a:blip r:embed="rId3"/>
          <a:stretch>
            <a:fillRect/>
          </a:stretch>
        </p:blipFill>
        <p:spPr>
          <a:xfrm>
            <a:off x="1496593" y="838198"/>
            <a:ext cx="6102805" cy="40685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4">
          <a:extLst>
            <a:ext uri="{FF2B5EF4-FFF2-40B4-BE49-F238E27FC236}">
              <a16:creationId xmlns:a16="http://schemas.microsoft.com/office/drawing/2014/main" id="{CF87568B-E16E-95DC-9E71-781E020D53D1}"/>
            </a:ext>
          </a:extLst>
        </p:cNvPr>
        <p:cNvGrpSpPr/>
        <p:nvPr/>
      </p:nvGrpSpPr>
      <p:grpSpPr>
        <a:xfrm>
          <a:off x="0" y="0"/>
          <a:ext cx="0" cy="0"/>
          <a:chOff x="0" y="0"/>
          <a:chExt cx="0" cy="0"/>
        </a:xfrm>
      </p:grpSpPr>
      <p:sp>
        <p:nvSpPr>
          <p:cNvPr id="2155" name="Google Shape;2155;p38">
            <a:extLst>
              <a:ext uri="{FF2B5EF4-FFF2-40B4-BE49-F238E27FC236}">
                <a16:creationId xmlns:a16="http://schemas.microsoft.com/office/drawing/2014/main" id="{63035295-F856-AC63-BF88-E041761B1B8A}"/>
              </a:ext>
            </a:extLst>
          </p:cNvPr>
          <p:cNvSpPr txBox="1">
            <a:spLocks noGrp="1"/>
          </p:cNvSpPr>
          <p:nvPr>
            <p:ph type="title"/>
          </p:nvPr>
        </p:nvSpPr>
        <p:spPr>
          <a:xfrm>
            <a:off x="2591988" y="2510113"/>
            <a:ext cx="3519152" cy="804600"/>
          </a:xfrm>
          <a:prstGeom prst="rect">
            <a:avLst/>
          </a:prstGeom>
        </p:spPr>
        <p:txBody>
          <a:bodyPr spcFirstLastPara="1" wrap="square" lIns="91425" tIns="91425" rIns="91425" bIns="91425" anchor="ctr" anchorCtr="0">
            <a:noAutofit/>
          </a:bodyPr>
          <a:lstStyle/>
          <a:p>
            <a:pPr lvl="0"/>
            <a:r>
              <a:rPr lang="es-MX" sz="3200" dirty="0"/>
              <a:t>Data </a:t>
            </a:r>
            <a:r>
              <a:rPr lang="es-MX" sz="3200" dirty="0" err="1"/>
              <a:t>Mining</a:t>
            </a:r>
            <a:br>
              <a:rPr lang="es-MX" sz="3200" dirty="0"/>
            </a:br>
            <a:r>
              <a:rPr lang="es-MX" sz="3200" dirty="0"/>
              <a:t>(Minería de datos)</a:t>
            </a:r>
            <a:endParaRPr sz="3200" dirty="0"/>
          </a:p>
        </p:txBody>
      </p:sp>
      <p:sp>
        <p:nvSpPr>
          <p:cNvPr id="2156" name="Google Shape;2156;p38">
            <a:extLst>
              <a:ext uri="{FF2B5EF4-FFF2-40B4-BE49-F238E27FC236}">
                <a16:creationId xmlns:a16="http://schemas.microsoft.com/office/drawing/2014/main" id="{9DBC7388-C1A3-46D8-F8A8-C962B53C8677}"/>
              </a:ext>
            </a:extLst>
          </p:cNvPr>
          <p:cNvSpPr txBox="1">
            <a:spLocks noGrp="1"/>
          </p:cNvSpPr>
          <p:nvPr>
            <p:ph type="title" idx="2"/>
          </p:nvPr>
        </p:nvSpPr>
        <p:spPr>
          <a:xfrm>
            <a:off x="2808515" y="1144959"/>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1800861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grpSp>
        <p:nvGrpSpPr>
          <p:cNvPr id="2326" name="Google Shape;2326;p44"/>
          <p:cNvGrpSpPr/>
          <p:nvPr/>
        </p:nvGrpSpPr>
        <p:grpSpPr>
          <a:xfrm>
            <a:off x="6658377" y="1275008"/>
            <a:ext cx="2444353" cy="2407919"/>
            <a:chOff x="4522050" y="622650"/>
            <a:chExt cx="3898200" cy="3898200"/>
          </a:xfrm>
        </p:grpSpPr>
        <p:sp>
          <p:nvSpPr>
            <p:cNvPr id="2327" name="Google Shape;2327;p44"/>
            <p:cNvSpPr/>
            <p:nvPr/>
          </p:nvSpPr>
          <p:spPr>
            <a:xfrm>
              <a:off x="4522050" y="622650"/>
              <a:ext cx="3898200" cy="38982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4"/>
            <p:cNvSpPr/>
            <p:nvPr/>
          </p:nvSpPr>
          <p:spPr>
            <a:xfrm>
              <a:off x="4698900" y="799500"/>
              <a:ext cx="3544500" cy="35445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0" name="Google Shape;2330;p44"/>
          <p:cNvSpPr txBox="1">
            <a:spLocks noGrp="1"/>
          </p:cNvSpPr>
          <p:nvPr>
            <p:ph type="subTitle" idx="1"/>
          </p:nvPr>
        </p:nvSpPr>
        <p:spPr>
          <a:xfrm>
            <a:off x="590748" y="1532199"/>
            <a:ext cx="5956736" cy="1371600"/>
          </a:xfrm>
          <a:prstGeom prst="rect">
            <a:avLst/>
          </a:prstGeom>
        </p:spPr>
        <p:txBody>
          <a:bodyPr spcFirstLastPara="1" wrap="square" lIns="91425" tIns="91425" rIns="91425" bIns="91425" anchor="t" anchorCtr="0">
            <a:noAutofit/>
          </a:bodyPr>
          <a:lstStyle/>
          <a:p>
            <a:pPr algn="just" fontAlgn="t"/>
            <a:r>
              <a:rPr lang="es-MX" dirty="0"/>
              <a:t>Es el proceso de</a:t>
            </a:r>
            <a:r>
              <a:rPr lang="es-MX" b="1" dirty="0"/>
              <a:t> análisis y minería de datos el</a:t>
            </a:r>
            <a:r>
              <a:rPr lang="es-MX" dirty="0"/>
              <a:t> cual permite examinar grandes conjuntos de información con el fin de identificar patrones, tendencias y relaciones importantes que de otra manera pueden pasar desapercibidas. Una empresa genera cantidades ingentes de datos sin siquiera ser consciente de ello, y saber qué </a:t>
            </a:r>
            <a:r>
              <a:rPr lang="es-MX" b="1" dirty="0"/>
              <a:t>aplicaciones de Data </a:t>
            </a:r>
            <a:r>
              <a:rPr lang="es-MX" b="1" dirty="0" err="1"/>
              <a:t>Mining</a:t>
            </a:r>
            <a:r>
              <a:rPr lang="es-MX" b="1" dirty="0"/>
              <a:t> y Big Data</a:t>
            </a:r>
            <a:r>
              <a:rPr lang="es-MX" dirty="0"/>
              <a:t> usar puede ayudarte a ponerlos de tu lado.</a:t>
            </a:r>
            <a:endParaRPr lang="es-MX" sz="1800" dirty="0"/>
          </a:p>
        </p:txBody>
      </p:sp>
      <p:pic>
        <p:nvPicPr>
          <p:cNvPr id="2331" name="Google Shape;2331;p44"/>
          <p:cNvPicPr preferRelativeResize="0"/>
          <p:nvPr/>
        </p:nvPicPr>
        <p:blipFill rotWithShape="1">
          <a:blip r:embed="rId3">
            <a:alphaModFix/>
          </a:blip>
          <a:srcRect l="34985" r="2674"/>
          <a:stretch/>
        </p:blipFill>
        <p:spPr>
          <a:xfrm>
            <a:off x="6859416" y="1476539"/>
            <a:ext cx="1981321" cy="1957002"/>
          </a:xfrm>
          <a:prstGeom prst="ellipse">
            <a:avLst/>
          </a:prstGeom>
          <a:noFill/>
          <a:ln>
            <a:noFill/>
          </a:ln>
        </p:spPr>
      </p:pic>
      <p:sp>
        <p:nvSpPr>
          <p:cNvPr id="2" name="Google Shape;2241;p42">
            <a:extLst>
              <a:ext uri="{FF2B5EF4-FFF2-40B4-BE49-F238E27FC236}">
                <a16:creationId xmlns:a16="http://schemas.microsoft.com/office/drawing/2014/main" id="{F58AAA2C-1BFB-CC81-1537-D6DF29C6489E}"/>
              </a:ext>
            </a:extLst>
          </p:cNvPr>
          <p:cNvSpPr txBox="1">
            <a:spLocks noGrp="1"/>
          </p:cNvSpPr>
          <p:nvPr>
            <p:ph type="title"/>
          </p:nvPr>
        </p:nvSpPr>
        <p:spPr>
          <a:xfrm>
            <a:off x="1765595" y="671403"/>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dirty="0"/>
              <a:t>Data Mining</a:t>
            </a:r>
            <a:endParaRPr sz="28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4" name="Google Shape;2224;p41"/>
          <p:cNvSpPr txBox="1">
            <a:spLocks noGrp="1"/>
          </p:cNvSpPr>
          <p:nvPr>
            <p:ph type="title"/>
          </p:nvPr>
        </p:nvSpPr>
        <p:spPr>
          <a:xfrm>
            <a:off x="1568850" y="197421"/>
            <a:ext cx="6006300" cy="595800"/>
          </a:xfrm>
          <a:prstGeom prst="rect">
            <a:avLst/>
          </a:prstGeom>
        </p:spPr>
        <p:txBody>
          <a:bodyPr spcFirstLastPara="1" wrap="square" lIns="91425" tIns="91425" rIns="91425" bIns="91425" anchor="t" anchorCtr="0">
            <a:noAutofit/>
          </a:bodyPr>
          <a:lstStyle/>
          <a:p>
            <a:r>
              <a:rPr lang="es-MX" dirty="0"/>
              <a:t>¿Cuál es la diferencia entre data </a:t>
            </a:r>
            <a:r>
              <a:rPr lang="es-MX" dirty="0" err="1"/>
              <a:t>mart</a:t>
            </a:r>
            <a:r>
              <a:rPr lang="es-MX" dirty="0"/>
              <a:t> y data </a:t>
            </a:r>
            <a:r>
              <a:rPr lang="es-MX" dirty="0" err="1"/>
              <a:t>mining</a:t>
            </a:r>
            <a:r>
              <a:rPr lang="es-MX" dirty="0"/>
              <a:t>?</a:t>
            </a:r>
          </a:p>
        </p:txBody>
      </p:sp>
      <p:sp>
        <p:nvSpPr>
          <p:cNvPr id="2" name="Rectángulo: esquinas redondeadas 1">
            <a:extLst>
              <a:ext uri="{FF2B5EF4-FFF2-40B4-BE49-F238E27FC236}">
                <a16:creationId xmlns:a16="http://schemas.microsoft.com/office/drawing/2014/main" id="{097D7134-0D9A-CD37-2FEE-3AC385891250}"/>
              </a:ext>
            </a:extLst>
          </p:cNvPr>
          <p:cNvSpPr/>
          <p:nvPr/>
        </p:nvSpPr>
        <p:spPr>
          <a:xfrm>
            <a:off x="375558" y="1190507"/>
            <a:ext cx="3537856" cy="2785499"/>
          </a:xfrm>
          <a:prstGeom prst="roundRect">
            <a:avLst>
              <a:gd name="adj" fmla="val 6376"/>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s-MX" sz="2400" b="1" dirty="0"/>
              <a:t>Data Mart</a:t>
            </a:r>
          </a:p>
          <a:p>
            <a:pPr algn="just"/>
            <a:endParaRPr lang="es-MX" b="1" dirty="0"/>
          </a:p>
          <a:p>
            <a:pPr algn="just"/>
            <a:r>
              <a:rPr lang="es-MX" b="1" dirty="0"/>
              <a:t>Es un repositorio de datos especializado en un área de la organización, como ventas, finanzas, recursos humanos o producción.</a:t>
            </a:r>
          </a:p>
          <a:p>
            <a:pPr algn="just"/>
            <a:r>
              <a:rPr lang="es-MX" b="1" dirty="0"/>
              <a:t>Su propósito es integrar y estructurar información relevante para facilitar consultas, reportes y análisis.</a:t>
            </a:r>
          </a:p>
          <a:p>
            <a:endParaRPr lang="es-MX" b="1" dirty="0"/>
          </a:p>
        </p:txBody>
      </p:sp>
      <p:sp>
        <p:nvSpPr>
          <p:cNvPr id="3" name="Rectángulo: esquinas redondeadas 2">
            <a:extLst>
              <a:ext uri="{FF2B5EF4-FFF2-40B4-BE49-F238E27FC236}">
                <a16:creationId xmlns:a16="http://schemas.microsoft.com/office/drawing/2014/main" id="{7F7BC5B3-8C23-590D-26E3-1EE861D6F081}"/>
              </a:ext>
            </a:extLst>
          </p:cNvPr>
          <p:cNvSpPr/>
          <p:nvPr/>
        </p:nvSpPr>
        <p:spPr>
          <a:xfrm>
            <a:off x="375558" y="4457700"/>
            <a:ext cx="3537856" cy="555171"/>
          </a:xfrm>
          <a:prstGeom prst="roundRect">
            <a:avLst/>
          </a:prstGeom>
          <a:solidFill>
            <a:schemeClr val="bg1">
              <a:lumMod val="5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s-MX" b="1" dirty="0"/>
              <a:t>Organiza la información</a:t>
            </a:r>
          </a:p>
        </p:txBody>
      </p:sp>
      <p:sp>
        <p:nvSpPr>
          <p:cNvPr id="4" name="Flecha: hacia abajo 3">
            <a:extLst>
              <a:ext uri="{FF2B5EF4-FFF2-40B4-BE49-F238E27FC236}">
                <a16:creationId xmlns:a16="http://schemas.microsoft.com/office/drawing/2014/main" id="{92864E4A-D99F-3ABE-CD0B-BB4F52A74604}"/>
              </a:ext>
            </a:extLst>
          </p:cNvPr>
          <p:cNvSpPr/>
          <p:nvPr/>
        </p:nvSpPr>
        <p:spPr>
          <a:xfrm>
            <a:off x="1924050" y="4004581"/>
            <a:ext cx="440872" cy="424543"/>
          </a:xfrm>
          <a:prstGeom prst="downArrow">
            <a:avLst/>
          </a:prstGeom>
          <a:solidFill>
            <a:schemeClr val="accent3">
              <a:lumMod val="1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s-MX"/>
          </a:p>
        </p:txBody>
      </p:sp>
      <p:sp>
        <p:nvSpPr>
          <p:cNvPr id="6" name="Rectángulo: esquinas redondeadas 5">
            <a:extLst>
              <a:ext uri="{FF2B5EF4-FFF2-40B4-BE49-F238E27FC236}">
                <a16:creationId xmlns:a16="http://schemas.microsoft.com/office/drawing/2014/main" id="{BDB6C416-6C77-BE57-C17A-1E3C44667EA3}"/>
              </a:ext>
            </a:extLst>
          </p:cNvPr>
          <p:cNvSpPr/>
          <p:nvPr/>
        </p:nvSpPr>
        <p:spPr>
          <a:xfrm>
            <a:off x="4882244" y="1182342"/>
            <a:ext cx="3537856" cy="2785499"/>
          </a:xfrm>
          <a:prstGeom prst="roundRect">
            <a:avLst>
              <a:gd name="adj" fmla="val 6376"/>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s-MX" sz="2400" b="1" dirty="0"/>
              <a:t>Data </a:t>
            </a:r>
            <a:r>
              <a:rPr lang="es-MX" sz="2400" b="1" dirty="0" err="1"/>
              <a:t>Mining</a:t>
            </a:r>
            <a:endParaRPr lang="es-MX" b="1" dirty="0"/>
          </a:p>
          <a:p>
            <a:pPr algn="just"/>
            <a:r>
              <a:rPr lang="es-MX" b="1" dirty="0"/>
              <a:t>Es el proceso de analizar datos mediante técnicas estadísticas, algoritmos de aprendizaje automático y otros métodos computacionales para identificar patrones, relaciones y tendencias.</a:t>
            </a:r>
          </a:p>
          <a:p>
            <a:pPr algn="just"/>
            <a:r>
              <a:rPr lang="es-MX" b="1" dirty="0"/>
              <a:t>Su propósito es obtener conocimiento útil para explicar comportamientos, clasificar casos o realizar predicciones.</a:t>
            </a:r>
          </a:p>
          <a:p>
            <a:pPr algn="just"/>
            <a:endParaRPr lang="es-MX" b="1" dirty="0"/>
          </a:p>
        </p:txBody>
      </p:sp>
      <p:sp>
        <p:nvSpPr>
          <p:cNvPr id="9" name="Rectángulo: esquinas redondeadas 8">
            <a:extLst>
              <a:ext uri="{FF2B5EF4-FFF2-40B4-BE49-F238E27FC236}">
                <a16:creationId xmlns:a16="http://schemas.microsoft.com/office/drawing/2014/main" id="{6A914F09-A9BE-6A42-B95F-F3AB02FBA2FF}"/>
              </a:ext>
            </a:extLst>
          </p:cNvPr>
          <p:cNvSpPr/>
          <p:nvPr/>
        </p:nvSpPr>
        <p:spPr>
          <a:xfrm>
            <a:off x="4890408" y="4457700"/>
            <a:ext cx="3600449" cy="555171"/>
          </a:xfrm>
          <a:prstGeom prst="roundRect">
            <a:avLst/>
          </a:prstGeom>
          <a:solidFill>
            <a:schemeClr val="bg1">
              <a:lumMod val="50000"/>
            </a:schemeClr>
          </a:solidFill>
        </p:spPr>
        <p:style>
          <a:lnRef idx="0">
            <a:schemeClr val="accent5"/>
          </a:lnRef>
          <a:fillRef idx="3">
            <a:schemeClr val="accent5"/>
          </a:fillRef>
          <a:effectRef idx="3">
            <a:schemeClr val="accent5"/>
          </a:effectRef>
          <a:fontRef idx="minor">
            <a:schemeClr val="lt1"/>
          </a:fontRef>
        </p:style>
        <p:txBody>
          <a:bodyPr rtlCol="0" anchor="ctr"/>
          <a:lstStyle/>
          <a:p>
            <a:pPr algn="ctr"/>
            <a:r>
              <a:rPr lang="es-MX" b="1" dirty="0"/>
              <a:t>Descubre conocimiento</a:t>
            </a:r>
          </a:p>
        </p:txBody>
      </p:sp>
      <p:sp>
        <p:nvSpPr>
          <p:cNvPr id="11" name="Flecha: hacia abajo 10">
            <a:extLst>
              <a:ext uri="{FF2B5EF4-FFF2-40B4-BE49-F238E27FC236}">
                <a16:creationId xmlns:a16="http://schemas.microsoft.com/office/drawing/2014/main" id="{0A70BEEE-1AD5-15E0-7842-694EA3752038}"/>
              </a:ext>
            </a:extLst>
          </p:cNvPr>
          <p:cNvSpPr/>
          <p:nvPr/>
        </p:nvSpPr>
        <p:spPr>
          <a:xfrm>
            <a:off x="6558644" y="4033157"/>
            <a:ext cx="440872" cy="424543"/>
          </a:xfrm>
          <a:prstGeom prst="downArrow">
            <a:avLst/>
          </a:prstGeom>
          <a:solidFill>
            <a:schemeClr val="accent3">
              <a:lumMod val="1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s-MX"/>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3">
          <a:extLst>
            <a:ext uri="{FF2B5EF4-FFF2-40B4-BE49-F238E27FC236}">
              <a16:creationId xmlns:a16="http://schemas.microsoft.com/office/drawing/2014/main" id="{9AB837D1-F924-973A-82D1-8AB3BD8EB824}"/>
            </a:ext>
          </a:extLst>
        </p:cNvPr>
        <p:cNvGrpSpPr/>
        <p:nvPr/>
      </p:nvGrpSpPr>
      <p:grpSpPr>
        <a:xfrm>
          <a:off x="0" y="0"/>
          <a:ext cx="0" cy="0"/>
          <a:chOff x="0" y="0"/>
          <a:chExt cx="0" cy="0"/>
        </a:xfrm>
      </p:grpSpPr>
      <p:sp>
        <p:nvSpPr>
          <p:cNvPr id="2224" name="Google Shape;2224;p41">
            <a:extLst>
              <a:ext uri="{FF2B5EF4-FFF2-40B4-BE49-F238E27FC236}">
                <a16:creationId xmlns:a16="http://schemas.microsoft.com/office/drawing/2014/main" id="{124AA03A-A3C5-1D76-D5DE-E1CAF2A8C96F}"/>
              </a:ext>
            </a:extLst>
          </p:cNvPr>
          <p:cNvSpPr txBox="1">
            <a:spLocks noGrp="1"/>
          </p:cNvSpPr>
          <p:nvPr>
            <p:ph type="title"/>
          </p:nvPr>
        </p:nvSpPr>
        <p:spPr>
          <a:xfrm>
            <a:off x="1568850" y="197421"/>
            <a:ext cx="6006300" cy="595800"/>
          </a:xfrm>
          <a:prstGeom prst="rect">
            <a:avLst/>
          </a:prstGeom>
        </p:spPr>
        <p:txBody>
          <a:bodyPr spcFirstLastPara="1" wrap="square" lIns="91425" tIns="91425" rIns="91425" bIns="91425" anchor="t" anchorCtr="0">
            <a:noAutofit/>
          </a:bodyPr>
          <a:lstStyle/>
          <a:p>
            <a:r>
              <a:rPr lang="es-MX" dirty="0"/>
              <a:t>¿Cuál es la diferencia entre data </a:t>
            </a:r>
            <a:r>
              <a:rPr lang="es-MX" dirty="0" err="1"/>
              <a:t>mart</a:t>
            </a:r>
            <a:r>
              <a:rPr lang="es-MX" dirty="0"/>
              <a:t> y data </a:t>
            </a:r>
            <a:r>
              <a:rPr lang="es-MX" dirty="0" err="1"/>
              <a:t>mining</a:t>
            </a:r>
            <a:r>
              <a:rPr lang="es-MX" dirty="0"/>
              <a:t>?</a:t>
            </a:r>
          </a:p>
        </p:txBody>
      </p:sp>
      <p:sp>
        <p:nvSpPr>
          <p:cNvPr id="7" name="CuadroTexto 6">
            <a:extLst>
              <a:ext uri="{FF2B5EF4-FFF2-40B4-BE49-F238E27FC236}">
                <a16:creationId xmlns:a16="http://schemas.microsoft.com/office/drawing/2014/main" id="{195304BD-A30A-15D4-4F93-4C6A51047344}"/>
              </a:ext>
            </a:extLst>
          </p:cNvPr>
          <p:cNvSpPr txBox="1"/>
          <p:nvPr/>
        </p:nvSpPr>
        <p:spPr>
          <a:xfrm>
            <a:off x="833923" y="1642908"/>
            <a:ext cx="7476153" cy="3108543"/>
          </a:xfrm>
          <a:prstGeom prst="rect">
            <a:avLst/>
          </a:prstGeom>
          <a:noFill/>
        </p:spPr>
        <p:txBody>
          <a:bodyPr wrap="square">
            <a:spAutoFit/>
          </a:bodyPr>
          <a:lstStyle/>
          <a:p>
            <a:pPr algn="just">
              <a:buNone/>
            </a:pPr>
            <a:r>
              <a:rPr lang="es-MX" sz="2800" dirty="0">
                <a:solidFill>
                  <a:srgbClr val="0B264E"/>
                </a:solidFill>
                <a:latin typeface="ADLaM Display" panose="02010000000000000000" pitchFamily="2" charset="0"/>
                <a:ea typeface="ADLaM Display" panose="02010000000000000000" pitchFamily="2" charset="0"/>
                <a:cs typeface="ADLaM Display" panose="02010000000000000000" pitchFamily="2" charset="0"/>
              </a:rPr>
              <a:t>El Data Mart responde a la pregunta: </a:t>
            </a:r>
            <a:r>
              <a:rPr lang="es-MX" sz="2800" dirty="0">
                <a:solidFill>
                  <a:schemeClr val="accent1"/>
                </a:solidFill>
                <a:latin typeface="ADLaM Display" panose="02010000000000000000" pitchFamily="2" charset="0"/>
                <a:ea typeface="ADLaM Display" panose="02010000000000000000" pitchFamily="2" charset="0"/>
                <a:cs typeface="ADLaM Display" panose="02010000000000000000" pitchFamily="2" charset="0"/>
              </a:rPr>
              <a:t>¿Dónde y cómo organizamos los datos que necesitamos analizar?</a:t>
            </a:r>
          </a:p>
          <a:p>
            <a:pPr algn="just">
              <a:buNone/>
            </a:pPr>
            <a:endParaRPr lang="es-MX" sz="2800" dirty="0">
              <a:solidFill>
                <a:schemeClr val="accent1"/>
              </a:solidFill>
              <a:latin typeface="ADLaM Display" panose="02010000000000000000" pitchFamily="2" charset="0"/>
              <a:ea typeface="ADLaM Display" panose="02010000000000000000" pitchFamily="2" charset="0"/>
              <a:cs typeface="ADLaM Display" panose="02010000000000000000" pitchFamily="2" charset="0"/>
            </a:endParaRPr>
          </a:p>
          <a:p>
            <a:pPr algn="just">
              <a:buNone/>
            </a:pPr>
            <a:r>
              <a:rPr lang="es-MX" sz="2800" dirty="0">
                <a:solidFill>
                  <a:srgbClr val="0B264E"/>
                </a:solidFill>
                <a:latin typeface="ADLaM Display" panose="02010000000000000000" pitchFamily="2" charset="0"/>
                <a:ea typeface="ADLaM Display" panose="02010000000000000000" pitchFamily="2" charset="0"/>
                <a:cs typeface="ADLaM Display" panose="02010000000000000000" pitchFamily="2" charset="0"/>
              </a:rPr>
              <a:t>El Data </a:t>
            </a:r>
            <a:r>
              <a:rPr lang="es-MX" sz="2800" dirty="0" err="1">
                <a:solidFill>
                  <a:srgbClr val="0B264E"/>
                </a:solidFill>
                <a:latin typeface="ADLaM Display" panose="02010000000000000000" pitchFamily="2" charset="0"/>
                <a:ea typeface="ADLaM Display" panose="02010000000000000000" pitchFamily="2" charset="0"/>
                <a:cs typeface="ADLaM Display" panose="02010000000000000000" pitchFamily="2" charset="0"/>
              </a:rPr>
              <a:t>Mining</a:t>
            </a:r>
            <a:r>
              <a:rPr lang="es-MX" sz="2800" dirty="0">
                <a:solidFill>
                  <a:srgbClr val="0B264E"/>
                </a:solidFill>
                <a:latin typeface="ADLaM Display" panose="02010000000000000000" pitchFamily="2" charset="0"/>
                <a:ea typeface="ADLaM Display" panose="02010000000000000000" pitchFamily="2" charset="0"/>
                <a:cs typeface="ADLaM Display" panose="02010000000000000000" pitchFamily="2" charset="0"/>
              </a:rPr>
              <a:t> responde a: </a:t>
            </a:r>
            <a:r>
              <a:rPr lang="es-MX" sz="2800" dirty="0">
                <a:solidFill>
                  <a:schemeClr val="accent1"/>
                </a:solidFill>
                <a:latin typeface="ADLaM Display" panose="02010000000000000000" pitchFamily="2" charset="0"/>
                <a:ea typeface="ADLaM Display" panose="02010000000000000000" pitchFamily="2" charset="0"/>
                <a:cs typeface="ADLaM Display" panose="02010000000000000000" pitchFamily="2" charset="0"/>
              </a:rPr>
              <a:t>¿Qué patrones, relaciones o comportamientos podemos descubrir a partir de esos datos?</a:t>
            </a:r>
          </a:p>
        </p:txBody>
      </p:sp>
    </p:spTree>
    <p:extLst>
      <p:ext uri="{BB962C8B-B14F-4D97-AF65-F5344CB8AC3E}">
        <p14:creationId xmlns:p14="http://schemas.microsoft.com/office/powerpoint/2010/main" val="1211844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a:extLst>
              <a:ext uri="{FF2B5EF4-FFF2-40B4-BE49-F238E27FC236}">
                <a16:creationId xmlns:a16="http://schemas.microsoft.com/office/drawing/2014/main" id="{8051FE6B-7511-E22F-C86D-A462ACE42E31}"/>
              </a:ext>
            </a:extLst>
          </p:cNvPr>
          <p:cNvGrpSpPr/>
          <p:nvPr/>
        </p:nvGrpSpPr>
        <p:grpSpPr>
          <a:xfrm>
            <a:off x="714375" y="0"/>
            <a:ext cx="7715250" cy="5143500"/>
            <a:chOff x="714375" y="0"/>
            <a:chExt cx="7715250" cy="5143500"/>
          </a:xfrm>
        </p:grpSpPr>
        <p:pic>
          <p:nvPicPr>
            <p:cNvPr id="12" name="Imagen 11">
              <a:extLst>
                <a:ext uri="{FF2B5EF4-FFF2-40B4-BE49-F238E27FC236}">
                  <a16:creationId xmlns:a16="http://schemas.microsoft.com/office/drawing/2014/main" id="{972CCA28-6B0A-C973-D308-7F561434A5B8}"/>
                </a:ext>
              </a:extLst>
            </p:cNvPr>
            <p:cNvPicPr>
              <a:picLocks noChangeAspect="1"/>
            </p:cNvPicPr>
            <p:nvPr/>
          </p:nvPicPr>
          <p:blipFill>
            <a:blip r:embed="rId2"/>
            <a:stretch>
              <a:fillRect/>
            </a:stretch>
          </p:blipFill>
          <p:spPr>
            <a:xfrm>
              <a:off x="714375" y="0"/>
              <a:ext cx="7715250" cy="5143500"/>
            </a:xfrm>
            <a:prstGeom prst="rect">
              <a:avLst/>
            </a:prstGeom>
          </p:spPr>
        </p:pic>
        <p:sp>
          <p:nvSpPr>
            <p:cNvPr id="13" name="Rectángulo 12">
              <a:extLst>
                <a:ext uri="{FF2B5EF4-FFF2-40B4-BE49-F238E27FC236}">
                  <a16:creationId xmlns:a16="http://schemas.microsoft.com/office/drawing/2014/main" id="{126F6E84-EDAC-D561-B3D4-9250380B08EF}"/>
                </a:ext>
              </a:extLst>
            </p:cNvPr>
            <p:cNvSpPr/>
            <p:nvPr/>
          </p:nvSpPr>
          <p:spPr>
            <a:xfrm>
              <a:off x="1328928" y="4322064"/>
              <a:ext cx="2657856" cy="213360"/>
            </a:xfrm>
            <a:prstGeom prst="rect">
              <a:avLst/>
            </a:prstGeom>
            <a:solidFill>
              <a:srgbClr val="FBE8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Tree>
    <p:extLst>
      <p:ext uri="{BB962C8B-B14F-4D97-AF65-F5344CB8AC3E}">
        <p14:creationId xmlns:p14="http://schemas.microsoft.com/office/powerpoint/2010/main" val="842703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2C4B6232-1DF0-C944-4D9A-75CAE5CFF69E}"/>
              </a:ext>
            </a:extLst>
          </p:cNvPr>
          <p:cNvPicPr>
            <a:picLocks noChangeAspect="1"/>
          </p:cNvPicPr>
          <p:nvPr/>
        </p:nvPicPr>
        <p:blipFill>
          <a:blip r:embed="rId2"/>
          <a:srcRect t="10319"/>
          <a:stretch>
            <a:fillRect/>
          </a:stretch>
        </p:blipFill>
        <p:spPr>
          <a:xfrm>
            <a:off x="1461403" y="516102"/>
            <a:ext cx="3429000" cy="4612748"/>
          </a:xfrm>
          <a:prstGeom prst="rect">
            <a:avLst/>
          </a:prstGeom>
        </p:spPr>
      </p:pic>
      <p:sp>
        <p:nvSpPr>
          <p:cNvPr id="3" name="Google Shape;2224;p41">
            <a:extLst>
              <a:ext uri="{FF2B5EF4-FFF2-40B4-BE49-F238E27FC236}">
                <a16:creationId xmlns:a16="http://schemas.microsoft.com/office/drawing/2014/main" id="{367EEC0A-6081-2131-2AB3-68F2898166B4}"/>
              </a:ext>
            </a:extLst>
          </p:cNvPr>
          <p:cNvSpPr txBox="1">
            <a:spLocks noGrp="1"/>
          </p:cNvSpPr>
          <p:nvPr>
            <p:ph type="title"/>
          </p:nvPr>
        </p:nvSpPr>
        <p:spPr>
          <a:xfrm>
            <a:off x="1568850" y="-79698"/>
            <a:ext cx="6006300" cy="595800"/>
          </a:xfrm>
          <a:prstGeom prst="rect">
            <a:avLst/>
          </a:prstGeom>
        </p:spPr>
        <p:txBody>
          <a:bodyPr spcFirstLastPara="1" wrap="square" lIns="91425" tIns="91425" rIns="91425" bIns="91425" anchor="t" anchorCtr="0">
            <a:noAutofit/>
          </a:bodyPr>
          <a:lstStyle/>
          <a:p>
            <a:r>
              <a:rPr lang="es-MX" b="1" dirty="0"/>
              <a:t>Data Mart – Data </a:t>
            </a:r>
            <a:r>
              <a:rPr lang="es-MX" b="1" dirty="0" err="1"/>
              <a:t>Mining</a:t>
            </a:r>
            <a:endParaRPr lang="es-MX" b="1" dirty="0"/>
          </a:p>
        </p:txBody>
      </p:sp>
      <p:grpSp>
        <p:nvGrpSpPr>
          <p:cNvPr id="14" name="Grupo 13">
            <a:extLst>
              <a:ext uri="{FF2B5EF4-FFF2-40B4-BE49-F238E27FC236}">
                <a16:creationId xmlns:a16="http://schemas.microsoft.com/office/drawing/2014/main" id="{85FB0924-0939-1403-F68A-0891E937BCF2}"/>
              </a:ext>
            </a:extLst>
          </p:cNvPr>
          <p:cNvGrpSpPr/>
          <p:nvPr/>
        </p:nvGrpSpPr>
        <p:grpSpPr>
          <a:xfrm>
            <a:off x="4890403" y="783276"/>
            <a:ext cx="4584468" cy="459545"/>
            <a:chOff x="4834176" y="761176"/>
            <a:chExt cx="4584468" cy="459545"/>
          </a:xfrm>
        </p:grpSpPr>
        <p:sp>
          <p:nvSpPr>
            <p:cNvPr id="4" name="Flecha: pentágono 3">
              <a:extLst>
                <a:ext uri="{FF2B5EF4-FFF2-40B4-BE49-F238E27FC236}">
                  <a16:creationId xmlns:a16="http://schemas.microsoft.com/office/drawing/2014/main" id="{673168E7-38B6-181E-9294-85325B658416}"/>
                </a:ext>
              </a:extLst>
            </p:cNvPr>
            <p:cNvSpPr/>
            <p:nvPr/>
          </p:nvSpPr>
          <p:spPr>
            <a:xfrm>
              <a:off x="4835484" y="761176"/>
              <a:ext cx="3150524" cy="459545"/>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CuadroTexto 16">
              <a:extLst>
                <a:ext uri="{FF2B5EF4-FFF2-40B4-BE49-F238E27FC236}">
                  <a16:creationId xmlns:a16="http://schemas.microsoft.com/office/drawing/2014/main" id="{A54F9998-9A4C-CC92-44A4-A3967EC8C3BB}"/>
                </a:ext>
              </a:extLst>
            </p:cNvPr>
            <p:cNvSpPr txBox="1"/>
            <p:nvPr/>
          </p:nvSpPr>
          <p:spPr>
            <a:xfrm>
              <a:off x="4834176" y="841762"/>
              <a:ext cx="4584468" cy="307777"/>
            </a:xfrm>
            <a:prstGeom prst="rect">
              <a:avLst/>
            </a:prstGeom>
            <a:noFill/>
          </p:spPr>
          <p:txBody>
            <a:bodyPr wrap="square">
              <a:spAutoFit/>
            </a:bodyPr>
            <a:lstStyle/>
            <a:p>
              <a:r>
                <a:rPr lang="es-MX" b="1" dirty="0"/>
                <a:t>Paso 1. Recolección e integración</a:t>
              </a:r>
            </a:p>
          </p:txBody>
        </p:sp>
      </p:grpSp>
      <p:grpSp>
        <p:nvGrpSpPr>
          <p:cNvPr id="16" name="Grupo 15">
            <a:extLst>
              <a:ext uri="{FF2B5EF4-FFF2-40B4-BE49-F238E27FC236}">
                <a16:creationId xmlns:a16="http://schemas.microsoft.com/office/drawing/2014/main" id="{AD3D1079-F70B-5E7F-15C9-9E1B0B0492E8}"/>
              </a:ext>
            </a:extLst>
          </p:cNvPr>
          <p:cNvGrpSpPr/>
          <p:nvPr/>
        </p:nvGrpSpPr>
        <p:grpSpPr>
          <a:xfrm>
            <a:off x="4825089" y="1830387"/>
            <a:ext cx="4584468" cy="459545"/>
            <a:chOff x="4767943" y="1807477"/>
            <a:chExt cx="4584468" cy="459545"/>
          </a:xfrm>
        </p:grpSpPr>
        <p:sp>
          <p:nvSpPr>
            <p:cNvPr id="6" name="Flecha: pentágono 5">
              <a:extLst>
                <a:ext uri="{FF2B5EF4-FFF2-40B4-BE49-F238E27FC236}">
                  <a16:creationId xmlns:a16="http://schemas.microsoft.com/office/drawing/2014/main" id="{6BAF8640-C7DF-DB3E-0371-3E4FC803748F}"/>
                </a:ext>
              </a:extLst>
            </p:cNvPr>
            <p:cNvSpPr/>
            <p:nvPr/>
          </p:nvSpPr>
          <p:spPr>
            <a:xfrm>
              <a:off x="4834176" y="1807477"/>
              <a:ext cx="3150524" cy="459545"/>
            </a:xfrm>
            <a:prstGeom prst="homePlate">
              <a:avLst/>
            </a:prstGeom>
            <a:solidFill>
              <a:srgbClr val="99DC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CuadroTexto 18">
              <a:extLst>
                <a:ext uri="{FF2B5EF4-FFF2-40B4-BE49-F238E27FC236}">
                  <a16:creationId xmlns:a16="http://schemas.microsoft.com/office/drawing/2014/main" id="{4932E579-FA8C-0921-DCBA-646C5B8C222B}"/>
                </a:ext>
              </a:extLst>
            </p:cNvPr>
            <p:cNvSpPr txBox="1"/>
            <p:nvPr/>
          </p:nvSpPr>
          <p:spPr>
            <a:xfrm>
              <a:off x="4767943" y="1897998"/>
              <a:ext cx="4584468" cy="307777"/>
            </a:xfrm>
            <a:prstGeom prst="rect">
              <a:avLst/>
            </a:prstGeom>
            <a:noFill/>
          </p:spPr>
          <p:txBody>
            <a:bodyPr wrap="square">
              <a:spAutoFit/>
            </a:bodyPr>
            <a:lstStyle/>
            <a:p>
              <a:r>
                <a:rPr lang="es-MX" b="1" dirty="0"/>
                <a:t>Paso 2. Construcción del Data Mart</a:t>
              </a:r>
            </a:p>
          </p:txBody>
        </p:sp>
      </p:grpSp>
      <p:grpSp>
        <p:nvGrpSpPr>
          <p:cNvPr id="18" name="Grupo 17">
            <a:extLst>
              <a:ext uri="{FF2B5EF4-FFF2-40B4-BE49-F238E27FC236}">
                <a16:creationId xmlns:a16="http://schemas.microsoft.com/office/drawing/2014/main" id="{581731B9-1088-5F99-81E6-7595AE45E0AA}"/>
              </a:ext>
            </a:extLst>
          </p:cNvPr>
          <p:cNvGrpSpPr/>
          <p:nvPr/>
        </p:nvGrpSpPr>
        <p:grpSpPr>
          <a:xfrm>
            <a:off x="4825089" y="2992155"/>
            <a:ext cx="4584468" cy="459545"/>
            <a:chOff x="4767943" y="2904816"/>
            <a:chExt cx="4584468" cy="459545"/>
          </a:xfrm>
        </p:grpSpPr>
        <p:sp>
          <p:nvSpPr>
            <p:cNvPr id="10" name="Flecha: pentágono 9">
              <a:extLst>
                <a:ext uri="{FF2B5EF4-FFF2-40B4-BE49-F238E27FC236}">
                  <a16:creationId xmlns:a16="http://schemas.microsoft.com/office/drawing/2014/main" id="{DE83831C-5058-EC25-2D1D-D56B18507E0A}"/>
                </a:ext>
              </a:extLst>
            </p:cNvPr>
            <p:cNvSpPr/>
            <p:nvPr/>
          </p:nvSpPr>
          <p:spPr>
            <a:xfrm>
              <a:off x="4834176" y="2904816"/>
              <a:ext cx="3150524" cy="459545"/>
            </a:xfrm>
            <a:prstGeom prst="homePlate">
              <a:avLst/>
            </a:prstGeom>
            <a:solidFill>
              <a:srgbClr val="9C54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CuadroTexto 20">
              <a:extLst>
                <a:ext uri="{FF2B5EF4-FFF2-40B4-BE49-F238E27FC236}">
                  <a16:creationId xmlns:a16="http://schemas.microsoft.com/office/drawing/2014/main" id="{34F9EC00-E952-D0D5-F43A-6DB62E69A539}"/>
                </a:ext>
              </a:extLst>
            </p:cNvPr>
            <p:cNvSpPr txBox="1"/>
            <p:nvPr/>
          </p:nvSpPr>
          <p:spPr>
            <a:xfrm>
              <a:off x="4767943" y="2995338"/>
              <a:ext cx="4584468" cy="307777"/>
            </a:xfrm>
            <a:prstGeom prst="rect">
              <a:avLst/>
            </a:prstGeom>
            <a:noFill/>
          </p:spPr>
          <p:txBody>
            <a:bodyPr wrap="square">
              <a:spAutoFit/>
            </a:bodyPr>
            <a:lstStyle/>
            <a:p>
              <a:r>
                <a:rPr lang="es-MX" b="1" dirty="0">
                  <a:solidFill>
                    <a:srgbClr val="F0E6FD"/>
                  </a:solidFill>
                </a:rPr>
                <a:t>Paso 3. Aplicación de Data </a:t>
              </a:r>
              <a:r>
                <a:rPr lang="es-MX" b="1" dirty="0" err="1">
                  <a:solidFill>
                    <a:srgbClr val="F0E6FD"/>
                  </a:solidFill>
                </a:rPr>
                <a:t>Mining</a:t>
              </a:r>
              <a:endParaRPr lang="es-MX" b="1" dirty="0">
                <a:solidFill>
                  <a:srgbClr val="F0E6FD"/>
                </a:solidFill>
              </a:endParaRPr>
            </a:p>
          </p:txBody>
        </p:sp>
      </p:grpSp>
      <p:grpSp>
        <p:nvGrpSpPr>
          <p:cNvPr id="20" name="Grupo 19">
            <a:extLst>
              <a:ext uri="{FF2B5EF4-FFF2-40B4-BE49-F238E27FC236}">
                <a16:creationId xmlns:a16="http://schemas.microsoft.com/office/drawing/2014/main" id="{3581E19E-B20B-2E96-BD5B-B08B9520B74F}"/>
              </a:ext>
            </a:extLst>
          </p:cNvPr>
          <p:cNvGrpSpPr/>
          <p:nvPr/>
        </p:nvGrpSpPr>
        <p:grpSpPr>
          <a:xfrm>
            <a:off x="4825089" y="4119619"/>
            <a:ext cx="4584468" cy="459545"/>
            <a:chOff x="4834176" y="4073338"/>
            <a:chExt cx="4584468" cy="459545"/>
          </a:xfrm>
        </p:grpSpPr>
        <p:sp>
          <p:nvSpPr>
            <p:cNvPr id="12" name="Flecha: pentágono 11">
              <a:extLst>
                <a:ext uri="{FF2B5EF4-FFF2-40B4-BE49-F238E27FC236}">
                  <a16:creationId xmlns:a16="http://schemas.microsoft.com/office/drawing/2014/main" id="{1EE9C652-0839-527B-C5DE-AD022E0F00BF}"/>
                </a:ext>
              </a:extLst>
            </p:cNvPr>
            <p:cNvSpPr/>
            <p:nvPr/>
          </p:nvSpPr>
          <p:spPr>
            <a:xfrm>
              <a:off x="4889396" y="4073338"/>
              <a:ext cx="3150524" cy="459545"/>
            </a:xfrm>
            <a:prstGeom prst="homePlate">
              <a:avLst/>
            </a:prstGeom>
            <a:solidFill>
              <a:srgbClr val="FBB1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91DA5755-9EC4-4276-E837-692FEE5EFAA5}"/>
                </a:ext>
              </a:extLst>
            </p:cNvPr>
            <p:cNvSpPr txBox="1"/>
            <p:nvPr/>
          </p:nvSpPr>
          <p:spPr>
            <a:xfrm>
              <a:off x="4834176" y="4153924"/>
              <a:ext cx="4584468" cy="307777"/>
            </a:xfrm>
            <a:prstGeom prst="rect">
              <a:avLst/>
            </a:prstGeom>
            <a:noFill/>
          </p:spPr>
          <p:txBody>
            <a:bodyPr wrap="square">
              <a:spAutoFit/>
            </a:bodyPr>
            <a:lstStyle/>
            <a:p>
              <a:r>
                <a:rPr lang="es-MX" b="1" dirty="0">
                  <a:solidFill>
                    <a:srgbClr val="F5F8FB"/>
                  </a:solidFill>
                </a:rPr>
                <a:t>Paso 4. Interpretación</a:t>
              </a:r>
            </a:p>
          </p:txBody>
        </p:sp>
      </p:grpSp>
    </p:spTree>
    <p:extLst>
      <p:ext uri="{BB962C8B-B14F-4D97-AF65-F5344CB8AC3E}">
        <p14:creationId xmlns:p14="http://schemas.microsoft.com/office/powerpoint/2010/main" val="358084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2488A70F-ACFA-837C-9EA3-68414E3A8BA4}"/>
            </a:ext>
          </a:extLst>
        </p:cNvPr>
        <p:cNvGrpSpPr/>
        <p:nvPr/>
      </p:nvGrpSpPr>
      <p:grpSpPr>
        <a:xfrm>
          <a:off x="0" y="0"/>
          <a:ext cx="0" cy="0"/>
          <a:chOff x="0" y="0"/>
          <a:chExt cx="0" cy="0"/>
        </a:xfrm>
      </p:grpSpPr>
      <p:grpSp>
        <p:nvGrpSpPr>
          <p:cNvPr id="2183" name="Google Shape;2183;p40">
            <a:extLst>
              <a:ext uri="{FF2B5EF4-FFF2-40B4-BE49-F238E27FC236}">
                <a16:creationId xmlns:a16="http://schemas.microsoft.com/office/drawing/2014/main" id="{FFB9F389-E7D7-CDF8-A78B-3BABBEE64506}"/>
              </a:ext>
            </a:extLst>
          </p:cNvPr>
          <p:cNvGrpSpPr/>
          <p:nvPr/>
        </p:nvGrpSpPr>
        <p:grpSpPr>
          <a:xfrm>
            <a:off x="1744008" y="3132028"/>
            <a:ext cx="175013" cy="27000"/>
            <a:chOff x="5662375" y="212375"/>
            <a:chExt cx="175013" cy="27000"/>
          </a:xfrm>
        </p:grpSpPr>
        <p:sp>
          <p:nvSpPr>
            <p:cNvPr id="2184" name="Google Shape;2184;p40">
              <a:extLst>
                <a:ext uri="{FF2B5EF4-FFF2-40B4-BE49-F238E27FC236}">
                  <a16:creationId xmlns:a16="http://schemas.microsoft.com/office/drawing/2014/main" id="{52D74F7A-BC91-8EFD-7062-8C122C042775}"/>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5" name="Google Shape;2185;p40">
              <a:extLst>
                <a:ext uri="{FF2B5EF4-FFF2-40B4-BE49-F238E27FC236}">
                  <a16:creationId xmlns:a16="http://schemas.microsoft.com/office/drawing/2014/main" id="{31940F63-7D5F-2DBD-DB8B-7FE46E5CA28B}"/>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6" name="Google Shape;2186;p40">
              <a:extLst>
                <a:ext uri="{FF2B5EF4-FFF2-40B4-BE49-F238E27FC236}">
                  <a16:creationId xmlns:a16="http://schemas.microsoft.com/office/drawing/2014/main" id="{C4E369E6-466D-0D4E-144B-E532688A0090}"/>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87" name="Google Shape;2187;p40">
            <a:extLst>
              <a:ext uri="{FF2B5EF4-FFF2-40B4-BE49-F238E27FC236}">
                <a16:creationId xmlns:a16="http://schemas.microsoft.com/office/drawing/2014/main" id="{F5DEC3EF-3478-88FC-E340-03D089D86C59}"/>
              </a:ext>
            </a:extLst>
          </p:cNvPr>
          <p:cNvGrpSpPr/>
          <p:nvPr/>
        </p:nvGrpSpPr>
        <p:grpSpPr>
          <a:xfrm>
            <a:off x="4446990" y="3159028"/>
            <a:ext cx="175013" cy="27000"/>
            <a:chOff x="5662375" y="212375"/>
            <a:chExt cx="175013" cy="27000"/>
          </a:xfrm>
        </p:grpSpPr>
        <p:sp>
          <p:nvSpPr>
            <p:cNvPr id="2188" name="Google Shape;2188;p40">
              <a:extLst>
                <a:ext uri="{FF2B5EF4-FFF2-40B4-BE49-F238E27FC236}">
                  <a16:creationId xmlns:a16="http://schemas.microsoft.com/office/drawing/2014/main" id="{99F4CC54-F5F0-C9D6-D261-3ED885DD6BD5}"/>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9" name="Google Shape;2189;p40">
              <a:extLst>
                <a:ext uri="{FF2B5EF4-FFF2-40B4-BE49-F238E27FC236}">
                  <a16:creationId xmlns:a16="http://schemas.microsoft.com/office/drawing/2014/main" id="{E93DBF6F-BAD9-0548-853F-7B97F6657B91}"/>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0" name="Google Shape;2190;p40">
              <a:extLst>
                <a:ext uri="{FF2B5EF4-FFF2-40B4-BE49-F238E27FC236}">
                  <a16:creationId xmlns:a16="http://schemas.microsoft.com/office/drawing/2014/main" id="{05F99A14-93E1-25A7-3086-B548BE4462FA}"/>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91" name="Google Shape;2191;p40">
            <a:extLst>
              <a:ext uri="{FF2B5EF4-FFF2-40B4-BE49-F238E27FC236}">
                <a16:creationId xmlns:a16="http://schemas.microsoft.com/office/drawing/2014/main" id="{79FCB0AB-5C3A-C213-6C71-5D18E3ED1EFA}"/>
              </a:ext>
            </a:extLst>
          </p:cNvPr>
          <p:cNvGrpSpPr/>
          <p:nvPr/>
        </p:nvGrpSpPr>
        <p:grpSpPr>
          <a:xfrm>
            <a:off x="7128002" y="3186028"/>
            <a:ext cx="175013" cy="27000"/>
            <a:chOff x="5662375" y="212375"/>
            <a:chExt cx="175013" cy="27000"/>
          </a:xfrm>
        </p:grpSpPr>
        <p:sp>
          <p:nvSpPr>
            <p:cNvPr id="2192" name="Google Shape;2192;p40">
              <a:extLst>
                <a:ext uri="{FF2B5EF4-FFF2-40B4-BE49-F238E27FC236}">
                  <a16:creationId xmlns:a16="http://schemas.microsoft.com/office/drawing/2014/main" id="{464B87BE-2BD4-5BC7-5BEF-BDFB98D9277E}"/>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3" name="Google Shape;2193;p40">
              <a:extLst>
                <a:ext uri="{FF2B5EF4-FFF2-40B4-BE49-F238E27FC236}">
                  <a16:creationId xmlns:a16="http://schemas.microsoft.com/office/drawing/2014/main" id="{B3308B02-E6A3-D3B1-1CB3-6B3DCA7D4F8C}"/>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4" name="Google Shape;2194;p40">
              <a:extLst>
                <a:ext uri="{FF2B5EF4-FFF2-40B4-BE49-F238E27FC236}">
                  <a16:creationId xmlns:a16="http://schemas.microsoft.com/office/drawing/2014/main" id="{DFEC7D50-D20A-F47F-29B1-D1D06C777870}"/>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1" name="Google Shape;2241;p42">
            <a:extLst>
              <a:ext uri="{FF2B5EF4-FFF2-40B4-BE49-F238E27FC236}">
                <a16:creationId xmlns:a16="http://schemas.microsoft.com/office/drawing/2014/main" id="{E6C486CF-20F2-687A-121B-BC8AE569DECD}"/>
              </a:ext>
            </a:extLst>
          </p:cNvPr>
          <p:cNvSpPr txBox="1">
            <a:spLocks noGrp="1"/>
          </p:cNvSpPr>
          <p:nvPr>
            <p:ph type="title"/>
          </p:nvPr>
        </p:nvSpPr>
        <p:spPr>
          <a:xfrm>
            <a:off x="1631102" y="322797"/>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dirty="0">
                <a:solidFill>
                  <a:schemeClr val="accent1"/>
                </a:solidFill>
              </a:rPr>
              <a:t>Actividad</a:t>
            </a:r>
            <a:endParaRPr sz="2800" b="1" dirty="0">
              <a:solidFill>
                <a:schemeClr val="accent1"/>
              </a:solidFill>
            </a:endParaRPr>
          </a:p>
        </p:txBody>
      </p:sp>
      <p:sp>
        <p:nvSpPr>
          <p:cNvPr id="3" name="CuadroTexto 2">
            <a:extLst>
              <a:ext uri="{FF2B5EF4-FFF2-40B4-BE49-F238E27FC236}">
                <a16:creationId xmlns:a16="http://schemas.microsoft.com/office/drawing/2014/main" id="{9C9FA3D1-0AC9-D1A6-F3B8-A436340FAF68}"/>
              </a:ext>
            </a:extLst>
          </p:cNvPr>
          <p:cNvSpPr txBox="1"/>
          <p:nvPr/>
        </p:nvSpPr>
        <p:spPr>
          <a:xfrm>
            <a:off x="2160990" y="895497"/>
            <a:ext cx="5686010" cy="4093428"/>
          </a:xfrm>
          <a:prstGeom prst="rect">
            <a:avLst/>
          </a:prstGeom>
          <a:noFill/>
        </p:spPr>
        <p:txBody>
          <a:bodyPr wrap="square">
            <a:spAutoFit/>
          </a:bodyPr>
          <a:lstStyle/>
          <a:p>
            <a:pPr fontAlgn="t">
              <a:lnSpc>
                <a:spcPct val="100000"/>
              </a:lnSpc>
              <a:buNone/>
            </a:pPr>
            <a:r>
              <a:rPr lang="es-MX" sz="2000" b="1" i="0" dirty="0">
                <a:effectLst/>
                <a:latin typeface="ADLaM Display" panose="02010000000000000000" pitchFamily="2" charset="0"/>
                <a:ea typeface="ADLaM Display" panose="02010000000000000000" pitchFamily="2" charset="0"/>
                <a:cs typeface="ADLaM Display" panose="02010000000000000000" pitchFamily="2" charset="0"/>
              </a:rPr>
              <a:t>Analizar el siguiente escenario</a:t>
            </a:r>
          </a:p>
          <a:p>
            <a:pPr fontAlgn="t">
              <a:lnSpc>
                <a:spcPct val="100000"/>
              </a:lnSpc>
              <a:buNone/>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Una cadena de tiendas tiene:</a:t>
            </a:r>
          </a:p>
          <a:p>
            <a:pPr marL="342900" lvl="0" indent="-342900" fontAlgn="t">
              <a:lnSpc>
                <a:spcPct val="100000"/>
              </a:lnSpc>
              <a:buFont typeface="Arial" panose="020B0604020202020204" pitchFamily="34" charset="0"/>
              <a:buChar char="•"/>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Ventas</a:t>
            </a:r>
          </a:p>
          <a:p>
            <a:pPr marL="342900" lvl="0" indent="-342900" fontAlgn="t">
              <a:lnSpc>
                <a:spcPct val="100000"/>
              </a:lnSpc>
              <a:buFont typeface="Arial" panose="020B0604020202020204" pitchFamily="34" charset="0"/>
              <a:buChar char="•"/>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Clientes</a:t>
            </a:r>
          </a:p>
          <a:p>
            <a:pPr marL="342900" lvl="0" indent="-342900" fontAlgn="t">
              <a:lnSpc>
                <a:spcPct val="100000"/>
              </a:lnSpc>
              <a:buFont typeface="Arial" panose="020B0604020202020204" pitchFamily="34" charset="0"/>
              <a:buChar char="•"/>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Productos</a:t>
            </a:r>
          </a:p>
          <a:p>
            <a:pPr marL="342900" lvl="0" indent="-342900" fontAlgn="t">
              <a:lnSpc>
                <a:spcPct val="100000"/>
              </a:lnSpc>
              <a:buFont typeface="Arial" panose="020B0604020202020204" pitchFamily="34" charset="0"/>
              <a:buChar char="•"/>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Inventarios</a:t>
            </a:r>
          </a:p>
          <a:p>
            <a:pPr lvl="0" fontAlgn="t">
              <a:lnSpc>
                <a:spcPct val="100000"/>
              </a:lnSpc>
            </a:pPr>
            <a:endParaRPr lang="es-MX" sz="2000" b="0" i="0" dirty="0">
              <a:effectLst/>
              <a:latin typeface="ADLaM Display" panose="02010000000000000000" pitchFamily="2" charset="0"/>
              <a:ea typeface="ADLaM Display" panose="02010000000000000000" pitchFamily="2" charset="0"/>
              <a:cs typeface="ADLaM Display" panose="02010000000000000000" pitchFamily="2" charset="0"/>
            </a:endParaRPr>
          </a:p>
          <a:p>
            <a:pPr fontAlgn="t">
              <a:lnSpc>
                <a:spcPct val="100000"/>
              </a:lnSpc>
              <a:buNone/>
            </a:pPr>
            <a:r>
              <a:rPr lang="es-MX" sz="2000" b="1" i="0" dirty="0">
                <a:effectLst/>
                <a:latin typeface="ADLaM Display" panose="02010000000000000000" pitchFamily="2" charset="0"/>
                <a:ea typeface="ADLaM Display" panose="02010000000000000000" pitchFamily="2" charset="0"/>
                <a:cs typeface="ADLaM Display" panose="02010000000000000000" pitchFamily="2" charset="0"/>
              </a:rPr>
              <a:t>Preguntas</a:t>
            </a:r>
          </a:p>
          <a:p>
            <a:pPr marL="342900" lvl="0" indent="-342900" fontAlgn="t">
              <a:lnSpc>
                <a:spcPct val="100000"/>
              </a:lnSpc>
              <a:buFont typeface="+mj-lt"/>
              <a:buAutoNum type="arabicPeriod"/>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¿Qué Data Mart construirías?</a:t>
            </a:r>
          </a:p>
          <a:p>
            <a:pPr marL="342900" lvl="0" indent="-342900" fontAlgn="t">
              <a:lnSpc>
                <a:spcPct val="100000"/>
              </a:lnSpc>
              <a:buFont typeface="+mj-lt"/>
              <a:buAutoNum type="arabicPeriod"/>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¿Qué información incluirías?</a:t>
            </a:r>
          </a:p>
          <a:p>
            <a:pPr marL="342900" lvl="0" indent="-342900" fontAlgn="t">
              <a:lnSpc>
                <a:spcPct val="100000"/>
              </a:lnSpc>
              <a:buFont typeface="+mj-lt"/>
              <a:buAutoNum type="arabicPeriod"/>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¿Qué técnica de Data </a:t>
            </a:r>
            <a:r>
              <a:rPr lang="es-MX" sz="2000" b="0" i="0" dirty="0" err="1">
                <a:effectLst/>
                <a:latin typeface="ADLaM Display" panose="02010000000000000000" pitchFamily="2" charset="0"/>
                <a:ea typeface="ADLaM Display" panose="02010000000000000000" pitchFamily="2" charset="0"/>
                <a:cs typeface="ADLaM Display" panose="02010000000000000000" pitchFamily="2" charset="0"/>
              </a:rPr>
              <a:t>Mining</a:t>
            </a: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 aplicarías?</a:t>
            </a:r>
          </a:p>
          <a:p>
            <a:pPr marL="342900" lvl="0" indent="-342900" fontAlgn="t">
              <a:lnSpc>
                <a:spcPct val="100000"/>
              </a:lnSpc>
              <a:buFont typeface="+mj-lt"/>
              <a:buAutoNum type="arabicPeriod"/>
            </a:pPr>
            <a:r>
              <a:rPr lang="es-MX" sz="2000" b="0" i="0" dirty="0">
                <a:effectLst/>
                <a:latin typeface="ADLaM Display" panose="02010000000000000000" pitchFamily="2" charset="0"/>
                <a:ea typeface="ADLaM Display" panose="02010000000000000000" pitchFamily="2" charset="0"/>
                <a:cs typeface="ADLaM Display" panose="02010000000000000000" pitchFamily="2" charset="0"/>
              </a:rPr>
              <a:t>¿Qué decisiones podrían tomarse con esos resultados?</a:t>
            </a:r>
          </a:p>
        </p:txBody>
      </p:sp>
    </p:spTree>
    <p:extLst>
      <p:ext uri="{BB962C8B-B14F-4D97-AF65-F5344CB8AC3E}">
        <p14:creationId xmlns:p14="http://schemas.microsoft.com/office/powerpoint/2010/main" val="811678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BE71E3A2-94B1-CCD3-0B84-5A17403A819A}"/>
            </a:ext>
          </a:extLst>
        </p:cNvPr>
        <p:cNvGrpSpPr/>
        <p:nvPr/>
      </p:nvGrpSpPr>
      <p:grpSpPr>
        <a:xfrm>
          <a:off x="0" y="0"/>
          <a:ext cx="0" cy="0"/>
          <a:chOff x="0" y="0"/>
          <a:chExt cx="0" cy="0"/>
        </a:xfrm>
      </p:grpSpPr>
      <p:grpSp>
        <p:nvGrpSpPr>
          <p:cNvPr id="2183" name="Google Shape;2183;p40">
            <a:extLst>
              <a:ext uri="{FF2B5EF4-FFF2-40B4-BE49-F238E27FC236}">
                <a16:creationId xmlns:a16="http://schemas.microsoft.com/office/drawing/2014/main" id="{C2355764-7359-51AF-F92E-E6F36D2E7A4E}"/>
              </a:ext>
            </a:extLst>
          </p:cNvPr>
          <p:cNvGrpSpPr/>
          <p:nvPr/>
        </p:nvGrpSpPr>
        <p:grpSpPr>
          <a:xfrm>
            <a:off x="1744008" y="3132028"/>
            <a:ext cx="175013" cy="27000"/>
            <a:chOff x="5662375" y="212375"/>
            <a:chExt cx="175013" cy="27000"/>
          </a:xfrm>
        </p:grpSpPr>
        <p:sp>
          <p:nvSpPr>
            <p:cNvPr id="2184" name="Google Shape;2184;p40">
              <a:extLst>
                <a:ext uri="{FF2B5EF4-FFF2-40B4-BE49-F238E27FC236}">
                  <a16:creationId xmlns:a16="http://schemas.microsoft.com/office/drawing/2014/main" id="{BB278C65-CD92-2448-012D-989B9E6926AB}"/>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5" name="Google Shape;2185;p40">
              <a:extLst>
                <a:ext uri="{FF2B5EF4-FFF2-40B4-BE49-F238E27FC236}">
                  <a16:creationId xmlns:a16="http://schemas.microsoft.com/office/drawing/2014/main" id="{01A8EA17-D6C6-DF60-7513-AC4AC87A00A1}"/>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6" name="Google Shape;2186;p40">
              <a:extLst>
                <a:ext uri="{FF2B5EF4-FFF2-40B4-BE49-F238E27FC236}">
                  <a16:creationId xmlns:a16="http://schemas.microsoft.com/office/drawing/2014/main" id="{CA402500-C392-1433-2A82-05F4B93BD226}"/>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87" name="Google Shape;2187;p40">
            <a:extLst>
              <a:ext uri="{FF2B5EF4-FFF2-40B4-BE49-F238E27FC236}">
                <a16:creationId xmlns:a16="http://schemas.microsoft.com/office/drawing/2014/main" id="{96C7787D-48CE-C411-C568-B0E2D9BDE1E9}"/>
              </a:ext>
            </a:extLst>
          </p:cNvPr>
          <p:cNvGrpSpPr/>
          <p:nvPr/>
        </p:nvGrpSpPr>
        <p:grpSpPr>
          <a:xfrm>
            <a:off x="4446990" y="3159028"/>
            <a:ext cx="175013" cy="27000"/>
            <a:chOff x="5662375" y="212375"/>
            <a:chExt cx="175013" cy="27000"/>
          </a:xfrm>
        </p:grpSpPr>
        <p:sp>
          <p:nvSpPr>
            <p:cNvPr id="2188" name="Google Shape;2188;p40">
              <a:extLst>
                <a:ext uri="{FF2B5EF4-FFF2-40B4-BE49-F238E27FC236}">
                  <a16:creationId xmlns:a16="http://schemas.microsoft.com/office/drawing/2014/main" id="{1970F928-3431-5039-EF5D-E83C917E7E01}"/>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9" name="Google Shape;2189;p40">
              <a:extLst>
                <a:ext uri="{FF2B5EF4-FFF2-40B4-BE49-F238E27FC236}">
                  <a16:creationId xmlns:a16="http://schemas.microsoft.com/office/drawing/2014/main" id="{51AA41DC-FDD3-23FB-3692-6D3F2AAAC84B}"/>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0" name="Google Shape;2190;p40">
              <a:extLst>
                <a:ext uri="{FF2B5EF4-FFF2-40B4-BE49-F238E27FC236}">
                  <a16:creationId xmlns:a16="http://schemas.microsoft.com/office/drawing/2014/main" id="{1B0F5428-BD90-8539-EC12-046F71B487D7}"/>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91" name="Google Shape;2191;p40">
            <a:extLst>
              <a:ext uri="{FF2B5EF4-FFF2-40B4-BE49-F238E27FC236}">
                <a16:creationId xmlns:a16="http://schemas.microsoft.com/office/drawing/2014/main" id="{92BDAB27-ABA4-7069-76A0-FF16B5C4C1EB}"/>
              </a:ext>
            </a:extLst>
          </p:cNvPr>
          <p:cNvGrpSpPr/>
          <p:nvPr/>
        </p:nvGrpSpPr>
        <p:grpSpPr>
          <a:xfrm>
            <a:off x="7128002" y="3186028"/>
            <a:ext cx="175013" cy="27000"/>
            <a:chOff x="5662375" y="212375"/>
            <a:chExt cx="175013" cy="27000"/>
          </a:xfrm>
        </p:grpSpPr>
        <p:sp>
          <p:nvSpPr>
            <p:cNvPr id="2192" name="Google Shape;2192;p40">
              <a:extLst>
                <a:ext uri="{FF2B5EF4-FFF2-40B4-BE49-F238E27FC236}">
                  <a16:creationId xmlns:a16="http://schemas.microsoft.com/office/drawing/2014/main" id="{2E732870-9AF5-0E81-AB3F-899F2DF176FD}"/>
                </a:ext>
              </a:extLst>
            </p:cNvPr>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3" name="Google Shape;2193;p40">
              <a:extLst>
                <a:ext uri="{FF2B5EF4-FFF2-40B4-BE49-F238E27FC236}">
                  <a16:creationId xmlns:a16="http://schemas.microsoft.com/office/drawing/2014/main" id="{FCF691AD-8BA0-591D-AC0C-62A13AD389F9}"/>
                </a:ext>
              </a:extLst>
            </p:cNvPr>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4" name="Google Shape;2194;p40">
              <a:extLst>
                <a:ext uri="{FF2B5EF4-FFF2-40B4-BE49-F238E27FC236}">
                  <a16:creationId xmlns:a16="http://schemas.microsoft.com/office/drawing/2014/main" id="{FAAC5A34-E76F-E30B-4F98-99613C17FD7B}"/>
                </a:ext>
              </a:extLst>
            </p:cNvPr>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1" name="Google Shape;2241;p42">
            <a:extLst>
              <a:ext uri="{FF2B5EF4-FFF2-40B4-BE49-F238E27FC236}">
                <a16:creationId xmlns:a16="http://schemas.microsoft.com/office/drawing/2014/main" id="{8FE4C0CC-9AC8-CC20-41E6-B5E3BE8E4F5C}"/>
              </a:ext>
            </a:extLst>
          </p:cNvPr>
          <p:cNvSpPr txBox="1">
            <a:spLocks noGrp="1"/>
          </p:cNvSpPr>
          <p:nvPr>
            <p:ph type="title"/>
          </p:nvPr>
        </p:nvSpPr>
        <p:spPr>
          <a:xfrm>
            <a:off x="1698540" y="-83603"/>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dirty="0">
                <a:solidFill>
                  <a:schemeClr val="accent1"/>
                </a:solidFill>
              </a:rPr>
              <a:t>Solución</a:t>
            </a:r>
            <a:endParaRPr sz="2800" b="1" dirty="0">
              <a:solidFill>
                <a:schemeClr val="accent1"/>
              </a:solidFill>
            </a:endParaRPr>
          </a:p>
        </p:txBody>
      </p:sp>
      <p:graphicFrame>
        <p:nvGraphicFramePr>
          <p:cNvPr id="4" name="Tabla 3">
            <a:extLst>
              <a:ext uri="{FF2B5EF4-FFF2-40B4-BE49-F238E27FC236}">
                <a16:creationId xmlns:a16="http://schemas.microsoft.com/office/drawing/2014/main" id="{86B4CDCC-C0EC-0EFF-647C-456739FD3F15}"/>
              </a:ext>
            </a:extLst>
          </p:cNvPr>
          <p:cNvGraphicFramePr>
            <a:graphicFrameLocks noGrp="1"/>
          </p:cNvGraphicFramePr>
          <p:nvPr>
            <p:extLst>
              <p:ext uri="{D42A27DB-BD31-4B8C-83A1-F6EECF244321}">
                <p14:modId xmlns:p14="http://schemas.microsoft.com/office/powerpoint/2010/main" val="1931496408"/>
              </p:ext>
            </p:extLst>
          </p:nvPr>
        </p:nvGraphicFramePr>
        <p:xfrm>
          <a:off x="1449070" y="489097"/>
          <a:ext cx="6786880" cy="4029596"/>
        </p:xfrm>
        <a:graphic>
          <a:graphicData uri="http://schemas.openxmlformats.org/drawingml/2006/table">
            <a:tbl>
              <a:tblPr>
                <a:tableStyleId>{B3E9E1F4-964A-4C0C-AB1B-2E9AAE976577}</a:tableStyleId>
              </a:tblPr>
              <a:tblGrid>
                <a:gridCol w="3395040">
                  <a:extLst>
                    <a:ext uri="{9D8B030D-6E8A-4147-A177-3AD203B41FA5}">
                      <a16:colId xmlns:a16="http://schemas.microsoft.com/office/drawing/2014/main" val="2737466741"/>
                    </a:ext>
                  </a:extLst>
                </a:gridCol>
                <a:gridCol w="3391840">
                  <a:extLst>
                    <a:ext uri="{9D8B030D-6E8A-4147-A177-3AD203B41FA5}">
                      <a16:colId xmlns:a16="http://schemas.microsoft.com/office/drawing/2014/main" val="3197495703"/>
                    </a:ext>
                  </a:extLst>
                </a:gridCol>
              </a:tblGrid>
              <a:tr h="207357">
                <a:tc>
                  <a:txBody>
                    <a:bodyPr/>
                    <a:lstStyle/>
                    <a:p>
                      <a:pPr algn="ctr">
                        <a:buNone/>
                      </a:pPr>
                      <a:r>
                        <a:rPr lang="es-MX" sz="1600" dirty="0">
                          <a:latin typeface="ADLaM Display" panose="02010000000000000000" pitchFamily="2" charset="0"/>
                          <a:ea typeface="ADLaM Display" panose="02010000000000000000" pitchFamily="2" charset="0"/>
                          <a:cs typeface="ADLaM Display" panose="02010000000000000000" pitchFamily="2" charset="0"/>
                        </a:rPr>
                        <a:t>Pregunta</a:t>
                      </a:r>
                    </a:p>
                  </a:txBody>
                  <a:tcPr marL="46604" marR="46604" marT="23302" marB="23302" anchor="ctr">
                    <a:solidFill>
                      <a:schemeClr val="accent2"/>
                    </a:solidFill>
                  </a:tcPr>
                </a:tc>
                <a:tc>
                  <a:txBody>
                    <a:bodyPr/>
                    <a:lstStyle/>
                    <a:p>
                      <a:pPr algn="ctr">
                        <a:buNone/>
                      </a:pPr>
                      <a:r>
                        <a:rPr lang="es-MX" sz="1600" dirty="0">
                          <a:latin typeface="ADLaM Display" panose="02010000000000000000" pitchFamily="2" charset="0"/>
                          <a:ea typeface="ADLaM Display" panose="02010000000000000000" pitchFamily="2" charset="0"/>
                          <a:cs typeface="ADLaM Display" panose="02010000000000000000" pitchFamily="2" charset="0"/>
                        </a:rPr>
                        <a:t>Respuesta</a:t>
                      </a:r>
                    </a:p>
                  </a:txBody>
                  <a:tcPr marL="46604" marR="46604" marT="23302" marB="23302" anchor="ctr">
                    <a:solidFill>
                      <a:schemeClr val="accent2"/>
                    </a:solidFill>
                  </a:tcPr>
                </a:tc>
                <a:extLst>
                  <a:ext uri="{0D108BD9-81ED-4DB2-BD59-A6C34878D82A}">
                    <a16:rowId xmlns:a16="http://schemas.microsoft.com/office/drawing/2014/main" val="2985443486"/>
                  </a:ext>
                </a:extLst>
              </a:tr>
              <a:tr h="352507">
                <a:tc>
                  <a:txBody>
                    <a:bodyPr/>
                    <a:lstStyle/>
                    <a:p>
                      <a:pPr>
                        <a:buNone/>
                      </a:pPr>
                      <a:r>
                        <a:rPr lang="es-MX" sz="1600" dirty="0">
                          <a:latin typeface="ADLaM Display" panose="02010000000000000000" pitchFamily="2" charset="0"/>
                          <a:ea typeface="ADLaM Display" panose="02010000000000000000" pitchFamily="2" charset="0"/>
                          <a:cs typeface="ADLaM Display" panose="02010000000000000000" pitchFamily="2" charset="0"/>
                        </a:rPr>
                        <a:t>Data Mart a construir</a:t>
                      </a:r>
                    </a:p>
                  </a:txBody>
                  <a:tcPr marL="46604" marR="46604" marT="23302" marB="23302" anchor="ctr"/>
                </a:tc>
                <a:tc>
                  <a:txBody>
                    <a:bodyPr/>
                    <a:lstStyle/>
                    <a:p>
                      <a:pPr>
                        <a:buNone/>
                      </a:pPr>
                      <a:r>
                        <a:rPr lang="es-MX" sz="1200" dirty="0">
                          <a:latin typeface="ADLaM Display" panose="02010000000000000000" pitchFamily="2" charset="0"/>
                          <a:ea typeface="ADLaM Display" panose="02010000000000000000" pitchFamily="2" charset="0"/>
                          <a:cs typeface="ADLaM Display" panose="02010000000000000000" pitchFamily="2" charset="0"/>
                        </a:rPr>
                        <a:t>Data Mart de Ventas para analizar clientes, productos, ventas e inventarios.</a:t>
                      </a:r>
                    </a:p>
                  </a:txBody>
                  <a:tcPr marL="46604" marR="46604" marT="23302" marB="23302" anchor="ctr"/>
                </a:tc>
                <a:extLst>
                  <a:ext uri="{0D108BD9-81ED-4DB2-BD59-A6C34878D82A}">
                    <a16:rowId xmlns:a16="http://schemas.microsoft.com/office/drawing/2014/main" val="1747873171"/>
                  </a:ext>
                </a:extLst>
              </a:tr>
              <a:tr h="1127733">
                <a:tc>
                  <a:txBody>
                    <a:bodyPr/>
                    <a:lstStyle/>
                    <a:p>
                      <a:pPr>
                        <a:buNone/>
                      </a:pPr>
                      <a:r>
                        <a:rPr lang="es-MX" sz="1600" dirty="0">
                          <a:latin typeface="ADLaM Display" panose="02010000000000000000" pitchFamily="2" charset="0"/>
                          <a:ea typeface="ADLaM Display" panose="02010000000000000000" pitchFamily="2" charset="0"/>
                          <a:cs typeface="ADLaM Display" panose="02010000000000000000" pitchFamily="2" charset="0"/>
                        </a:rPr>
                        <a:t>Información incluida</a:t>
                      </a:r>
                    </a:p>
                  </a:txBody>
                  <a:tcPr marL="46604" marR="46604" marT="23302" marB="23302" anchor="ctr"/>
                </a:tc>
                <a:tc>
                  <a:txBody>
                    <a:bodyPr/>
                    <a:lstStyle/>
                    <a:p>
                      <a:pPr>
                        <a:buNone/>
                      </a:pPr>
                      <a:r>
                        <a:rPr lang="es-MX" sz="1200" dirty="0">
                          <a:latin typeface="ADLaM Display" panose="02010000000000000000" pitchFamily="2" charset="0"/>
                          <a:ea typeface="ADLaM Display" panose="02010000000000000000" pitchFamily="2" charset="0"/>
                          <a:cs typeface="ADLaM Display" panose="02010000000000000000" pitchFamily="2" charset="0"/>
                        </a:rPr>
                        <a:t>• Fecha de venta                       • Producto</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Categoría                                • Cliente</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Cantidad                                 • Precio</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Descuento                              • Sucursal</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Importe total</a:t>
                      </a:r>
                    </a:p>
                  </a:txBody>
                  <a:tcPr marL="46604" marR="46604" marT="23302" marB="23302" anchor="ctr"/>
                </a:tc>
                <a:extLst>
                  <a:ext uri="{0D108BD9-81ED-4DB2-BD59-A6C34878D82A}">
                    <a16:rowId xmlns:a16="http://schemas.microsoft.com/office/drawing/2014/main" val="275557340"/>
                  </a:ext>
                </a:extLst>
              </a:tr>
              <a:tr h="642807">
                <a:tc>
                  <a:txBody>
                    <a:bodyPr/>
                    <a:lstStyle/>
                    <a:p>
                      <a:pPr>
                        <a:buNone/>
                      </a:pPr>
                      <a:r>
                        <a:rPr lang="es-MX" sz="1600" dirty="0">
                          <a:latin typeface="ADLaM Display" panose="02010000000000000000" pitchFamily="2" charset="0"/>
                          <a:ea typeface="ADLaM Display" panose="02010000000000000000" pitchFamily="2" charset="0"/>
                          <a:cs typeface="ADLaM Display" panose="02010000000000000000" pitchFamily="2" charset="0"/>
                        </a:rPr>
                        <a:t> </a:t>
                      </a:r>
                    </a:p>
                  </a:txBody>
                  <a:tcPr marL="46604" marR="46604" marT="23302" marB="23302" anchor="ctr"/>
                </a:tc>
                <a:tc>
                  <a:txBody>
                    <a:bodyPr/>
                    <a:lstStyle/>
                    <a:p>
                      <a:pPr>
                        <a:buNone/>
                      </a:pPr>
                      <a:r>
                        <a:rPr lang="es-MX" sz="1200" dirty="0">
                          <a:latin typeface="ADLaM Display" panose="02010000000000000000" pitchFamily="2" charset="0"/>
                          <a:ea typeface="ADLaM Display" panose="02010000000000000000" pitchFamily="2" charset="0"/>
                          <a:cs typeface="ADLaM Display" panose="02010000000000000000" pitchFamily="2" charset="0"/>
                        </a:rPr>
                        <a:t>⏰ Tiempo                             👤 Cliente</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Producto                           🏪 Tienda</a:t>
                      </a:r>
                    </a:p>
                  </a:txBody>
                  <a:tcPr marL="46604" marR="46604" marT="23302" marB="23302" anchor="ctr"/>
                </a:tc>
                <a:extLst>
                  <a:ext uri="{0D108BD9-81ED-4DB2-BD59-A6C34878D82A}">
                    <a16:rowId xmlns:a16="http://schemas.microsoft.com/office/drawing/2014/main" val="2515630405"/>
                  </a:ext>
                </a:extLst>
              </a:tr>
              <a:tr h="352507">
                <a:tc>
                  <a:txBody>
                    <a:bodyPr/>
                    <a:lstStyle/>
                    <a:p>
                      <a:pPr>
                        <a:buNone/>
                      </a:pPr>
                      <a:r>
                        <a:rPr lang="es-MX" sz="1600" dirty="0">
                          <a:latin typeface="ADLaM Display" panose="02010000000000000000" pitchFamily="2" charset="0"/>
                          <a:ea typeface="ADLaM Display" panose="02010000000000000000" pitchFamily="2" charset="0"/>
                          <a:cs typeface="ADLaM Display" panose="02010000000000000000" pitchFamily="2" charset="0"/>
                        </a:rPr>
                        <a:t>Técnica de Data </a:t>
                      </a:r>
                      <a:r>
                        <a:rPr lang="es-MX" sz="1600" dirty="0" err="1">
                          <a:latin typeface="ADLaM Display" panose="02010000000000000000" pitchFamily="2" charset="0"/>
                          <a:ea typeface="ADLaM Display" panose="02010000000000000000" pitchFamily="2" charset="0"/>
                          <a:cs typeface="ADLaM Display" panose="02010000000000000000" pitchFamily="2" charset="0"/>
                        </a:rPr>
                        <a:t>Mining</a:t>
                      </a:r>
                      <a:endParaRPr lang="es-MX" sz="1600" dirty="0">
                        <a:latin typeface="ADLaM Display" panose="02010000000000000000" pitchFamily="2" charset="0"/>
                        <a:ea typeface="ADLaM Display" panose="02010000000000000000" pitchFamily="2" charset="0"/>
                        <a:cs typeface="ADLaM Display" panose="02010000000000000000" pitchFamily="2" charset="0"/>
                      </a:endParaRPr>
                    </a:p>
                  </a:txBody>
                  <a:tcPr marL="46604" marR="46604" marT="23302" marB="23302" anchor="ctr"/>
                </a:tc>
                <a:tc>
                  <a:txBody>
                    <a:bodyPr/>
                    <a:lstStyle/>
                    <a:p>
                      <a:pPr>
                        <a:buNone/>
                      </a:pPr>
                      <a:r>
                        <a:rPr lang="es-MX" sz="1200" dirty="0">
                          <a:latin typeface="ADLaM Display" panose="02010000000000000000" pitchFamily="2" charset="0"/>
                          <a:ea typeface="ADLaM Display" panose="02010000000000000000" pitchFamily="2" charset="0"/>
                          <a:cs typeface="ADLaM Display" panose="02010000000000000000" pitchFamily="2" charset="0"/>
                        </a:rPr>
                        <a:t>Asociación (Market Basket </a:t>
                      </a:r>
                      <a:r>
                        <a:rPr lang="es-MX" sz="1200" dirty="0" err="1">
                          <a:latin typeface="ADLaM Display" panose="02010000000000000000" pitchFamily="2" charset="0"/>
                          <a:ea typeface="ADLaM Display" panose="02010000000000000000" pitchFamily="2" charset="0"/>
                          <a:cs typeface="ADLaM Display" panose="02010000000000000000" pitchFamily="2" charset="0"/>
                        </a:rPr>
                        <a:t>Analysis</a:t>
                      </a:r>
                      <a:r>
                        <a:rPr lang="es-MX" sz="1200" dirty="0">
                          <a:latin typeface="ADLaM Display" panose="02010000000000000000" pitchFamily="2" charset="0"/>
                          <a:ea typeface="ADLaM Display" panose="02010000000000000000" pitchFamily="2" charset="0"/>
                          <a:cs typeface="ADLaM Display" panose="02010000000000000000" pitchFamily="2" charset="0"/>
                        </a:rPr>
                        <a:t>) para identificar productos que se compran juntos.</a:t>
                      </a:r>
                    </a:p>
                  </a:txBody>
                  <a:tcPr marL="46604" marR="46604" marT="23302" marB="23302" anchor="ctr"/>
                </a:tc>
                <a:extLst>
                  <a:ext uri="{0D108BD9-81ED-4DB2-BD59-A6C34878D82A}">
                    <a16:rowId xmlns:a16="http://schemas.microsoft.com/office/drawing/2014/main" val="246039251"/>
                  </a:ext>
                </a:extLst>
              </a:tr>
              <a:tr h="933108">
                <a:tc>
                  <a:txBody>
                    <a:bodyPr/>
                    <a:lstStyle/>
                    <a:p>
                      <a:pPr>
                        <a:buNone/>
                      </a:pPr>
                      <a:r>
                        <a:rPr lang="es-MX" sz="1600" dirty="0">
                          <a:latin typeface="ADLaM Display" panose="02010000000000000000" pitchFamily="2" charset="0"/>
                          <a:ea typeface="ADLaM Display" panose="02010000000000000000" pitchFamily="2" charset="0"/>
                          <a:cs typeface="ADLaM Display" panose="02010000000000000000" pitchFamily="2" charset="0"/>
                        </a:rPr>
                        <a:t>Decisiones de negocio</a:t>
                      </a:r>
                    </a:p>
                  </a:txBody>
                  <a:tcPr marL="46604" marR="46604" marT="23302" marB="23302" anchor="ctr"/>
                </a:tc>
                <a:tc>
                  <a:txBody>
                    <a:bodyPr/>
                    <a:lstStyle/>
                    <a:p>
                      <a:pPr>
                        <a:buNone/>
                      </a:pPr>
                      <a:r>
                        <a:rPr lang="es-MX" sz="1200" dirty="0">
                          <a:latin typeface="ADLaM Display" panose="02010000000000000000" pitchFamily="2" charset="0"/>
                          <a:ea typeface="ADLaM Display" panose="02010000000000000000" pitchFamily="2" charset="0"/>
                          <a:cs typeface="ADLaM Display" panose="02010000000000000000" pitchFamily="2" charset="0"/>
                        </a:rPr>
                        <a:t>• Crear promociones combinadas.</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Optimizar inventarios.</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Mejorar la ubicación de productos.</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Identificar clientes frecuentes.</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Diseñar campañas de marketing.</a:t>
                      </a:r>
                      <a:br>
                        <a:rPr lang="es-MX" sz="1200" dirty="0">
                          <a:latin typeface="ADLaM Display" panose="02010000000000000000" pitchFamily="2" charset="0"/>
                          <a:ea typeface="ADLaM Display" panose="02010000000000000000" pitchFamily="2" charset="0"/>
                          <a:cs typeface="ADLaM Display" panose="02010000000000000000" pitchFamily="2" charset="0"/>
                        </a:rPr>
                      </a:br>
                      <a:r>
                        <a:rPr lang="es-MX" sz="1200" dirty="0">
                          <a:latin typeface="ADLaM Display" panose="02010000000000000000" pitchFamily="2" charset="0"/>
                          <a:ea typeface="ADLaM Display" panose="02010000000000000000" pitchFamily="2" charset="0"/>
                          <a:cs typeface="ADLaM Display" panose="02010000000000000000" pitchFamily="2" charset="0"/>
                        </a:rPr>
                        <a:t>• Pronosticar ventas futuras.</a:t>
                      </a:r>
                    </a:p>
                  </a:txBody>
                  <a:tcPr marL="46604" marR="46604" marT="23302" marB="23302" anchor="ctr"/>
                </a:tc>
                <a:extLst>
                  <a:ext uri="{0D108BD9-81ED-4DB2-BD59-A6C34878D82A}">
                    <a16:rowId xmlns:a16="http://schemas.microsoft.com/office/drawing/2014/main" val="358468517"/>
                  </a:ext>
                </a:extLst>
              </a:tr>
            </a:tbl>
          </a:graphicData>
        </a:graphic>
      </p:graphicFrame>
    </p:spTree>
    <p:extLst>
      <p:ext uri="{BB962C8B-B14F-4D97-AF65-F5344CB8AC3E}">
        <p14:creationId xmlns:p14="http://schemas.microsoft.com/office/powerpoint/2010/main" val="3469363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r>
              <a:rPr lang="es-MX" sz="4800" dirty="0"/>
              <a:t>CRISP-DM : las 5 etapas del data </a:t>
            </a:r>
            <a:r>
              <a:rPr lang="es-MX" sz="4800" dirty="0" err="1"/>
              <a:t>mining</a:t>
            </a:r>
            <a:endParaRPr lang="es-MX" sz="4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3">
          <a:extLst>
            <a:ext uri="{FF2B5EF4-FFF2-40B4-BE49-F238E27FC236}">
              <a16:creationId xmlns:a16="http://schemas.microsoft.com/office/drawing/2014/main" id="{3E4231DB-9738-1AFF-9000-9A328E037ECD}"/>
            </a:ext>
          </a:extLst>
        </p:cNvPr>
        <p:cNvGrpSpPr/>
        <p:nvPr/>
      </p:nvGrpSpPr>
      <p:grpSpPr>
        <a:xfrm>
          <a:off x="0" y="0"/>
          <a:ext cx="0" cy="0"/>
          <a:chOff x="0" y="0"/>
          <a:chExt cx="0" cy="0"/>
        </a:xfrm>
      </p:grpSpPr>
      <p:sp>
        <p:nvSpPr>
          <p:cNvPr id="2224" name="Google Shape;2224;p41">
            <a:extLst>
              <a:ext uri="{FF2B5EF4-FFF2-40B4-BE49-F238E27FC236}">
                <a16:creationId xmlns:a16="http://schemas.microsoft.com/office/drawing/2014/main" id="{ADC65E7D-04FA-2A4C-9EFB-27875BBB3AF4}"/>
              </a:ext>
            </a:extLst>
          </p:cNvPr>
          <p:cNvSpPr txBox="1">
            <a:spLocks noGrp="1"/>
          </p:cNvSpPr>
          <p:nvPr>
            <p:ph type="title"/>
          </p:nvPr>
        </p:nvSpPr>
        <p:spPr>
          <a:xfrm>
            <a:off x="372426" y="1171399"/>
            <a:ext cx="7925389" cy="595800"/>
          </a:xfrm>
          <a:prstGeom prst="rect">
            <a:avLst/>
          </a:prstGeom>
        </p:spPr>
        <p:txBody>
          <a:bodyPr spcFirstLastPara="1" wrap="square" lIns="91425" tIns="91425" rIns="91425" bIns="91425" anchor="t" anchorCtr="0">
            <a:noAutofit/>
          </a:bodyPr>
          <a:lstStyle/>
          <a:p>
            <a:pPr marL="158750">
              <a:buClr>
                <a:srgbClr val="000000"/>
              </a:buClr>
              <a:buSzPts val="1100"/>
            </a:pPr>
            <a:r>
              <a:rPr lang="es-MX" sz="3200" dirty="0">
                <a:solidFill>
                  <a:schemeClr val="bg2">
                    <a:lumMod val="50000"/>
                  </a:schemeClr>
                </a:solidFill>
              </a:rPr>
              <a:t>CRISP-DM (</a:t>
            </a:r>
            <a:r>
              <a:rPr lang="es-MX" sz="3200" dirty="0"/>
              <a:t>Proceso estándar intersectorial para la minería de datos)</a:t>
            </a:r>
            <a:r>
              <a:rPr lang="es-MX" sz="3200" dirty="0">
                <a:solidFill>
                  <a:schemeClr val="bg2">
                    <a:lumMod val="50000"/>
                  </a:schemeClr>
                </a:solidFill>
              </a:rPr>
              <a:t>: las 5 etapas del data </a:t>
            </a:r>
            <a:r>
              <a:rPr lang="es-MX" sz="3200" dirty="0" err="1">
                <a:solidFill>
                  <a:schemeClr val="bg2">
                    <a:lumMod val="50000"/>
                  </a:schemeClr>
                </a:solidFill>
              </a:rPr>
              <a:t>mining</a:t>
            </a:r>
            <a:br>
              <a:rPr lang="es-MX" sz="3600" dirty="0"/>
            </a:br>
            <a:endParaRPr sz="3600" dirty="0"/>
          </a:p>
        </p:txBody>
      </p:sp>
      <p:sp>
        <p:nvSpPr>
          <p:cNvPr id="2233" name="Google Shape;2233;p41">
            <a:extLst>
              <a:ext uri="{FF2B5EF4-FFF2-40B4-BE49-F238E27FC236}">
                <a16:creationId xmlns:a16="http://schemas.microsoft.com/office/drawing/2014/main" id="{8B2803C3-D81E-288A-4ECE-6D2117926AFA}"/>
              </a:ext>
            </a:extLst>
          </p:cNvPr>
          <p:cNvSpPr txBox="1"/>
          <p:nvPr/>
        </p:nvSpPr>
        <p:spPr>
          <a:xfrm>
            <a:off x="1060339" y="4234662"/>
            <a:ext cx="7237476" cy="595800"/>
          </a:xfrm>
          <a:prstGeom prst="rect">
            <a:avLst/>
          </a:prstGeom>
          <a:noFill/>
          <a:ln>
            <a:noFill/>
          </a:ln>
        </p:spPr>
        <p:txBody>
          <a:bodyPr spcFirstLastPara="1" wrap="square" lIns="91425" tIns="91425" rIns="91425" bIns="91425" anchor="b" anchorCtr="0">
            <a:noAutofit/>
          </a:bodyPr>
          <a:lstStyle/>
          <a:p>
            <a:pPr fontAlgn="t"/>
            <a:r>
              <a:rPr lang="en" sz="3200" dirty="0">
                <a:solidFill>
                  <a:schemeClr val="accent1"/>
                </a:solidFill>
                <a:latin typeface="Fjalla One"/>
                <a:sym typeface="Fjalla One"/>
              </a:rPr>
              <a:t>E</a:t>
            </a:r>
            <a:r>
              <a:rPr lang="es-MX" sz="3200" dirty="0">
                <a:solidFill>
                  <a:schemeClr val="accent1"/>
                </a:solidFill>
                <a:latin typeface="Fjalla One"/>
              </a:rPr>
              <a:t>s una metodología ampliamente utilizada para desarrollar proyectos de minería de datos de forma estructurada.</a:t>
            </a:r>
          </a:p>
          <a:p>
            <a:pPr marL="0" lvl="0" indent="0" algn="ctr" rtl="0">
              <a:spcBef>
                <a:spcPts val="0"/>
              </a:spcBef>
              <a:spcAft>
                <a:spcPts val="0"/>
              </a:spcAft>
              <a:buNone/>
            </a:pPr>
            <a:endParaRPr sz="3200" dirty="0">
              <a:solidFill>
                <a:schemeClr val="accent1"/>
              </a:solidFill>
              <a:latin typeface="Fjalla One"/>
              <a:ea typeface="Fjalla One"/>
              <a:cs typeface="Fjalla One"/>
              <a:sym typeface="Fjalla One"/>
            </a:endParaRPr>
          </a:p>
        </p:txBody>
      </p:sp>
    </p:spTree>
    <p:extLst>
      <p:ext uri="{BB962C8B-B14F-4D97-AF65-F5344CB8AC3E}">
        <p14:creationId xmlns:p14="http://schemas.microsoft.com/office/powerpoint/2010/main" val="4089433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3">
          <a:extLst>
            <a:ext uri="{FF2B5EF4-FFF2-40B4-BE49-F238E27FC236}">
              <a16:creationId xmlns:a16="http://schemas.microsoft.com/office/drawing/2014/main" id="{FFB8E08C-949B-06DE-C244-D3EBFBC54A53}"/>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48626594-7799-9A14-B264-7425615335EE}"/>
              </a:ext>
            </a:extLst>
          </p:cNvPr>
          <p:cNvSpPr>
            <a:spLocks noGrp="1"/>
          </p:cNvSpPr>
          <p:nvPr>
            <p:ph type="title"/>
          </p:nvPr>
        </p:nvSpPr>
        <p:spPr>
          <a:xfrm>
            <a:off x="1568850" y="171936"/>
            <a:ext cx="6006300" cy="595800"/>
          </a:xfrm>
        </p:spPr>
        <p:txBody>
          <a:bodyPr/>
          <a:lstStyle/>
          <a:p>
            <a:r>
              <a:rPr lang="es-MX" dirty="0"/>
              <a:t>CRISP-DM | Etapas</a:t>
            </a:r>
          </a:p>
        </p:txBody>
      </p:sp>
      <p:sp>
        <p:nvSpPr>
          <p:cNvPr id="4" name="Rectángulo: esquinas redondeadas 3">
            <a:extLst>
              <a:ext uri="{FF2B5EF4-FFF2-40B4-BE49-F238E27FC236}">
                <a16:creationId xmlns:a16="http://schemas.microsoft.com/office/drawing/2014/main" id="{8642A5CA-CA6D-E997-EEE8-68C5CE2BC2B2}"/>
              </a:ext>
            </a:extLst>
          </p:cNvPr>
          <p:cNvSpPr/>
          <p:nvPr/>
        </p:nvSpPr>
        <p:spPr>
          <a:xfrm>
            <a:off x="3006811" y="777855"/>
            <a:ext cx="3253946" cy="59580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s-MX" dirty="0"/>
              <a:t>1. Comprensión del Negocio (Business </a:t>
            </a:r>
            <a:r>
              <a:rPr lang="es-MX" dirty="0" err="1"/>
              <a:t>Understanding</a:t>
            </a:r>
            <a:r>
              <a:rPr lang="es-MX" dirty="0"/>
              <a:t>)</a:t>
            </a:r>
          </a:p>
        </p:txBody>
      </p:sp>
      <p:sp>
        <p:nvSpPr>
          <p:cNvPr id="6" name="Rectángulo: esquinas redondeadas 5">
            <a:extLst>
              <a:ext uri="{FF2B5EF4-FFF2-40B4-BE49-F238E27FC236}">
                <a16:creationId xmlns:a16="http://schemas.microsoft.com/office/drawing/2014/main" id="{F404C303-03A9-0D0A-C853-D53AC2EC56CA}"/>
              </a:ext>
            </a:extLst>
          </p:cNvPr>
          <p:cNvSpPr/>
          <p:nvPr/>
        </p:nvSpPr>
        <p:spPr>
          <a:xfrm>
            <a:off x="3006811" y="1685991"/>
            <a:ext cx="3253946" cy="5958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s-MX" dirty="0"/>
              <a:t>2. Comprensión de los Datos (Data </a:t>
            </a:r>
            <a:r>
              <a:rPr lang="es-MX" dirty="0" err="1"/>
              <a:t>Understanding</a:t>
            </a:r>
            <a:r>
              <a:rPr lang="es-MX" dirty="0"/>
              <a:t>)</a:t>
            </a:r>
          </a:p>
        </p:txBody>
      </p:sp>
      <p:sp>
        <p:nvSpPr>
          <p:cNvPr id="8" name="Rectángulo: esquinas redondeadas 7">
            <a:extLst>
              <a:ext uri="{FF2B5EF4-FFF2-40B4-BE49-F238E27FC236}">
                <a16:creationId xmlns:a16="http://schemas.microsoft.com/office/drawing/2014/main" id="{2417CA79-4992-EEE5-5E8A-88F5328B6201}"/>
              </a:ext>
            </a:extLst>
          </p:cNvPr>
          <p:cNvSpPr/>
          <p:nvPr/>
        </p:nvSpPr>
        <p:spPr>
          <a:xfrm>
            <a:off x="3006811" y="2594127"/>
            <a:ext cx="3253946" cy="595800"/>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MX" dirty="0"/>
              <a:t>3. Preparación de los Datos (Data </a:t>
            </a:r>
            <a:r>
              <a:rPr lang="es-MX" dirty="0" err="1"/>
              <a:t>Preparation</a:t>
            </a:r>
            <a:r>
              <a:rPr lang="es-MX" dirty="0"/>
              <a:t>)</a:t>
            </a:r>
          </a:p>
        </p:txBody>
      </p:sp>
      <p:sp>
        <p:nvSpPr>
          <p:cNvPr id="10" name="Rectángulo: esquinas redondeadas 9">
            <a:extLst>
              <a:ext uri="{FF2B5EF4-FFF2-40B4-BE49-F238E27FC236}">
                <a16:creationId xmlns:a16="http://schemas.microsoft.com/office/drawing/2014/main" id="{BDA4C87C-8A62-C6EB-7D9C-C7F62EB97EFA}"/>
              </a:ext>
            </a:extLst>
          </p:cNvPr>
          <p:cNvSpPr/>
          <p:nvPr/>
        </p:nvSpPr>
        <p:spPr>
          <a:xfrm>
            <a:off x="3006811" y="3471500"/>
            <a:ext cx="3253946" cy="5958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s-MX" dirty="0"/>
              <a:t>4. Modelado (</a:t>
            </a:r>
            <a:r>
              <a:rPr lang="es-MX" dirty="0" err="1"/>
              <a:t>Modeling</a:t>
            </a:r>
            <a:r>
              <a:rPr lang="es-MX" dirty="0"/>
              <a:t>)</a:t>
            </a:r>
          </a:p>
        </p:txBody>
      </p:sp>
      <p:sp>
        <p:nvSpPr>
          <p:cNvPr id="12" name="Rectángulo: esquinas redondeadas 11">
            <a:extLst>
              <a:ext uri="{FF2B5EF4-FFF2-40B4-BE49-F238E27FC236}">
                <a16:creationId xmlns:a16="http://schemas.microsoft.com/office/drawing/2014/main" id="{EC8B1F06-CFB9-33E5-A853-1339E80AD80B}"/>
              </a:ext>
            </a:extLst>
          </p:cNvPr>
          <p:cNvSpPr/>
          <p:nvPr/>
        </p:nvSpPr>
        <p:spPr>
          <a:xfrm>
            <a:off x="3006811" y="4345584"/>
            <a:ext cx="3253946" cy="595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solidFill>
                  <a:schemeClr val="tx1"/>
                </a:solidFill>
              </a:rPr>
              <a:t>5. Evaluación e Implementación (</a:t>
            </a:r>
            <a:r>
              <a:rPr lang="es-MX" dirty="0" err="1">
                <a:solidFill>
                  <a:schemeClr val="tx1"/>
                </a:solidFill>
              </a:rPr>
              <a:t>Evaluation</a:t>
            </a:r>
            <a:r>
              <a:rPr lang="es-MX" dirty="0">
                <a:solidFill>
                  <a:schemeClr val="tx1"/>
                </a:solidFill>
              </a:rPr>
              <a:t> &amp; </a:t>
            </a:r>
            <a:r>
              <a:rPr lang="es-MX" dirty="0" err="1">
                <a:solidFill>
                  <a:schemeClr val="tx1"/>
                </a:solidFill>
              </a:rPr>
              <a:t>Deployment</a:t>
            </a:r>
            <a:r>
              <a:rPr lang="es-MX" dirty="0">
                <a:solidFill>
                  <a:schemeClr val="tx1"/>
                </a:solidFill>
              </a:rPr>
              <a:t>)</a:t>
            </a:r>
          </a:p>
        </p:txBody>
      </p:sp>
      <p:sp>
        <p:nvSpPr>
          <p:cNvPr id="13" name="Flecha: hacia abajo 12">
            <a:extLst>
              <a:ext uri="{FF2B5EF4-FFF2-40B4-BE49-F238E27FC236}">
                <a16:creationId xmlns:a16="http://schemas.microsoft.com/office/drawing/2014/main" id="{024C5364-3B29-C17D-DD08-0BD27E07E534}"/>
              </a:ext>
            </a:extLst>
          </p:cNvPr>
          <p:cNvSpPr/>
          <p:nvPr/>
        </p:nvSpPr>
        <p:spPr>
          <a:xfrm>
            <a:off x="4436075" y="1383774"/>
            <a:ext cx="271849" cy="247300"/>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Flecha: hacia abajo 14">
            <a:extLst>
              <a:ext uri="{FF2B5EF4-FFF2-40B4-BE49-F238E27FC236}">
                <a16:creationId xmlns:a16="http://schemas.microsoft.com/office/drawing/2014/main" id="{9910D9F6-5028-F351-48FE-0412059B1A4E}"/>
              </a:ext>
            </a:extLst>
          </p:cNvPr>
          <p:cNvSpPr/>
          <p:nvPr/>
        </p:nvSpPr>
        <p:spPr>
          <a:xfrm>
            <a:off x="4436075" y="2324450"/>
            <a:ext cx="271849" cy="247300"/>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Flecha: hacia abajo 17">
            <a:extLst>
              <a:ext uri="{FF2B5EF4-FFF2-40B4-BE49-F238E27FC236}">
                <a16:creationId xmlns:a16="http://schemas.microsoft.com/office/drawing/2014/main" id="{1D78A981-3349-8C5E-D962-894B1A314ACB}"/>
              </a:ext>
            </a:extLst>
          </p:cNvPr>
          <p:cNvSpPr/>
          <p:nvPr/>
        </p:nvSpPr>
        <p:spPr>
          <a:xfrm>
            <a:off x="4436075" y="3173600"/>
            <a:ext cx="271849" cy="247300"/>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Flecha: hacia abajo 19">
            <a:extLst>
              <a:ext uri="{FF2B5EF4-FFF2-40B4-BE49-F238E27FC236}">
                <a16:creationId xmlns:a16="http://schemas.microsoft.com/office/drawing/2014/main" id="{38DA425A-D946-C90F-2E98-8E35E7BD8096}"/>
              </a:ext>
            </a:extLst>
          </p:cNvPr>
          <p:cNvSpPr/>
          <p:nvPr/>
        </p:nvSpPr>
        <p:spPr>
          <a:xfrm>
            <a:off x="4436075" y="4067300"/>
            <a:ext cx="271849" cy="247300"/>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550092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D2EB418E-156C-B37A-3E43-26D96B373538}"/>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4BB7FD2D-359B-FD54-6363-9564E1EE050A}"/>
              </a:ext>
            </a:extLst>
          </p:cNvPr>
          <p:cNvSpPr txBox="1">
            <a:spLocks noGrp="1"/>
          </p:cNvSpPr>
          <p:nvPr>
            <p:ph type="title"/>
          </p:nvPr>
        </p:nvSpPr>
        <p:spPr>
          <a:xfrm>
            <a:off x="604158" y="710643"/>
            <a:ext cx="7649935" cy="572700"/>
          </a:xfrm>
          <a:prstGeom prst="rect">
            <a:avLst/>
          </a:prstGeom>
        </p:spPr>
        <p:txBody>
          <a:bodyPr spcFirstLastPara="1" wrap="square" lIns="91425" tIns="91425" rIns="91425" bIns="91425" anchor="t" anchorCtr="0">
            <a:noAutofit/>
          </a:bodyPr>
          <a:lstStyle/>
          <a:p>
            <a:pPr fontAlgn="t"/>
            <a:r>
              <a:rPr lang="es-MX" dirty="0"/>
              <a:t>1. Comprensión del Negocio (Business </a:t>
            </a:r>
            <a:r>
              <a:rPr lang="es-MX" dirty="0" err="1"/>
              <a:t>Understanding</a:t>
            </a:r>
            <a:r>
              <a:rPr lang="es-MX" dirty="0"/>
              <a:t>)</a:t>
            </a:r>
          </a:p>
        </p:txBody>
      </p:sp>
      <p:sp>
        <p:nvSpPr>
          <p:cNvPr id="2309" name="Google Shape;2309;p43">
            <a:extLst>
              <a:ext uri="{FF2B5EF4-FFF2-40B4-BE49-F238E27FC236}">
                <a16:creationId xmlns:a16="http://schemas.microsoft.com/office/drawing/2014/main" id="{8F163F3E-6786-F641-7BD5-35A5F061AF39}"/>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953D966C-C1D1-C50F-374A-58CF3A5C079A}"/>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044F4AB4-B1D9-EFED-D4F1-65B1E1D4919A}"/>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E27BADFC-62BE-90B3-0E28-B619521CE678}"/>
              </a:ext>
            </a:extLst>
          </p:cNvPr>
          <p:cNvSpPr txBox="1"/>
          <p:nvPr/>
        </p:nvSpPr>
        <p:spPr>
          <a:xfrm>
            <a:off x="890632" y="3448503"/>
            <a:ext cx="7237476" cy="595800"/>
          </a:xfrm>
          <a:prstGeom prst="rect">
            <a:avLst/>
          </a:prstGeom>
          <a:noFill/>
          <a:ln>
            <a:noFill/>
          </a:ln>
        </p:spPr>
        <p:txBody>
          <a:bodyPr spcFirstLastPara="1" wrap="square" lIns="91425" tIns="91425" rIns="91425" bIns="91425" anchor="b" anchorCtr="0">
            <a:noAutofit/>
          </a:bodyPr>
          <a:lstStyle/>
          <a:p>
            <a:pPr marL="342900" lvl="0" indent="-342900" fontAlgn="t">
              <a:buFont typeface="Arial" panose="020B0604020202020204" pitchFamily="34" charset="0"/>
              <a:buChar char="•"/>
            </a:pPr>
            <a:r>
              <a:rPr lang="es-MX" sz="3200" dirty="0">
                <a:solidFill>
                  <a:srgbClr val="77C6FC"/>
                </a:solidFill>
                <a:latin typeface="Barlow Condensed Medium" panose="00000606000000000000" pitchFamily="2" charset="0"/>
              </a:rPr>
              <a:t>Definir el problema y los objetivos del proyecto.</a:t>
            </a:r>
          </a:p>
          <a:p>
            <a:pPr marL="342900" lvl="0" indent="-342900" fontAlgn="t">
              <a:buFont typeface="Arial" panose="020B0604020202020204" pitchFamily="34" charset="0"/>
              <a:buChar char="•"/>
            </a:pPr>
            <a:r>
              <a:rPr lang="es-MX" sz="3200" dirty="0">
                <a:solidFill>
                  <a:srgbClr val="77C6FC"/>
                </a:solidFill>
                <a:latin typeface="Barlow Condensed Medium" panose="00000606000000000000" pitchFamily="2" charset="0"/>
              </a:rPr>
              <a:t>Identificar las necesidades de información de la organización.</a:t>
            </a:r>
          </a:p>
          <a:p>
            <a:pPr marL="342900" lvl="0" indent="-342900" fontAlgn="t">
              <a:buFont typeface="Arial" panose="020B0604020202020204" pitchFamily="34" charset="0"/>
              <a:buChar char="•"/>
            </a:pPr>
            <a:r>
              <a:rPr lang="es-MX" sz="3200" dirty="0">
                <a:solidFill>
                  <a:srgbClr val="77C6FC"/>
                </a:solidFill>
                <a:latin typeface="Barlow Condensed Medium" panose="00000606000000000000" pitchFamily="2" charset="0"/>
              </a:rPr>
              <a:t>Establecer criterios de éxito.</a:t>
            </a:r>
          </a:p>
        </p:txBody>
      </p:sp>
    </p:spTree>
    <p:extLst>
      <p:ext uri="{BB962C8B-B14F-4D97-AF65-F5344CB8AC3E}">
        <p14:creationId xmlns:p14="http://schemas.microsoft.com/office/powerpoint/2010/main" val="3779029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D22AF450-96D4-0B7D-486B-FE33C95A6B3C}"/>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C893A5B4-742F-B362-3AA0-ACC9BDA5C640}"/>
              </a:ext>
            </a:extLst>
          </p:cNvPr>
          <p:cNvSpPr txBox="1">
            <a:spLocks noGrp="1"/>
          </p:cNvSpPr>
          <p:nvPr>
            <p:ph type="title"/>
          </p:nvPr>
        </p:nvSpPr>
        <p:spPr>
          <a:xfrm>
            <a:off x="747032" y="710643"/>
            <a:ext cx="7649935" cy="572700"/>
          </a:xfrm>
          <a:prstGeom prst="rect">
            <a:avLst/>
          </a:prstGeom>
        </p:spPr>
        <p:txBody>
          <a:bodyPr spcFirstLastPara="1" wrap="square" lIns="91425" tIns="91425" rIns="91425" bIns="91425" anchor="t" anchorCtr="0">
            <a:noAutofit/>
          </a:bodyPr>
          <a:lstStyle/>
          <a:p>
            <a:pPr fontAlgn="t"/>
            <a:r>
              <a:rPr lang="es-MX" dirty="0"/>
              <a:t>2. Comprensión de los Datos (Data </a:t>
            </a:r>
            <a:r>
              <a:rPr lang="es-MX" dirty="0" err="1"/>
              <a:t>Understanding</a:t>
            </a:r>
            <a:r>
              <a:rPr lang="es-MX" dirty="0"/>
              <a:t>)</a:t>
            </a:r>
            <a:br>
              <a:rPr lang="es-MX" dirty="0"/>
            </a:br>
            <a:endParaRPr lang="es-MX" dirty="0"/>
          </a:p>
        </p:txBody>
      </p:sp>
      <p:sp>
        <p:nvSpPr>
          <p:cNvPr id="2309" name="Google Shape;2309;p43">
            <a:extLst>
              <a:ext uri="{FF2B5EF4-FFF2-40B4-BE49-F238E27FC236}">
                <a16:creationId xmlns:a16="http://schemas.microsoft.com/office/drawing/2014/main" id="{E823FA2A-9BC0-52B6-A566-AA91659E81BA}"/>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B8CA99F5-EFDF-0E4F-D0E1-7C1102A72D55}"/>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336E1F51-DD6E-D83F-18C8-A2D9811123FE}"/>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51D2B3A9-D8A9-F113-D1D0-136F7C49C5F9}"/>
              </a:ext>
            </a:extLst>
          </p:cNvPr>
          <p:cNvSpPr txBox="1"/>
          <p:nvPr/>
        </p:nvSpPr>
        <p:spPr>
          <a:xfrm>
            <a:off x="1053918" y="3112836"/>
            <a:ext cx="7237476" cy="595800"/>
          </a:xfrm>
          <a:prstGeom prst="rect">
            <a:avLst/>
          </a:prstGeom>
          <a:noFill/>
          <a:ln>
            <a:noFill/>
          </a:ln>
        </p:spPr>
        <p:txBody>
          <a:bodyPr spcFirstLastPara="1" wrap="square" lIns="91425" tIns="91425" rIns="91425" bIns="91425" anchor="b" anchorCtr="0">
            <a:noAutofit/>
          </a:bodyPr>
          <a:lstStyle/>
          <a:p>
            <a:pPr marL="342900" lvl="0" indent="-342900" algn="just" fontAlgn="t">
              <a:buFont typeface="Arial" panose="020B0604020202020204" pitchFamily="34" charset="0"/>
              <a:buChar char="•"/>
            </a:pPr>
            <a:r>
              <a:rPr lang="es-MX" sz="3200" dirty="0">
                <a:solidFill>
                  <a:srgbClr val="77C6FC"/>
                </a:solidFill>
                <a:latin typeface="Barlow Condensed Medium" panose="00000606000000000000" pitchFamily="2" charset="0"/>
              </a:rPr>
              <a:t>Recopilar los datos disponibles.</a:t>
            </a:r>
          </a:p>
          <a:p>
            <a:pPr marL="342900" lvl="0" indent="-342900" algn="just" fontAlgn="t">
              <a:buFont typeface="Arial" panose="020B0604020202020204" pitchFamily="34" charset="0"/>
              <a:buChar char="•"/>
            </a:pPr>
            <a:r>
              <a:rPr lang="es-MX" sz="3200" dirty="0">
                <a:solidFill>
                  <a:srgbClr val="77C6FC"/>
                </a:solidFill>
                <a:latin typeface="Barlow Condensed Medium" panose="00000606000000000000" pitchFamily="2" charset="0"/>
              </a:rPr>
              <a:t>Explorar y analizar la calidad de los datos.</a:t>
            </a:r>
          </a:p>
          <a:p>
            <a:pPr marL="342900" lvl="0" indent="-342900" algn="just" fontAlgn="t">
              <a:buFont typeface="Arial" panose="020B0604020202020204" pitchFamily="34" charset="0"/>
              <a:buChar char="•"/>
            </a:pPr>
            <a:r>
              <a:rPr lang="es-MX" sz="3200" dirty="0">
                <a:solidFill>
                  <a:srgbClr val="77C6FC"/>
                </a:solidFill>
                <a:latin typeface="Barlow Condensed Medium" panose="00000606000000000000" pitchFamily="2" charset="0"/>
              </a:rPr>
              <a:t>Detectar errores, valores faltantes o inconsistencias</a:t>
            </a:r>
            <a:r>
              <a:rPr lang="es-MX" dirty="0"/>
              <a:t>.</a:t>
            </a:r>
          </a:p>
        </p:txBody>
      </p:sp>
    </p:spTree>
    <p:extLst>
      <p:ext uri="{BB962C8B-B14F-4D97-AF65-F5344CB8AC3E}">
        <p14:creationId xmlns:p14="http://schemas.microsoft.com/office/powerpoint/2010/main" val="3616809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88A9B7F8-4DE1-BFB8-D7F1-59FF7597F72B}"/>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F62FF434-F96E-6576-1C42-8BA6183B113F}"/>
              </a:ext>
            </a:extLst>
          </p:cNvPr>
          <p:cNvSpPr txBox="1">
            <a:spLocks noGrp="1"/>
          </p:cNvSpPr>
          <p:nvPr>
            <p:ph type="title"/>
          </p:nvPr>
        </p:nvSpPr>
        <p:spPr>
          <a:xfrm>
            <a:off x="747032" y="710643"/>
            <a:ext cx="7649935" cy="572700"/>
          </a:xfrm>
          <a:prstGeom prst="rect">
            <a:avLst/>
          </a:prstGeom>
        </p:spPr>
        <p:txBody>
          <a:bodyPr spcFirstLastPara="1" wrap="square" lIns="91425" tIns="91425" rIns="91425" bIns="91425" anchor="t" anchorCtr="0">
            <a:noAutofit/>
          </a:bodyPr>
          <a:lstStyle/>
          <a:p>
            <a:pPr fontAlgn="t"/>
            <a:r>
              <a:rPr lang="es-MX" dirty="0"/>
              <a:t>3. Preparación de los Datos (Data </a:t>
            </a:r>
            <a:r>
              <a:rPr lang="es-MX" dirty="0" err="1"/>
              <a:t>Preparation</a:t>
            </a:r>
            <a:r>
              <a:rPr lang="es-MX" dirty="0"/>
              <a:t>)</a:t>
            </a:r>
            <a:br>
              <a:rPr lang="es-MX" dirty="0"/>
            </a:br>
            <a:br>
              <a:rPr lang="es-MX" dirty="0"/>
            </a:br>
            <a:endParaRPr lang="es-MX" dirty="0"/>
          </a:p>
        </p:txBody>
      </p:sp>
      <p:sp>
        <p:nvSpPr>
          <p:cNvPr id="2309" name="Google Shape;2309;p43">
            <a:extLst>
              <a:ext uri="{FF2B5EF4-FFF2-40B4-BE49-F238E27FC236}">
                <a16:creationId xmlns:a16="http://schemas.microsoft.com/office/drawing/2014/main" id="{DF38401F-7587-1085-4324-21F1E95E3E67}"/>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1B59B4D8-FAFC-86AC-6149-1DADDACF064E}"/>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D4B1B6AA-99D5-4D4F-0A60-648ECE1D80F5}"/>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7DCCDACD-C38B-5156-D871-1C610FEDD75A}"/>
              </a:ext>
            </a:extLst>
          </p:cNvPr>
          <p:cNvSpPr txBox="1"/>
          <p:nvPr/>
        </p:nvSpPr>
        <p:spPr>
          <a:xfrm>
            <a:off x="1070247" y="3675936"/>
            <a:ext cx="7237476" cy="595800"/>
          </a:xfrm>
          <a:prstGeom prst="rect">
            <a:avLst/>
          </a:prstGeom>
          <a:noFill/>
          <a:ln>
            <a:noFill/>
          </a:ln>
        </p:spPr>
        <p:txBody>
          <a:bodyPr spcFirstLastPara="1" wrap="square" lIns="91425" tIns="91425" rIns="91425" bIns="91425" anchor="b" anchorCtr="0">
            <a:noAutofit/>
          </a:bodyPr>
          <a:lstStyle/>
          <a:p>
            <a:pPr marL="342900" lvl="0" indent="-342900" algn="just" fontAlgn="t">
              <a:buFont typeface="Arial" panose="020B0604020202020204" pitchFamily="34" charset="0"/>
              <a:buChar char="•"/>
            </a:pPr>
            <a:r>
              <a:rPr lang="es-MX" sz="3200" dirty="0">
                <a:solidFill>
                  <a:srgbClr val="77C6FC"/>
                </a:solidFill>
                <a:latin typeface="Barlow Condensed Medium" panose="00000606000000000000" pitchFamily="2" charset="0"/>
              </a:rPr>
              <a:t>Limpiar y transformar los datos.</a:t>
            </a:r>
          </a:p>
          <a:p>
            <a:pPr marL="342900" lvl="0" indent="-342900" algn="just" fontAlgn="t">
              <a:buFont typeface="Arial" panose="020B0604020202020204" pitchFamily="34" charset="0"/>
              <a:buChar char="•"/>
            </a:pPr>
            <a:r>
              <a:rPr lang="es-MX" sz="3200" dirty="0">
                <a:solidFill>
                  <a:srgbClr val="77C6FC"/>
                </a:solidFill>
                <a:latin typeface="Barlow Condensed Medium" panose="00000606000000000000" pitchFamily="2" charset="0"/>
              </a:rPr>
              <a:t>Integrar información proveniente de diversas fuentes.</a:t>
            </a:r>
          </a:p>
          <a:p>
            <a:pPr marL="342900" lvl="0" indent="-342900" algn="just" fontAlgn="t">
              <a:buFont typeface="Arial" panose="020B0604020202020204" pitchFamily="34" charset="0"/>
              <a:buChar char="•"/>
            </a:pPr>
            <a:r>
              <a:rPr lang="es-MX" sz="3200" dirty="0">
                <a:solidFill>
                  <a:srgbClr val="77C6FC"/>
                </a:solidFill>
                <a:latin typeface="Barlow Condensed Medium" panose="00000606000000000000" pitchFamily="2" charset="0"/>
              </a:rPr>
              <a:t>Seleccionar las variables relevantes para el análisis.</a:t>
            </a:r>
          </a:p>
        </p:txBody>
      </p:sp>
    </p:spTree>
    <p:extLst>
      <p:ext uri="{BB962C8B-B14F-4D97-AF65-F5344CB8AC3E}">
        <p14:creationId xmlns:p14="http://schemas.microsoft.com/office/powerpoint/2010/main" val="3242166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F7A3FA14-F053-BDE4-39B7-FDDEDEB53CDC}"/>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1C0D4468-FF32-2F8B-946A-E5C917F95D12}"/>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9958EC80-444D-D568-54B6-02CD1D55FEAA}"/>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C207EA73-744B-75C9-F130-C1F9D3097D27}"/>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pic>
        <p:nvPicPr>
          <p:cNvPr id="7" name="Imagen 6">
            <a:extLst>
              <a:ext uri="{FF2B5EF4-FFF2-40B4-BE49-F238E27FC236}">
                <a16:creationId xmlns:a16="http://schemas.microsoft.com/office/drawing/2014/main" id="{67611344-C81C-9DB5-CEAD-A8AC6C05D5DF}"/>
              </a:ext>
            </a:extLst>
          </p:cNvPr>
          <p:cNvPicPr>
            <a:picLocks noChangeAspect="1"/>
          </p:cNvPicPr>
          <p:nvPr/>
        </p:nvPicPr>
        <p:blipFill>
          <a:blip r:embed="rId3"/>
          <a:stretch>
            <a:fillRect/>
          </a:stretch>
        </p:blipFill>
        <p:spPr>
          <a:xfrm>
            <a:off x="526596" y="0"/>
            <a:ext cx="7715250" cy="5143500"/>
          </a:xfrm>
          <a:prstGeom prst="rect">
            <a:avLst/>
          </a:prstGeom>
        </p:spPr>
      </p:pic>
    </p:spTree>
    <p:extLst>
      <p:ext uri="{BB962C8B-B14F-4D97-AF65-F5344CB8AC3E}">
        <p14:creationId xmlns:p14="http://schemas.microsoft.com/office/powerpoint/2010/main" val="3358472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2FA95E97-9127-28E8-1BF1-EF9630AD2665}"/>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1836F3E9-B3D7-1DDD-E299-68DA88D4F4E6}"/>
              </a:ext>
            </a:extLst>
          </p:cNvPr>
          <p:cNvSpPr txBox="1">
            <a:spLocks noGrp="1"/>
          </p:cNvSpPr>
          <p:nvPr>
            <p:ph type="title"/>
          </p:nvPr>
        </p:nvSpPr>
        <p:spPr>
          <a:xfrm>
            <a:off x="747032" y="710643"/>
            <a:ext cx="7649935" cy="572700"/>
          </a:xfrm>
          <a:prstGeom prst="rect">
            <a:avLst/>
          </a:prstGeom>
        </p:spPr>
        <p:txBody>
          <a:bodyPr spcFirstLastPara="1" wrap="square" lIns="91425" tIns="91425" rIns="91425" bIns="91425" anchor="t" anchorCtr="0">
            <a:noAutofit/>
          </a:bodyPr>
          <a:lstStyle/>
          <a:p>
            <a:pPr fontAlgn="t"/>
            <a:r>
              <a:rPr lang="es-MX" dirty="0"/>
              <a:t>4. Modelado (</a:t>
            </a:r>
            <a:r>
              <a:rPr lang="es-MX" dirty="0" err="1"/>
              <a:t>Modeling</a:t>
            </a:r>
            <a:r>
              <a:rPr lang="es-MX" dirty="0"/>
              <a:t>)</a:t>
            </a:r>
            <a:br>
              <a:rPr lang="es-MX" dirty="0"/>
            </a:br>
            <a:br>
              <a:rPr lang="es-MX" dirty="0"/>
            </a:br>
            <a:br>
              <a:rPr lang="es-MX" dirty="0"/>
            </a:br>
            <a:endParaRPr lang="es-MX" dirty="0"/>
          </a:p>
        </p:txBody>
      </p:sp>
      <p:sp>
        <p:nvSpPr>
          <p:cNvPr id="2309" name="Google Shape;2309;p43">
            <a:extLst>
              <a:ext uri="{FF2B5EF4-FFF2-40B4-BE49-F238E27FC236}">
                <a16:creationId xmlns:a16="http://schemas.microsoft.com/office/drawing/2014/main" id="{81EFF448-08DA-28A5-6083-8ABEBAA5896F}"/>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FB23E158-252A-F730-0A13-707673CB0EA3}"/>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D7ABF68D-571A-9BE8-1F9F-0C6CA2A17F2B}"/>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52EA9D8A-2799-8CED-BE09-435843179D19}"/>
              </a:ext>
            </a:extLst>
          </p:cNvPr>
          <p:cNvSpPr txBox="1"/>
          <p:nvPr/>
        </p:nvSpPr>
        <p:spPr>
          <a:xfrm>
            <a:off x="1021261" y="3112836"/>
            <a:ext cx="7237476" cy="595800"/>
          </a:xfrm>
          <a:prstGeom prst="rect">
            <a:avLst/>
          </a:prstGeom>
          <a:noFill/>
          <a:ln>
            <a:noFill/>
          </a:ln>
        </p:spPr>
        <p:txBody>
          <a:bodyPr spcFirstLastPara="1" wrap="square" lIns="91425" tIns="91425" rIns="91425" bIns="91425" anchor="b" anchorCtr="0">
            <a:noAutofit/>
          </a:bodyPr>
          <a:lstStyle/>
          <a:p>
            <a:pPr marL="342900" lvl="0" indent="-342900" fontAlgn="t">
              <a:buFont typeface="Arial" panose="020B0604020202020204" pitchFamily="34" charset="0"/>
              <a:buChar char="•"/>
            </a:pPr>
            <a:r>
              <a:rPr lang="es-MX" sz="3200" dirty="0">
                <a:solidFill>
                  <a:srgbClr val="77C6FC"/>
                </a:solidFill>
                <a:latin typeface="Barlow Condensed Medium" panose="00000606000000000000" pitchFamily="2" charset="0"/>
              </a:rPr>
              <a:t>Aplicar técnicas de minería de datos.</a:t>
            </a:r>
          </a:p>
          <a:p>
            <a:pPr marL="342900" lvl="0" indent="-342900" fontAlgn="t">
              <a:buFont typeface="Arial" panose="020B0604020202020204" pitchFamily="34" charset="0"/>
              <a:buChar char="•"/>
            </a:pPr>
            <a:r>
              <a:rPr lang="es-MX" sz="3200" dirty="0">
                <a:solidFill>
                  <a:srgbClr val="77C6FC"/>
                </a:solidFill>
                <a:latin typeface="Barlow Condensed Medium" panose="00000606000000000000" pitchFamily="2" charset="0"/>
              </a:rPr>
              <a:t>Construir modelos para encontrar patrones o realizar predicciones.</a:t>
            </a:r>
          </a:p>
          <a:p>
            <a:pPr marL="342900" lvl="0" indent="-342900" fontAlgn="t">
              <a:buFont typeface="Arial" panose="020B0604020202020204" pitchFamily="34" charset="0"/>
              <a:buChar char="•"/>
            </a:pPr>
            <a:r>
              <a:rPr lang="es-MX" sz="3200" dirty="0">
                <a:solidFill>
                  <a:srgbClr val="77C6FC"/>
                </a:solidFill>
                <a:latin typeface="Barlow Condensed Medium" panose="00000606000000000000" pitchFamily="2" charset="0"/>
              </a:rPr>
              <a:t>Ajustar parámetros para mejorar resultados.</a:t>
            </a:r>
          </a:p>
        </p:txBody>
      </p:sp>
    </p:spTree>
    <p:extLst>
      <p:ext uri="{BB962C8B-B14F-4D97-AF65-F5344CB8AC3E}">
        <p14:creationId xmlns:p14="http://schemas.microsoft.com/office/powerpoint/2010/main" val="1757048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66095B12-F266-9026-4301-B433550D65DD}"/>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307E5D8F-638A-356B-A07E-3707FC826038}"/>
              </a:ext>
            </a:extLst>
          </p:cNvPr>
          <p:cNvSpPr txBox="1">
            <a:spLocks noGrp="1"/>
          </p:cNvSpPr>
          <p:nvPr>
            <p:ph type="title"/>
          </p:nvPr>
        </p:nvSpPr>
        <p:spPr>
          <a:xfrm>
            <a:off x="747032" y="710643"/>
            <a:ext cx="7649935" cy="572700"/>
          </a:xfrm>
          <a:prstGeom prst="rect">
            <a:avLst/>
          </a:prstGeom>
        </p:spPr>
        <p:txBody>
          <a:bodyPr spcFirstLastPara="1" wrap="square" lIns="91425" tIns="91425" rIns="91425" bIns="91425" anchor="t" anchorCtr="0">
            <a:noAutofit/>
          </a:bodyPr>
          <a:lstStyle/>
          <a:p>
            <a:pPr fontAlgn="t"/>
            <a:r>
              <a:rPr lang="es-MX" dirty="0"/>
              <a:t>5. Evaluación e Implementación (</a:t>
            </a:r>
            <a:r>
              <a:rPr lang="es-MX" dirty="0" err="1"/>
              <a:t>Evaluation</a:t>
            </a:r>
            <a:r>
              <a:rPr lang="es-MX" dirty="0"/>
              <a:t> &amp; </a:t>
            </a:r>
            <a:r>
              <a:rPr lang="es-MX" dirty="0" err="1"/>
              <a:t>Deployment</a:t>
            </a:r>
            <a:r>
              <a:rPr lang="es-MX" dirty="0"/>
              <a:t>)</a:t>
            </a:r>
            <a:br>
              <a:rPr lang="es-MX" dirty="0"/>
            </a:br>
            <a:br>
              <a:rPr lang="es-MX" dirty="0"/>
            </a:br>
            <a:br>
              <a:rPr lang="es-MX" dirty="0"/>
            </a:br>
            <a:br>
              <a:rPr lang="es-MX" dirty="0"/>
            </a:br>
            <a:endParaRPr lang="es-MX" dirty="0"/>
          </a:p>
        </p:txBody>
      </p:sp>
      <p:sp>
        <p:nvSpPr>
          <p:cNvPr id="2309" name="Google Shape;2309;p43">
            <a:extLst>
              <a:ext uri="{FF2B5EF4-FFF2-40B4-BE49-F238E27FC236}">
                <a16:creationId xmlns:a16="http://schemas.microsoft.com/office/drawing/2014/main" id="{64E88283-2E5F-A9AF-496D-D174585D7A63}"/>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51846D08-EFD1-D024-B7B8-2E02C1DA1DCE}"/>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26AB3703-4764-4B5D-1978-7B20E77061F2}"/>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5E2F3792-57F6-8800-D9A0-05FD892FB56D}"/>
              </a:ext>
            </a:extLst>
          </p:cNvPr>
          <p:cNvSpPr txBox="1"/>
          <p:nvPr/>
        </p:nvSpPr>
        <p:spPr>
          <a:xfrm>
            <a:off x="953261" y="3545544"/>
            <a:ext cx="7237476" cy="595800"/>
          </a:xfrm>
          <a:prstGeom prst="rect">
            <a:avLst/>
          </a:prstGeom>
          <a:noFill/>
          <a:ln>
            <a:noFill/>
          </a:ln>
        </p:spPr>
        <p:txBody>
          <a:bodyPr spcFirstLastPara="1" wrap="square" lIns="91425" tIns="91425" rIns="91425" bIns="91425" anchor="b" anchorCtr="0">
            <a:noAutofit/>
          </a:bodyPr>
          <a:lstStyle/>
          <a:p>
            <a:pPr marL="342900" lvl="0" indent="-342900" fontAlgn="t">
              <a:buFont typeface="Arial" panose="020B0604020202020204" pitchFamily="34" charset="0"/>
              <a:buChar char="•"/>
            </a:pPr>
            <a:r>
              <a:rPr lang="es-MX" sz="2800" dirty="0">
                <a:solidFill>
                  <a:srgbClr val="77C6FC"/>
                </a:solidFill>
                <a:latin typeface="Barlow Condensed Medium" panose="00000606000000000000" pitchFamily="2" charset="0"/>
              </a:rPr>
              <a:t>Verificar que los resultados cumplan los objetivos del negocio.</a:t>
            </a:r>
          </a:p>
          <a:p>
            <a:pPr marL="342900" lvl="0" indent="-342900" fontAlgn="t">
              <a:buFont typeface="Arial" panose="020B0604020202020204" pitchFamily="34" charset="0"/>
              <a:buChar char="•"/>
            </a:pPr>
            <a:r>
              <a:rPr lang="es-MX" sz="2800" dirty="0">
                <a:solidFill>
                  <a:srgbClr val="77C6FC"/>
                </a:solidFill>
                <a:latin typeface="Barlow Condensed Medium" panose="00000606000000000000" pitchFamily="2" charset="0"/>
              </a:rPr>
              <a:t>Presentar conclusiones a los responsables de la toma de decisiones.</a:t>
            </a:r>
          </a:p>
          <a:p>
            <a:pPr marL="342900" lvl="0" indent="-342900" fontAlgn="t">
              <a:buFont typeface="Arial" panose="020B0604020202020204" pitchFamily="34" charset="0"/>
              <a:buChar char="•"/>
            </a:pPr>
            <a:r>
              <a:rPr lang="es-MX" sz="2800" dirty="0">
                <a:solidFill>
                  <a:srgbClr val="77C6FC"/>
                </a:solidFill>
                <a:latin typeface="Barlow Condensed Medium" panose="00000606000000000000" pitchFamily="2" charset="0"/>
              </a:rPr>
              <a:t>Implementar el modelo en el entorno real.</a:t>
            </a:r>
          </a:p>
        </p:txBody>
      </p:sp>
    </p:spTree>
    <p:extLst>
      <p:ext uri="{BB962C8B-B14F-4D97-AF65-F5344CB8AC3E}">
        <p14:creationId xmlns:p14="http://schemas.microsoft.com/office/powerpoint/2010/main" val="4260439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35">
          <a:extLst>
            <a:ext uri="{FF2B5EF4-FFF2-40B4-BE49-F238E27FC236}">
              <a16:creationId xmlns:a16="http://schemas.microsoft.com/office/drawing/2014/main" id="{055B1837-E9AE-AEDD-41AD-CB3515BBDE0A}"/>
            </a:ext>
          </a:extLst>
        </p:cNvPr>
        <p:cNvGrpSpPr/>
        <p:nvPr/>
      </p:nvGrpSpPr>
      <p:grpSpPr>
        <a:xfrm>
          <a:off x="0" y="0"/>
          <a:ext cx="0" cy="0"/>
          <a:chOff x="0" y="0"/>
          <a:chExt cx="0" cy="0"/>
        </a:xfrm>
      </p:grpSpPr>
      <p:sp>
        <p:nvSpPr>
          <p:cNvPr id="2336" name="Google Shape;2336;p45">
            <a:extLst>
              <a:ext uri="{FF2B5EF4-FFF2-40B4-BE49-F238E27FC236}">
                <a16:creationId xmlns:a16="http://schemas.microsoft.com/office/drawing/2014/main" id="{281242F1-9729-4909-88BB-873F8C228013}"/>
              </a:ext>
            </a:extLst>
          </p:cNvPr>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r>
              <a:rPr lang="es-MX" sz="4800" dirty="0"/>
              <a:t>Ejemplo de Data </a:t>
            </a:r>
            <a:r>
              <a:rPr lang="es-MX" sz="4800" dirty="0" err="1"/>
              <a:t>Mining</a:t>
            </a:r>
            <a:endParaRPr lang="es-MX" sz="4800" dirty="0"/>
          </a:p>
        </p:txBody>
      </p:sp>
    </p:spTree>
    <p:extLst>
      <p:ext uri="{BB962C8B-B14F-4D97-AF65-F5344CB8AC3E}">
        <p14:creationId xmlns:p14="http://schemas.microsoft.com/office/powerpoint/2010/main" val="2619884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13309198-4822-8602-BBFC-49A5BB946CA7}"/>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869A0E94-EFAE-836E-E926-D8B31D117822}"/>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DF30477D-52E9-1604-9605-B063CC997186}"/>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pic>
        <p:nvPicPr>
          <p:cNvPr id="8" name="Imagen 7">
            <a:extLst>
              <a:ext uri="{FF2B5EF4-FFF2-40B4-BE49-F238E27FC236}">
                <a16:creationId xmlns:a16="http://schemas.microsoft.com/office/drawing/2014/main" id="{85473DC6-0667-3EBD-8FFF-6662869369FC}"/>
              </a:ext>
            </a:extLst>
          </p:cNvPr>
          <p:cNvPicPr>
            <a:picLocks noChangeAspect="1"/>
          </p:cNvPicPr>
          <p:nvPr/>
        </p:nvPicPr>
        <p:blipFill>
          <a:blip r:embed="rId3"/>
          <a:stretch>
            <a:fillRect/>
          </a:stretch>
        </p:blipFill>
        <p:spPr>
          <a:xfrm>
            <a:off x="714375" y="0"/>
            <a:ext cx="7715250" cy="5143500"/>
          </a:xfrm>
          <a:prstGeom prst="rect">
            <a:avLst/>
          </a:prstGeom>
        </p:spPr>
      </p:pic>
    </p:spTree>
    <p:extLst>
      <p:ext uri="{BB962C8B-B14F-4D97-AF65-F5344CB8AC3E}">
        <p14:creationId xmlns:p14="http://schemas.microsoft.com/office/powerpoint/2010/main" val="1494500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8DFB0E85-1E2A-67EE-3A54-5F22DDFF829E}"/>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CFE39CD1-2F42-336A-FCEF-3E7A71A12F77}"/>
              </a:ext>
            </a:extLst>
          </p:cNvPr>
          <p:cNvSpPr txBox="1">
            <a:spLocks noGrp="1"/>
          </p:cNvSpPr>
          <p:nvPr>
            <p:ph type="title"/>
          </p:nvPr>
        </p:nvSpPr>
        <p:spPr>
          <a:xfrm>
            <a:off x="1033396" y="85343"/>
            <a:ext cx="6964471" cy="572700"/>
          </a:xfrm>
          <a:prstGeom prst="rect">
            <a:avLst/>
          </a:prstGeom>
        </p:spPr>
        <p:txBody>
          <a:bodyPr spcFirstLastPara="1" wrap="square" lIns="91425" tIns="91425" rIns="91425" bIns="91425" anchor="t" anchorCtr="0">
            <a:noAutofit/>
          </a:bodyPr>
          <a:lstStyle/>
          <a:p>
            <a:pPr fontAlgn="t"/>
            <a:r>
              <a:rPr lang="es-MX" dirty="0"/>
              <a:t>Ventajas</a:t>
            </a:r>
          </a:p>
        </p:txBody>
      </p:sp>
      <p:sp>
        <p:nvSpPr>
          <p:cNvPr id="2309" name="Google Shape;2309;p43">
            <a:extLst>
              <a:ext uri="{FF2B5EF4-FFF2-40B4-BE49-F238E27FC236}">
                <a16:creationId xmlns:a16="http://schemas.microsoft.com/office/drawing/2014/main" id="{7C45B283-9F6E-EC6D-183B-F01CF59D8A94}"/>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7E31A171-7ED0-A50D-DA6A-9DC7E2BFBAEE}"/>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64F8011A-EA5A-22DF-9210-419FF8E86FD9}"/>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7" name="CuadroTexto 6">
            <a:extLst>
              <a:ext uri="{FF2B5EF4-FFF2-40B4-BE49-F238E27FC236}">
                <a16:creationId xmlns:a16="http://schemas.microsoft.com/office/drawing/2014/main" id="{74A866E2-AB7A-A215-F822-3B8CAF7AB268}"/>
              </a:ext>
            </a:extLst>
          </p:cNvPr>
          <p:cNvSpPr txBox="1"/>
          <p:nvPr/>
        </p:nvSpPr>
        <p:spPr>
          <a:xfrm>
            <a:off x="996824" y="819398"/>
            <a:ext cx="7037614" cy="4093428"/>
          </a:xfrm>
          <a:prstGeom prst="rect">
            <a:avLst/>
          </a:prstGeom>
          <a:noFill/>
        </p:spPr>
        <p:txBody>
          <a:bodyPr wrap="square">
            <a:spAutoFit/>
          </a:bodyPr>
          <a:lstStyle/>
          <a:p>
            <a:pPr marL="342900" indent="-342900" algn="just" fontAlgn="t">
              <a:lnSpc>
                <a:spcPct val="100000"/>
              </a:lnSpc>
              <a:buSzPct val="150000"/>
              <a:buFont typeface="Arial" panose="020B0604020202020204" pitchFamily="34" charset="0"/>
              <a:buChar char="•"/>
            </a:pPr>
            <a:r>
              <a:rPr lang="es-MX" sz="2000" b="1" i="0" dirty="0">
                <a:solidFill>
                  <a:srgbClr val="77C6FC"/>
                </a:solidFill>
                <a:effectLst/>
                <a:latin typeface="Barlow Condensed Medium" panose="00000606000000000000" pitchFamily="2" charset="0"/>
              </a:rPr>
              <a:t>Detecta patrones y tendencias</a:t>
            </a:r>
            <a:r>
              <a:rPr lang="es-MX" sz="2000" b="0" i="0" dirty="0">
                <a:solidFill>
                  <a:srgbClr val="77C6FC"/>
                </a:solidFill>
                <a:effectLst/>
                <a:latin typeface="Barlow Condensed Medium" panose="00000606000000000000" pitchFamily="2" charset="0"/>
              </a:rPr>
              <a:t> ocultas en grandes volúmenes de datos.</a:t>
            </a:r>
          </a:p>
          <a:p>
            <a:pPr marL="342900" indent="-342900" algn="just" fontAlgn="t">
              <a:lnSpc>
                <a:spcPct val="100000"/>
              </a:lnSpc>
              <a:buSzPct val="150000"/>
              <a:buFont typeface="Arial" panose="020B0604020202020204" pitchFamily="34" charset="0"/>
              <a:buChar char="•"/>
            </a:pPr>
            <a:r>
              <a:rPr lang="es-MX" sz="2000" b="1" i="0" dirty="0">
                <a:solidFill>
                  <a:srgbClr val="77C6FC"/>
                </a:solidFill>
                <a:effectLst/>
                <a:latin typeface="Barlow Condensed Medium" panose="00000606000000000000" pitchFamily="2" charset="0"/>
              </a:rPr>
              <a:t>Optimiza procesos</a:t>
            </a:r>
            <a:r>
              <a:rPr lang="es-MX" sz="2000" b="0" i="0" dirty="0">
                <a:solidFill>
                  <a:srgbClr val="77C6FC"/>
                </a:solidFill>
                <a:effectLst/>
                <a:latin typeface="Barlow Condensed Medium" panose="00000606000000000000" pitchFamily="2" charset="0"/>
              </a:rPr>
              <a:t>, identificando oportunidades para mejorar la eficiencia operativa.</a:t>
            </a:r>
          </a:p>
          <a:p>
            <a:pPr marL="342900" indent="-342900" algn="just" fontAlgn="t">
              <a:lnSpc>
                <a:spcPct val="100000"/>
              </a:lnSpc>
              <a:buSzPct val="150000"/>
              <a:buFont typeface="Arial" panose="020B0604020202020204" pitchFamily="34" charset="0"/>
              <a:buChar char="•"/>
            </a:pPr>
            <a:r>
              <a:rPr lang="es-MX" sz="2000" b="1" i="0" dirty="0">
                <a:solidFill>
                  <a:srgbClr val="77C6FC"/>
                </a:solidFill>
                <a:effectLst/>
                <a:latin typeface="Barlow Condensed Medium" panose="00000606000000000000" pitchFamily="2" charset="0"/>
              </a:rPr>
              <a:t>Analiza el comportamiento de los usuarios</a:t>
            </a:r>
            <a:r>
              <a:rPr lang="es-MX" sz="2000" b="0" i="0" dirty="0">
                <a:solidFill>
                  <a:srgbClr val="77C6FC"/>
                </a:solidFill>
                <a:effectLst/>
                <a:latin typeface="Barlow Condensed Medium" panose="00000606000000000000" pitchFamily="2" charset="0"/>
              </a:rPr>
              <a:t>, permitiendo ofrecer servicios y experiencias más personalizadas.</a:t>
            </a:r>
          </a:p>
          <a:p>
            <a:pPr marL="342900" indent="-342900" algn="just" fontAlgn="t">
              <a:lnSpc>
                <a:spcPct val="100000"/>
              </a:lnSpc>
              <a:buSzPct val="150000"/>
              <a:buFont typeface="Arial" panose="020B0604020202020204" pitchFamily="34" charset="0"/>
              <a:buChar char="•"/>
            </a:pPr>
            <a:r>
              <a:rPr lang="es-MX" sz="2000" b="1" i="0" dirty="0">
                <a:solidFill>
                  <a:srgbClr val="77C6FC"/>
                </a:solidFill>
                <a:effectLst/>
                <a:latin typeface="Barlow Condensed Medium" panose="00000606000000000000" pitchFamily="2" charset="0"/>
              </a:rPr>
              <a:t>Segmenta audiencias</a:t>
            </a:r>
            <a:r>
              <a:rPr lang="es-MX" sz="2000" b="0" i="0" dirty="0">
                <a:solidFill>
                  <a:srgbClr val="77C6FC"/>
                </a:solidFill>
                <a:effectLst/>
                <a:latin typeface="Barlow Condensed Medium" panose="00000606000000000000" pitchFamily="2" charset="0"/>
              </a:rPr>
              <a:t>, ayudando a diseñar estrategias de marketing más efectivas.</a:t>
            </a:r>
          </a:p>
          <a:p>
            <a:pPr marL="342900" indent="-342900" algn="just" fontAlgn="t">
              <a:lnSpc>
                <a:spcPct val="100000"/>
              </a:lnSpc>
              <a:buSzPct val="150000"/>
              <a:buFont typeface="Arial" panose="020B0604020202020204" pitchFamily="34" charset="0"/>
              <a:buChar char="•"/>
            </a:pPr>
            <a:r>
              <a:rPr lang="es-MX" sz="2000" b="1" i="0" dirty="0">
                <a:solidFill>
                  <a:srgbClr val="77C6FC"/>
                </a:solidFill>
                <a:effectLst/>
                <a:latin typeface="Barlow Condensed Medium" panose="00000606000000000000" pitchFamily="2" charset="0"/>
              </a:rPr>
              <a:t>Predice eventos futuros</a:t>
            </a:r>
            <a:r>
              <a:rPr lang="es-MX" sz="2000" b="0" i="0" dirty="0">
                <a:solidFill>
                  <a:srgbClr val="77C6FC"/>
                </a:solidFill>
                <a:effectLst/>
                <a:latin typeface="Barlow Condensed Medium" panose="00000606000000000000" pitchFamily="2" charset="0"/>
              </a:rPr>
              <a:t> a partir de datos históricos, facilitando la prevención de problemas.</a:t>
            </a:r>
          </a:p>
          <a:p>
            <a:pPr marL="342900" indent="-342900" algn="just" fontAlgn="t">
              <a:lnSpc>
                <a:spcPct val="100000"/>
              </a:lnSpc>
              <a:buSzPct val="150000"/>
              <a:buFont typeface="Arial" panose="020B0604020202020204" pitchFamily="34" charset="0"/>
              <a:buChar char="•"/>
            </a:pPr>
            <a:r>
              <a:rPr lang="es-MX" sz="2000" b="1" i="0" dirty="0">
                <a:solidFill>
                  <a:srgbClr val="77C6FC"/>
                </a:solidFill>
                <a:effectLst/>
                <a:latin typeface="Barlow Condensed Medium" panose="00000606000000000000" pitchFamily="2" charset="0"/>
              </a:rPr>
              <a:t>Mejora la toma de decisiones</a:t>
            </a:r>
            <a:r>
              <a:rPr lang="es-MX" sz="2000" b="0" i="0" dirty="0">
                <a:solidFill>
                  <a:srgbClr val="77C6FC"/>
                </a:solidFill>
                <a:effectLst/>
                <a:latin typeface="Barlow Condensed Medium" panose="00000606000000000000" pitchFamily="2" charset="0"/>
              </a:rPr>
              <a:t> mediante información confiable y basada en datos.</a:t>
            </a:r>
          </a:p>
          <a:p>
            <a:pPr marL="342900" indent="-342900" algn="just" fontAlgn="t">
              <a:lnSpc>
                <a:spcPct val="100000"/>
              </a:lnSpc>
              <a:buSzPct val="150000"/>
              <a:buFont typeface="Arial" panose="020B0604020202020204" pitchFamily="34" charset="0"/>
              <a:buChar char="•"/>
            </a:pPr>
            <a:r>
              <a:rPr lang="es-MX" sz="2000" b="1" i="0" dirty="0">
                <a:solidFill>
                  <a:srgbClr val="77C6FC"/>
                </a:solidFill>
                <a:effectLst/>
                <a:latin typeface="Barlow Condensed Medium" panose="00000606000000000000" pitchFamily="2" charset="0"/>
              </a:rPr>
              <a:t>Reduce costos y aumenta la eficiencia</a:t>
            </a:r>
            <a:r>
              <a:rPr lang="es-MX" sz="2000" b="0" i="0" dirty="0">
                <a:solidFill>
                  <a:srgbClr val="77C6FC"/>
                </a:solidFill>
                <a:effectLst/>
                <a:latin typeface="Barlow Condensed Medium" panose="00000606000000000000" pitchFamily="2" charset="0"/>
              </a:rPr>
              <a:t>, haciendo que las organizaciones sean más productivas y competitivas.</a:t>
            </a:r>
          </a:p>
        </p:txBody>
      </p:sp>
    </p:spTree>
    <p:extLst>
      <p:ext uri="{BB962C8B-B14F-4D97-AF65-F5344CB8AC3E}">
        <p14:creationId xmlns:p14="http://schemas.microsoft.com/office/powerpoint/2010/main" val="2255656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0C8BCEBB-DA1C-BFDD-F1A7-32608957D938}"/>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D67F1C96-211F-7831-EB3C-E56D70BB13EE}"/>
              </a:ext>
            </a:extLst>
          </p:cNvPr>
          <p:cNvSpPr txBox="1">
            <a:spLocks noGrp="1"/>
          </p:cNvSpPr>
          <p:nvPr>
            <p:ph type="title"/>
          </p:nvPr>
        </p:nvSpPr>
        <p:spPr>
          <a:xfrm>
            <a:off x="1033396" y="85343"/>
            <a:ext cx="6964471" cy="572700"/>
          </a:xfrm>
          <a:prstGeom prst="rect">
            <a:avLst/>
          </a:prstGeom>
        </p:spPr>
        <p:txBody>
          <a:bodyPr spcFirstLastPara="1" wrap="square" lIns="91425" tIns="91425" rIns="91425" bIns="91425" anchor="t" anchorCtr="0">
            <a:noAutofit/>
          </a:bodyPr>
          <a:lstStyle/>
          <a:p>
            <a:pPr fontAlgn="t"/>
            <a:r>
              <a:rPr lang="es-MX" dirty="0"/>
              <a:t>Técnicas de Data </a:t>
            </a:r>
            <a:r>
              <a:rPr lang="es-MX" dirty="0" err="1"/>
              <a:t>Mining</a:t>
            </a:r>
            <a:r>
              <a:rPr lang="es-MX" dirty="0"/>
              <a:t> más utilizadas</a:t>
            </a:r>
          </a:p>
        </p:txBody>
      </p:sp>
      <p:sp>
        <p:nvSpPr>
          <p:cNvPr id="2309" name="Google Shape;2309;p43">
            <a:extLst>
              <a:ext uri="{FF2B5EF4-FFF2-40B4-BE49-F238E27FC236}">
                <a16:creationId xmlns:a16="http://schemas.microsoft.com/office/drawing/2014/main" id="{8DD03F42-F357-368C-ED41-243269DF0C97}"/>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77C086A6-1A6B-A83C-EFC2-967D8CA5FA16}"/>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F3B9E7EA-9E3C-4BC1-51F3-2113A0313803}"/>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7" name="CuadroTexto 6">
            <a:extLst>
              <a:ext uri="{FF2B5EF4-FFF2-40B4-BE49-F238E27FC236}">
                <a16:creationId xmlns:a16="http://schemas.microsoft.com/office/drawing/2014/main" id="{A32A1B53-67DF-46DF-3341-6DCF000A35C3}"/>
              </a:ext>
            </a:extLst>
          </p:cNvPr>
          <p:cNvSpPr txBox="1"/>
          <p:nvPr/>
        </p:nvSpPr>
        <p:spPr>
          <a:xfrm>
            <a:off x="996824" y="819398"/>
            <a:ext cx="7037614" cy="4154984"/>
          </a:xfrm>
          <a:prstGeom prst="rect">
            <a:avLst/>
          </a:prstGeom>
          <a:noFill/>
        </p:spPr>
        <p:txBody>
          <a:bodyPr wrap="square">
            <a:spAutoFit/>
          </a:bodyPr>
          <a:lstStyle/>
          <a:p>
            <a:pPr marL="342900" lvl="0" indent="-342900" algn="just" fontAlgn="t">
              <a:buFont typeface="Arial" panose="020B0604020202020204" pitchFamily="34" charset="0"/>
              <a:buChar char="•"/>
            </a:pPr>
            <a:r>
              <a:rPr lang="es-MX" sz="2400" b="1"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Clasificación:</a:t>
            </a:r>
            <a:r>
              <a:rPr lang="es-MX" sz="2400"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Predice categorías (ej. aprobar/reprobar).</a:t>
            </a:r>
          </a:p>
          <a:p>
            <a:pPr marL="342900" lvl="0" indent="-342900" algn="just" fontAlgn="t">
              <a:buFont typeface="Arial" panose="020B0604020202020204" pitchFamily="34" charset="0"/>
              <a:buChar char="•"/>
            </a:pPr>
            <a:r>
              <a:rPr lang="es-MX" sz="2400" b="1"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Regresión:</a:t>
            </a:r>
            <a:r>
              <a:rPr lang="es-MX" sz="2400"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Estima valores numéricos (ej. ventas futuras).</a:t>
            </a:r>
          </a:p>
          <a:p>
            <a:pPr marL="342900" lvl="0" indent="-342900" algn="just" fontAlgn="t">
              <a:buFont typeface="Arial" panose="020B0604020202020204" pitchFamily="34" charset="0"/>
              <a:buChar char="•"/>
            </a:pPr>
            <a:r>
              <a:rPr lang="es-MX" sz="2400" b="1" dirty="0" err="1">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Clustering</a:t>
            </a:r>
            <a:r>
              <a:rPr lang="es-MX" sz="2400" b="1"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 (Agrupamiento):</a:t>
            </a:r>
            <a:r>
              <a:rPr lang="es-MX" sz="2400"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Agrupa elementos similares sin conocer previamente las categorías.</a:t>
            </a:r>
          </a:p>
          <a:p>
            <a:pPr marL="342900" lvl="0" indent="-342900" algn="just" fontAlgn="t">
              <a:buFont typeface="Arial" panose="020B0604020202020204" pitchFamily="34" charset="0"/>
              <a:buChar char="•"/>
            </a:pPr>
            <a:r>
              <a:rPr lang="es-MX" sz="2400" b="1"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Reglas de asociación:</a:t>
            </a:r>
            <a:r>
              <a:rPr lang="es-MX" sz="2400"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Encuentra relaciones entre productos o eventos.</a:t>
            </a:r>
          </a:p>
          <a:p>
            <a:pPr marL="342900" lvl="0" indent="-342900" algn="just" fontAlgn="t">
              <a:buFont typeface="Arial" panose="020B0604020202020204" pitchFamily="34" charset="0"/>
              <a:buChar char="•"/>
            </a:pPr>
            <a:r>
              <a:rPr lang="es-MX" sz="2400" b="1"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Detección de anomalías:</a:t>
            </a:r>
            <a:r>
              <a:rPr lang="es-MX" sz="2400" dirty="0">
                <a:solidFill>
                  <a:schemeClr val="accent2">
                    <a:lumMod val="10000"/>
                  </a:schemeClr>
                </a:solidFill>
                <a:latin typeface="ADLaM Display" panose="02010000000000000000" pitchFamily="2" charset="0"/>
                <a:ea typeface="ADLaM Display" panose="02010000000000000000" pitchFamily="2" charset="0"/>
                <a:cs typeface="ADLaM Display" panose="02010000000000000000" pitchFamily="2" charset="0"/>
              </a:rPr>
              <a:t> </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Identifica comportamientos inusuales o fraudes.</a:t>
            </a:r>
          </a:p>
        </p:txBody>
      </p:sp>
    </p:spTree>
    <p:extLst>
      <p:ext uri="{BB962C8B-B14F-4D97-AF65-F5344CB8AC3E}">
        <p14:creationId xmlns:p14="http://schemas.microsoft.com/office/powerpoint/2010/main" val="3444451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F7423300-82D4-7A3C-8614-47DDA006C91E}"/>
            </a:ext>
          </a:extLst>
        </p:cNvPr>
        <p:cNvGrpSpPr/>
        <p:nvPr/>
      </p:nvGrpSpPr>
      <p:grpSpPr>
        <a:xfrm>
          <a:off x="0" y="0"/>
          <a:ext cx="0" cy="0"/>
          <a:chOff x="0" y="0"/>
          <a:chExt cx="0" cy="0"/>
        </a:xfrm>
      </p:grpSpPr>
      <p:sp>
        <p:nvSpPr>
          <p:cNvPr id="10" name="Rectángulo: esquinas redondeadas 9">
            <a:extLst>
              <a:ext uri="{FF2B5EF4-FFF2-40B4-BE49-F238E27FC236}">
                <a16:creationId xmlns:a16="http://schemas.microsoft.com/office/drawing/2014/main" id="{AE4204B9-BB94-2E77-188C-97E055C15B61}"/>
              </a:ext>
            </a:extLst>
          </p:cNvPr>
          <p:cNvSpPr/>
          <p:nvPr/>
        </p:nvSpPr>
        <p:spPr>
          <a:xfrm>
            <a:off x="4716149" y="1005700"/>
            <a:ext cx="3999946" cy="3238051"/>
          </a:xfrm>
          <a:prstGeom prst="roundRect">
            <a:avLst>
              <a:gd name="adj" fmla="val 1550"/>
            </a:avLst>
          </a:prstGeom>
          <a:solidFill>
            <a:srgbClr val="FBFD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09" name="Google Shape;2309;p43">
            <a:extLst>
              <a:ext uri="{FF2B5EF4-FFF2-40B4-BE49-F238E27FC236}">
                <a16:creationId xmlns:a16="http://schemas.microsoft.com/office/drawing/2014/main" id="{450DE288-F454-3C80-9D42-0F5287EA3A2B}"/>
              </a:ext>
            </a:extLst>
          </p:cNvPr>
          <p:cNvSpPr txBox="1"/>
          <p:nvPr/>
        </p:nvSpPr>
        <p:spPr>
          <a:xfrm>
            <a:off x="6422281" y="3170588"/>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1DC31F60-0CA3-733E-F3F5-95BCEC54BD30}"/>
              </a:ext>
            </a:extLst>
          </p:cNvPr>
          <p:cNvSpPr txBox="1"/>
          <p:nvPr/>
        </p:nvSpPr>
        <p:spPr>
          <a:xfrm>
            <a:off x="6422281" y="1387508"/>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2229FB89-B7C0-F17E-2244-696822A90FDA}"/>
              </a:ext>
            </a:extLst>
          </p:cNvPr>
          <p:cNvSpPr txBox="1"/>
          <p:nvPr/>
        </p:nvSpPr>
        <p:spPr>
          <a:xfrm>
            <a:off x="2336104" y="2210998"/>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pic>
        <p:nvPicPr>
          <p:cNvPr id="6" name="Imagen 5">
            <a:extLst>
              <a:ext uri="{FF2B5EF4-FFF2-40B4-BE49-F238E27FC236}">
                <a16:creationId xmlns:a16="http://schemas.microsoft.com/office/drawing/2014/main" id="{87FAED8F-8FCD-E997-AECA-90DEE8A9D712}"/>
              </a:ext>
            </a:extLst>
          </p:cNvPr>
          <p:cNvPicPr>
            <a:picLocks noChangeAspect="1"/>
          </p:cNvPicPr>
          <p:nvPr/>
        </p:nvPicPr>
        <p:blipFill>
          <a:blip r:embed="rId3"/>
          <a:srcRect b="46032"/>
          <a:stretch>
            <a:fillRect/>
          </a:stretch>
        </p:blipFill>
        <p:spPr>
          <a:xfrm>
            <a:off x="716203" y="1005700"/>
            <a:ext cx="3999946" cy="3238051"/>
          </a:xfrm>
          <a:prstGeom prst="rect">
            <a:avLst/>
          </a:prstGeom>
        </p:spPr>
      </p:pic>
      <p:pic>
        <p:nvPicPr>
          <p:cNvPr id="9" name="Imagen 8">
            <a:extLst>
              <a:ext uri="{FF2B5EF4-FFF2-40B4-BE49-F238E27FC236}">
                <a16:creationId xmlns:a16="http://schemas.microsoft.com/office/drawing/2014/main" id="{784930E4-C9E3-CE41-29C9-DD90B5FAF065}"/>
              </a:ext>
            </a:extLst>
          </p:cNvPr>
          <p:cNvPicPr>
            <a:picLocks noChangeAspect="1"/>
          </p:cNvPicPr>
          <p:nvPr/>
        </p:nvPicPr>
        <p:blipFill>
          <a:blip r:embed="rId3"/>
          <a:srcRect t="54180"/>
          <a:stretch>
            <a:fillRect/>
          </a:stretch>
        </p:blipFill>
        <p:spPr>
          <a:xfrm>
            <a:off x="4716149" y="1292457"/>
            <a:ext cx="3876805" cy="2664535"/>
          </a:xfrm>
          <a:prstGeom prst="rect">
            <a:avLst/>
          </a:prstGeom>
        </p:spPr>
      </p:pic>
    </p:spTree>
    <p:extLst>
      <p:ext uri="{BB962C8B-B14F-4D97-AF65-F5344CB8AC3E}">
        <p14:creationId xmlns:p14="http://schemas.microsoft.com/office/powerpoint/2010/main" val="8782688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5CA17A03-CDF5-EF93-BDD4-CC779752F8EE}"/>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3A00FFA4-28A8-AD77-FA9B-A4159727CAE2}"/>
              </a:ext>
            </a:extLst>
          </p:cNvPr>
          <p:cNvSpPr txBox="1">
            <a:spLocks noGrp="1"/>
          </p:cNvSpPr>
          <p:nvPr>
            <p:ph type="title"/>
          </p:nvPr>
        </p:nvSpPr>
        <p:spPr>
          <a:xfrm>
            <a:off x="1060233" y="156404"/>
            <a:ext cx="6964471" cy="572700"/>
          </a:xfrm>
          <a:prstGeom prst="rect">
            <a:avLst/>
          </a:prstGeom>
        </p:spPr>
        <p:txBody>
          <a:bodyPr spcFirstLastPara="1" wrap="square" lIns="91425" tIns="91425" rIns="91425" bIns="91425" anchor="t" anchorCtr="0">
            <a:noAutofit/>
          </a:bodyPr>
          <a:lstStyle/>
          <a:p>
            <a:pPr fontAlgn="t"/>
            <a:r>
              <a:rPr lang="es-MX" dirty="0"/>
              <a:t>Actividad</a:t>
            </a:r>
          </a:p>
        </p:txBody>
      </p:sp>
      <p:sp>
        <p:nvSpPr>
          <p:cNvPr id="2309" name="Google Shape;2309;p43">
            <a:extLst>
              <a:ext uri="{FF2B5EF4-FFF2-40B4-BE49-F238E27FC236}">
                <a16:creationId xmlns:a16="http://schemas.microsoft.com/office/drawing/2014/main" id="{2F446E3A-7A9B-03CA-16F3-C89C6DFBF206}"/>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D4258EAE-17B8-E1A0-D69C-D865396651F5}"/>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9A83B7F6-7DF4-1465-C669-D33391C38DD5}"/>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12" name="CuadroTexto 11">
            <a:extLst>
              <a:ext uri="{FF2B5EF4-FFF2-40B4-BE49-F238E27FC236}">
                <a16:creationId xmlns:a16="http://schemas.microsoft.com/office/drawing/2014/main" id="{DFEE6653-22CF-1018-8D51-C46BE431C72D}"/>
              </a:ext>
            </a:extLst>
          </p:cNvPr>
          <p:cNvSpPr txBox="1"/>
          <p:nvPr/>
        </p:nvSpPr>
        <p:spPr>
          <a:xfrm>
            <a:off x="912589" y="873579"/>
            <a:ext cx="4572000" cy="385362"/>
          </a:xfrm>
          <a:prstGeom prst="rect">
            <a:avLst/>
          </a:prstGeom>
          <a:noFill/>
        </p:spPr>
        <p:txBody>
          <a:bodyPr wrap="square">
            <a:spAutoFit/>
          </a:bodyPr>
          <a:lstStyle/>
          <a:p>
            <a:pPr fontAlgn="t">
              <a:lnSpc>
                <a:spcPct val="119048"/>
              </a:lnSpc>
              <a:buNone/>
            </a:pPr>
            <a:r>
              <a:rPr lang="es-MX" sz="1600" b="1" dirty="0">
                <a:effectLst/>
                <a:latin typeface="ADLaM Display" panose="02010000000000000000" pitchFamily="2" charset="0"/>
                <a:ea typeface="ADLaM Display" panose="02010000000000000000" pitchFamily="2" charset="0"/>
                <a:cs typeface="ADLaM Display" panose="02010000000000000000" pitchFamily="2" charset="0"/>
              </a:rPr>
              <a:t>Paso 1. Analiza la siguiente información </a:t>
            </a:r>
            <a:endParaRPr lang="es-MX" sz="1600" b="1" i="0" dirty="0">
              <a:effectLst/>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4" name="Tabla 3">
            <a:extLst>
              <a:ext uri="{FF2B5EF4-FFF2-40B4-BE49-F238E27FC236}">
                <a16:creationId xmlns:a16="http://schemas.microsoft.com/office/drawing/2014/main" id="{F01D17BF-F14B-784F-2A9E-ED1F20863526}"/>
              </a:ext>
            </a:extLst>
          </p:cNvPr>
          <p:cNvGraphicFramePr>
            <a:graphicFrameLocks noGrp="1"/>
          </p:cNvGraphicFramePr>
          <p:nvPr>
            <p:extLst>
              <p:ext uri="{D42A27DB-BD31-4B8C-83A1-F6EECF244321}">
                <p14:modId xmlns:p14="http://schemas.microsoft.com/office/powerpoint/2010/main" val="436567938"/>
              </p:ext>
            </p:extLst>
          </p:nvPr>
        </p:nvGraphicFramePr>
        <p:xfrm>
          <a:off x="1252943" y="1403416"/>
          <a:ext cx="6579050" cy="3348708"/>
        </p:xfrm>
        <a:graphic>
          <a:graphicData uri="http://schemas.openxmlformats.org/drawingml/2006/table">
            <a:tbl>
              <a:tblPr>
                <a:tableStyleId>{B3E9E1F4-964A-4C0C-AB1B-2E9AAE976577}</a:tableStyleId>
              </a:tblPr>
              <a:tblGrid>
                <a:gridCol w="3256264">
                  <a:extLst>
                    <a:ext uri="{9D8B030D-6E8A-4147-A177-3AD203B41FA5}">
                      <a16:colId xmlns:a16="http://schemas.microsoft.com/office/drawing/2014/main" val="1615036752"/>
                    </a:ext>
                  </a:extLst>
                </a:gridCol>
                <a:gridCol w="3322786">
                  <a:extLst>
                    <a:ext uri="{9D8B030D-6E8A-4147-A177-3AD203B41FA5}">
                      <a16:colId xmlns:a16="http://schemas.microsoft.com/office/drawing/2014/main" val="4240507000"/>
                    </a:ext>
                  </a:extLst>
                </a:gridCol>
              </a:tblGrid>
              <a:tr h="304428">
                <a:tc>
                  <a:txBody>
                    <a:bodyPr/>
                    <a:lstStyle/>
                    <a:p>
                      <a:pPr algn="ctr">
                        <a:buNone/>
                      </a:pPr>
                      <a:r>
                        <a:rPr lang="es-MX" sz="1400" b="1" dirty="0"/>
                        <a:t>🧾 Ticket</a:t>
                      </a:r>
                    </a:p>
                  </a:txBody>
                  <a:tcPr marL="88972" marR="88972" marT="44486" marB="44486" anchor="ctr">
                    <a:solidFill>
                      <a:srgbClr val="77C6FC"/>
                    </a:solidFill>
                  </a:tcPr>
                </a:tc>
                <a:tc>
                  <a:txBody>
                    <a:bodyPr/>
                    <a:lstStyle/>
                    <a:p>
                      <a:pPr algn="ctr">
                        <a:buNone/>
                      </a:pPr>
                      <a:r>
                        <a:rPr lang="es-MX" sz="1400" b="1" dirty="0"/>
                        <a:t>🛒 Productos comprados</a:t>
                      </a:r>
                    </a:p>
                  </a:txBody>
                  <a:tcPr marL="88972" marR="88972" marT="44486" marB="44486" anchor="ctr">
                    <a:solidFill>
                      <a:srgbClr val="77C6FC"/>
                    </a:solidFill>
                  </a:tcPr>
                </a:tc>
                <a:extLst>
                  <a:ext uri="{0D108BD9-81ED-4DB2-BD59-A6C34878D82A}">
                    <a16:rowId xmlns:a16="http://schemas.microsoft.com/office/drawing/2014/main" val="3717861963"/>
                  </a:ext>
                </a:extLst>
              </a:tr>
              <a:tr h="304428">
                <a:tc>
                  <a:txBody>
                    <a:bodyPr/>
                    <a:lstStyle/>
                    <a:p>
                      <a:pPr algn="ctr">
                        <a:buNone/>
                      </a:pPr>
                      <a:r>
                        <a:rPr lang="es-MX" sz="1400" dirty="0"/>
                        <a:t>01</a:t>
                      </a:r>
                    </a:p>
                  </a:txBody>
                  <a:tcPr marL="88972" marR="88972" marT="44486" marB="44486" anchor="ctr"/>
                </a:tc>
                <a:tc>
                  <a:txBody>
                    <a:bodyPr/>
                    <a:lstStyle/>
                    <a:p>
                      <a:pPr>
                        <a:buNone/>
                      </a:pPr>
                      <a:r>
                        <a:rPr lang="es-MX" sz="1400" dirty="0"/>
                        <a:t>🥛 Leche · 🍞 Pan · 🥚 Huevos</a:t>
                      </a:r>
                    </a:p>
                  </a:txBody>
                  <a:tcPr marL="88972" marR="88972" marT="44486" marB="44486" anchor="ctr"/>
                </a:tc>
                <a:extLst>
                  <a:ext uri="{0D108BD9-81ED-4DB2-BD59-A6C34878D82A}">
                    <a16:rowId xmlns:a16="http://schemas.microsoft.com/office/drawing/2014/main" val="2539696801"/>
                  </a:ext>
                </a:extLst>
              </a:tr>
              <a:tr h="304428">
                <a:tc>
                  <a:txBody>
                    <a:bodyPr/>
                    <a:lstStyle/>
                    <a:p>
                      <a:pPr algn="ctr">
                        <a:buNone/>
                      </a:pPr>
                      <a:r>
                        <a:rPr lang="es-MX" sz="1400"/>
                        <a:t>02</a:t>
                      </a:r>
                    </a:p>
                  </a:txBody>
                  <a:tcPr marL="88972" marR="88972" marT="44486" marB="44486" anchor="ctr"/>
                </a:tc>
                <a:tc>
                  <a:txBody>
                    <a:bodyPr/>
                    <a:lstStyle/>
                    <a:p>
                      <a:pPr>
                        <a:buNone/>
                      </a:pPr>
                      <a:r>
                        <a:rPr lang="es-MX" sz="1400"/>
                        <a:t>🥛 Leche · 🍞 Pan</a:t>
                      </a:r>
                    </a:p>
                  </a:txBody>
                  <a:tcPr marL="88972" marR="88972" marT="44486" marB="44486" anchor="ctr"/>
                </a:tc>
                <a:extLst>
                  <a:ext uri="{0D108BD9-81ED-4DB2-BD59-A6C34878D82A}">
                    <a16:rowId xmlns:a16="http://schemas.microsoft.com/office/drawing/2014/main" val="3081213292"/>
                  </a:ext>
                </a:extLst>
              </a:tr>
              <a:tr h="304428">
                <a:tc>
                  <a:txBody>
                    <a:bodyPr/>
                    <a:lstStyle/>
                    <a:p>
                      <a:pPr algn="ctr">
                        <a:buNone/>
                      </a:pPr>
                      <a:r>
                        <a:rPr lang="es-MX" sz="1400"/>
                        <a:t>03</a:t>
                      </a:r>
                    </a:p>
                  </a:txBody>
                  <a:tcPr marL="88972" marR="88972" marT="44486" marB="44486" anchor="ctr"/>
                </a:tc>
                <a:tc>
                  <a:txBody>
                    <a:bodyPr/>
                    <a:lstStyle/>
                    <a:p>
                      <a:pPr>
                        <a:buNone/>
                      </a:pPr>
                      <a:r>
                        <a:rPr lang="es-MX" sz="1400"/>
                        <a:t>🥛 Leche · 🥣 Cereal</a:t>
                      </a:r>
                    </a:p>
                  </a:txBody>
                  <a:tcPr marL="88972" marR="88972" marT="44486" marB="44486" anchor="ctr"/>
                </a:tc>
                <a:extLst>
                  <a:ext uri="{0D108BD9-81ED-4DB2-BD59-A6C34878D82A}">
                    <a16:rowId xmlns:a16="http://schemas.microsoft.com/office/drawing/2014/main" val="1168650532"/>
                  </a:ext>
                </a:extLst>
              </a:tr>
              <a:tr h="304428">
                <a:tc>
                  <a:txBody>
                    <a:bodyPr/>
                    <a:lstStyle/>
                    <a:p>
                      <a:pPr algn="ctr">
                        <a:buNone/>
                      </a:pPr>
                      <a:r>
                        <a:rPr lang="es-MX" sz="1400"/>
                        <a:t>04</a:t>
                      </a:r>
                    </a:p>
                  </a:txBody>
                  <a:tcPr marL="88972" marR="88972" marT="44486" marB="44486" anchor="ctr"/>
                </a:tc>
                <a:tc>
                  <a:txBody>
                    <a:bodyPr/>
                    <a:lstStyle/>
                    <a:p>
                      <a:pPr>
                        <a:buNone/>
                      </a:pPr>
                      <a:r>
                        <a:rPr lang="es-MX" sz="1400"/>
                        <a:t>🍞 Pan · 🥚 Huevos</a:t>
                      </a:r>
                    </a:p>
                  </a:txBody>
                  <a:tcPr marL="88972" marR="88972" marT="44486" marB="44486" anchor="ctr"/>
                </a:tc>
                <a:extLst>
                  <a:ext uri="{0D108BD9-81ED-4DB2-BD59-A6C34878D82A}">
                    <a16:rowId xmlns:a16="http://schemas.microsoft.com/office/drawing/2014/main" val="2386809068"/>
                  </a:ext>
                </a:extLst>
              </a:tr>
              <a:tr h="304428">
                <a:tc>
                  <a:txBody>
                    <a:bodyPr/>
                    <a:lstStyle/>
                    <a:p>
                      <a:pPr algn="ctr">
                        <a:buNone/>
                      </a:pPr>
                      <a:r>
                        <a:rPr lang="es-MX" sz="1400"/>
                        <a:t>05</a:t>
                      </a:r>
                    </a:p>
                  </a:txBody>
                  <a:tcPr marL="88972" marR="88972" marT="44486" marB="44486" anchor="ctr"/>
                </a:tc>
                <a:tc>
                  <a:txBody>
                    <a:bodyPr/>
                    <a:lstStyle/>
                    <a:p>
                      <a:pPr>
                        <a:buNone/>
                      </a:pPr>
                      <a:r>
                        <a:rPr lang="es-MX" sz="1400"/>
                        <a:t>🥛 Leche · 🍞 Pan · 🥣 Cereal</a:t>
                      </a:r>
                    </a:p>
                  </a:txBody>
                  <a:tcPr marL="88972" marR="88972" marT="44486" marB="44486" anchor="ctr"/>
                </a:tc>
                <a:extLst>
                  <a:ext uri="{0D108BD9-81ED-4DB2-BD59-A6C34878D82A}">
                    <a16:rowId xmlns:a16="http://schemas.microsoft.com/office/drawing/2014/main" val="2934185578"/>
                  </a:ext>
                </a:extLst>
              </a:tr>
              <a:tr h="304428">
                <a:tc>
                  <a:txBody>
                    <a:bodyPr/>
                    <a:lstStyle/>
                    <a:p>
                      <a:pPr algn="ctr">
                        <a:buNone/>
                      </a:pPr>
                      <a:r>
                        <a:rPr lang="es-MX" sz="1400"/>
                        <a:t>06</a:t>
                      </a:r>
                    </a:p>
                  </a:txBody>
                  <a:tcPr marL="88972" marR="88972" marT="44486" marB="44486" anchor="ctr"/>
                </a:tc>
                <a:tc>
                  <a:txBody>
                    <a:bodyPr/>
                    <a:lstStyle/>
                    <a:p>
                      <a:pPr>
                        <a:buNone/>
                      </a:pPr>
                      <a:r>
                        <a:rPr lang="es-MX" sz="1400"/>
                        <a:t>🥛 Leche · 🍞 Pan</a:t>
                      </a:r>
                    </a:p>
                  </a:txBody>
                  <a:tcPr marL="88972" marR="88972" marT="44486" marB="44486" anchor="ctr"/>
                </a:tc>
                <a:extLst>
                  <a:ext uri="{0D108BD9-81ED-4DB2-BD59-A6C34878D82A}">
                    <a16:rowId xmlns:a16="http://schemas.microsoft.com/office/drawing/2014/main" val="1025760426"/>
                  </a:ext>
                </a:extLst>
              </a:tr>
              <a:tr h="304428">
                <a:tc>
                  <a:txBody>
                    <a:bodyPr/>
                    <a:lstStyle/>
                    <a:p>
                      <a:pPr algn="ctr">
                        <a:buNone/>
                      </a:pPr>
                      <a:r>
                        <a:rPr lang="es-MX" sz="1400"/>
                        <a:t>07</a:t>
                      </a:r>
                    </a:p>
                  </a:txBody>
                  <a:tcPr marL="88972" marR="88972" marT="44486" marB="44486" anchor="ctr"/>
                </a:tc>
                <a:tc>
                  <a:txBody>
                    <a:bodyPr/>
                    <a:lstStyle/>
                    <a:p>
                      <a:pPr>
                        <a:buNone/>
                      </a:pPr>
                      <a:r>
                        <a:rPr lang="es-MX" sz="1400"/>
                        <a:t>🥣 Cereal · 🍌 Plátano</a:t>
                      </a:r>
                    </a:p>
                  </a:txBody>
                  <a:tcPr marL="88972" marR="88972" marT="44486" marB="44486" anchor="ctr"/>
                </a:tc>
                <a:extLst>
                  <a:ext uri="{0D108BD9-81ED-4DB2-BD59-A6C34878D82A}">
                    <a16:rowId xmlns:a16="http://schemas.microsoft.com/office/drawing/2014/main" val="569804821"/>
                  </a:ext>
                </a:extLst>
              </a:tr>
              <a:tr h="304428">
                <a:tc>
                  <a:txBody>
                    <a:bodyPr/>
                    <a:lstStyle/>
                    <a:p>
                      <a:pPr algn="ctr">
                        <a:buNone/>
                      </a:pPr>
                      <a:r>
                        <a:rPr lang="es-MX" sz="1400"/>
                        <a:t>08</a:t>
                      </a:r>
                    </a:p>
                  </a:txBody>
                  <a:tcPr marL="88972" marR="88972" marT="44486" marB="44486" anchor="ctr"/>
                </a:tc>
                <a:tc>
                  <a:txBody>
                    <a:bodyPr/>
                    <a:lstStyle/>
                    <a:p>
                      <a:pPr>
                        <a:buNone/>
                      </a:pPr>
                      <a:r>
                        <a:rPr lang="es-MX" sz="1400"/>
                        <a:t>🥛 Leche · 🍞 Pan · 🥚 Huevos</a:t>
                      </a:r>
                    </a:p>
                  </a:txBody>
                  <a:tcPr marL="88972" marR="88972" marT="44486" marB="44486" anchor="ctr"/>
                </a:tc>
                <a:extLst>
                  <a:ext uri="{0D108BD9-81ED-4DB2-BD59-A6C34878D82A}">
                    <a16:rowId xmlns:a16="http://schemas.microsoft.com/office/drawing/2014/main" val="1001438592"/>
                  </a:ext>
                </a:extLst>
              </a:tr>
              <a:tr h="304428">
                <a:tc>
                  <a:txBody>
                    <a:bodyPr/>
                    <a:lstStyle/>
                    <a:p>
                      <a:pPr algn="ctr">
                        <a:buNone/>
                      </a:pPr>
                      <a:r>
                        <a:rPr lang="es-MX" sz="1400"/>
                        <a:t>09</a:t>
                      </a:r>
                    </a:p>
                  </a:txBody>
                  <a:tcPr marL="88972" marR="88972" marT="44486" marB="44486" anchor="ctr"/>
                </a:tc>
                <a:tc>
                  <a:txBody>
                    <a:bodyPr/>
                    <a:lstStyle/>
                    <a:p>
                      <a:pPr>
                        <a:buNone/>
                      </a:pPr>
                      <a:r>
                        <a:rPr lang="es-MX" sz="1400"/>
                        <a:t>🥛 Leche · 🥣 Cereal</a:t>
                      </a:r>
                    </a:p>
                  </a:txBody>
                  <a:tcPr marL="88972" marR="88972" marT="44486" marB="44486" anchor="ctr"/>
                </a:tc>
                <a:extLst>
                  <a:ext uri="{0D108BD9-81ED-4DB2-BD59-A6C34878D82A}">
                    <a16:rowId xmlns:a16="http://schemas.microsoft.com/office/drawing/2014/main" val="2928930744"/>
                  </a:ext>
                </a:extLst>
              </a:tr>
              <a:tr h="304428">
                <a:tc>
                  <a:txBody>
                    <a:bodyPr/>
                    <a:lstStyle/>
                    <a:p>
                      <a:pPr algn="ctr">
                        <a:buNone/>
                      </a:pPr>
                      <a:r>
                        <a:rPr lang="es-MX" sz="1400" dirty="0"/>
                        <a:t>10</a:t>
                      </a:r>
                    </a:p>
                  </a:txBody>
                  <a:tcPr marL="88972" marR="88972" marT="44486" marB="44486" anchor="ctr"/>
                </a:tc>
                <a:tc>
                  <a:txBody>
                    <a:bodyPr/>
                    <a:lstStyle/>
                    <a:p>
                      <a:pPr>
                        <a:buNone/>
                      </a:pPr>
                      <a:r>
                        <a:rPr lang="es-MX" sz="1400" dirty="0"/>
                        <a:t>🥛 Leche · 🍞 Pan</a:t>
                      </a:r>
                    </a:p>
                  </a:txBody>
                  <a:tcPr marL="88972" marR="88972" marT="44486" marB="44486" anchor="ctr"/>
                </a:tc>
                <a:extLst>
                  <a:ext uri="{0D108BD9-81ED-4DB2-BD59-A6C34878D82A}">
                    <a16:rowId xmlns:a16="http://schemas.microsoft.com/office/drawing/2014/main" val="2783249769"/>
                  </a:ext>
                </a:extLst>
              </a:tr>
            </a:tbl>
          </a:graphicData>
        </a:graphic>
      </p:graphicFrame>
    </p:spTree>
    <p:extLst>
      <p:ext uri="{BB962C8B-B14F-4D97-AF65-F5344CB8AC3E}">
        <p14:creationId xmlns:p14="http://schemas.microsoft.com/office/powerpoint/2010/main" val="3771093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1BF297B6-FC36-65CC-A8C0-C883881D22C9}"/>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2D17E565-8F7D-541E-44F9-966BBE9E5FA0}"/>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lvl="0" algn="l" fontAlgn="t"/>
            <a:r>
              <a:rPr lang="es-MX" dirty="0">
                <a:latin typeface="ADLaM Display" panose="02010000000000000000" pitchFamily="2" charset="0"/>
                <a:ea typeface="ADLaM Display" panose="02010000000000000000" pitchFamily="2" charset="0"/>
                <a:cs typeface="ADLaM Display" panose="02010000000000000000" pitchFamily="2" charset="0"/>
              </a:rPr>
              <a:t>¿</a:t>
            </a:r>
            <a:r>
              <a:rPr lang="es-MX" sz="2400" dirty="0">
                <a:latin typeface="ADLaM Display" panose="02010000000000000000" pitchFamily="2" charset="0"/>
                <a:ea typeface="ADLaM Display" panose="02010000000000000000" pitchFamily="2" charset="0"/>
                <a:cs typeface="ADLaM Display" panose="02010000000000000000" pitchFamily="2" charset="0"/>
              </a:rPr>
              <a:t>Qué productos parecen comprarse juntos con mayor frecuencia?</a:t>
            </a:r>
            <a:br>
              <a:rPr lang="es-MX" sz="2400" dirty="0">
                <a:latin typeface="ADLaM Display" panose="02010000000000000000" pitchFamily="2" charset="0"/>
                <a:ea typeface="ADLaM Display" panose="02010000000000000000" pitchFamily="2" charset="0"/>
                <a:cs typeface="ADLaM Display" panose="02010000000000000000" pitchFamily="2" charset="0"/>
              </a:rPr>
            </a:br>
            <a:r>
              <a:rPr lang="es-MX" sz="2400" dirty="0">
                <a:latin typeface="ADLaM Display" panose="02010000000000000000" pitchFamily="2" charset="0"/>
                <a:ea typeface="ADLaM Display" panose="02010000000000000000" pitchFamily="2" charset="0"/>
                <a:cs typeface="ADLaM Display" panose="02010000000000000000" pitchFamily="2" charset="0"/>
              </a:rPr>
              <a:t>¿Qué productos podrían colocarse cerca en la tienda?</a:t>
            </a:r>
            <a:br>
              <a:rPr lang="es-MX" sz="2400" dirty="0">
                <a:latin typeface="ADLaM Display" panose="02010000000000000000" pitchFamily="2" charset="0"/>
                <a:ea typeface="ADLaM Display" panose="02010000000000000000" pitchFamily="2" charset="0"/>
                <a:cs typeface="ADLaM Display" panose="02010000000000000000" pitchFamily="2" charset="0"/>
              </a:rPr>
            </a:br>
            <a:r>
              <a:rPr lang="es-MX" sz="2400" dirty="0">
                <a:latin typeface="ADLaM Display" panose="02010000000000000000" pitchFamily="2" charset="0"/>
                <a:ea typeface="ADLaM Display" panose="02010000000000000000" pitchFamily="2" charset="0"/>
                <a:cs typeface="ADLaM Display" panose="02010000000000000000" pitchFamily="2" charset="0"/>
              </a:rPr>
              <a:t>¿Qué promoción propondrían?</a:t>
            </a:r>
            <a:br>
              <a:rPr lang="es-MX" sz="2400" dirty="0">
                <a:latin typeface="ADLaM Display" panose="02010000000000000000" pitchFamily="2" charset="0"/>
                <a:ea typeface="ADLaM Display" panose="02010000000000000000" pitchFamily="2" charset="0"/>
                <a:cs typeface="ADLaM Display" panose="02010000000000000000" pitchFamily="2" charset="0"/>
              </a:rPr>
            </a:br>
            <a:r>
              <a:rPr lang="es-MX" sz="2400" dirty="0">
                <a:latin typeface="ADLaM Display" panose="02010000000000000000" pitchFamily="2" charset="0"/>
                <a:ea typeface="ADLaM Display" panose="02010000000000000000" pitchFamily="2" charset="0"/>
                <a:cs typeface="ADLaM Display" panose="02010000000000000000" pitchFamily="2" charset="0"/>
              </a:rPr>
              <a:t>¿Qué productos parece que tienen menor relación con el resto?</a:t>
            </a:r>
            <a:br>
              <a:rPr lang="es-MX" sz="2400" dirty="0">
                <a:latin typeface="ADLaM Display" panose="02010000000000000000" pitchFamily="2" charset="0"/>
                <a:ea typeface="ADLaM Display" panose="02010000000000000000" pitchFamily="2" charset="0"/>
                <a:cs typeface="ADLaM Display" panose="02010000000000000000" pitchFamily="2" charset="0"/>
              </a:rPr>
            </a:br>
            <a:r>
              <a:rPr lang="es-MX" sz="2400" dirty="0">
                <a:latin typeface="ADLaM Display" panose="02010000000000000000" pitchFamily="2" charset="0"/>
                <a:ea typeface="ADLaM Display" panose="02010000000000000000" pitchFamily="2" charset="0"/>
                <a:cs typeface="ADLaM Display" panose="02010000000000000000" pitchFamily="2" charset="0"/>
              </a:rPr>
              <a:t>¿Qué decisión tomaría la gerencia con esta información?</a:t>
            </a:r>
          </a:p>
        </p:txBody>
      </p:sp>
      <p:sp>
        <p:nvSpPr>
          <p:cNvPr id="3" name="CuadroTexto 2">
            <a:extLst>
              <a:ext uri="{FF2B5EF4-FFF2-40B4-BE49-F238E27FC236}">
                <a16:creationId xmlns:a16="http://schemas.microsoft.com/office/drawing/2014/main" id="{D6433C03-1CF0-F4CA-A711-E6FB676BFB87}"/>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Tree>
    <p:extLst>
      <p:ext uri="{BB962C8B-B14F-4D97-AF65-F5344CB8AC3E}">
        <p14:creationId xmlns:p14="http://schemas.microsoft.com/office/powerpoint/2010/main" val="553403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3B00C153-843C-F2CF-A753-73A07C141BAE}"/>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E171A038-A47A-B3A1-6A6A-FF4C4943A92B}"/>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algn="l" fontAlgn="t"/>
            <a:r>
              <a:rPr lang="es-MX" b="1" dirty="0">
                <a:latin typeface="Barlow Condensed Medium" panose="00000606000000000000" pitchFamily="2" charset="0"/>
              </a:rPr>
              <a:t>1. ¿Qué productos parecen comprarse juntos con mayor frecuencia?</a:t>
            </a:r>
            <a:br>
              <a:rPr lang="es-MX" b="1" dirty="0">
                <a:latin typeface="Barlow Condensed Medium" panose="00000606000000000000" pitchFamily="2" charset="0"/>
              </a:rPr>
            </a:br>
            <a:br>
              <a:rPr lang="es-MX" b="1" dirty="0"/>
            </a:br>
            <a:r>
              <a:rPr lang="es-MX" sz="2400"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Leche + Pan</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 = 6 veces (tickets 1, 2, 5, 6, 8, 10)</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Leche + Cereal</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 = 3 veces (tickets 3, 5, 9)</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Pan + Huevos</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 = 3 veces (tickets 1, 4, 8)</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rPr>
              <a:t>Respuesta: La combinación más frecuente es Leche + Pan.</a:t>
            </a:r>
          </a:p>
        </p:txBody>
      </p:sp>
      <p:sp>
        <p:nvSpPr>
          <p:cNvPr id="2309" name="Google Shape;2309;p43">
            <a:extLst>
              <a:ext uri="{FF2B5EF4-FFF2-40B4-BE49-F238E27FC236}">
                <a16:creationId xmlns:a16="http://schemas.microsoft.com/office/drawing/2014/main" id="{C4A83242-37AF-F5A4-7261-DD80F9E1D451}"/>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C22A6E1F-A3B3-1A72-32CC-6AC366B04E63}"/>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98FA1EE3-7798-2AAB-7760-BB6DF52675D3}"/>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Tree>
    <p:extLst>
      <p:ext uri="{BB962C8B-B14F-4D97-AF65-F5344CB8AC3E}">
        <p14:creationId xmlns:p14="http://schemas.microsoft.com/office/powerpoint/2010/main" val="4134606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DC6CEAD9-E2EE-9B03-35FD-73BF3ECCAF66}"/>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D97A18B5-5699-14C5-1273-3DF8BF7573BF}"/>
              </a:ext>
            </a:extLst>
          </p:cNvPr>
          <p:cNvSpPr txBox="1">
            <a:spLocks noGrp="1"/>
          </p:cNvSpPr>
          <p:nvPr>
            <p:ph type="title"/>
          </p:nvPr>
        </p:nvSpPr>
        <p:spPr>
          <a:xfrm>
            <a:off x="953260" y="578380"/>
            <a:ext cx="6964471" cy="572700"/>
          </a:xfrm>
          <a:prstGeom prst="rect">
            <a:avLst/>
          </a:prstGeom>
        </p:spPr>
        <p:txBody>
          <a:bodyPr spcFirstLastPara="1" wrap="square" lIns="91425" tIns="91425" rIns="91425" bIns="91425" anchor="t" anchorCtr="0">
            <a:noAutofit/>
          </a:bodyPr>
          <a:lstStyle/>
          <a:p>
            <a:pPr fontAlgn="t"/>
            <a:r>
              <a:rPr lang="es-MX" dirty="0"/>
              <a:t>2. ¿Qué productos podrían colocarse cerca en la tienda?</a:t>
            </a:r>
          </a:p>
        </p:txBody>
      </p:sp>
      <p:sp>
        <p:nvSpPr>
          <p:cNvPr id="2309" name="Google Shape;2309;p43">
            <a:extLst>
              <a:ext uri="{FF2B5EF4-FFF2-40B4-BE49-F238E27FC236}">
                <a16:creationId xmlns:a16="http://schemas.microsoft.com/office/drawing/2014/main" id="{786228DB-9F1E-6B74-5A1E-5F425A322603}"/>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9C119C35-4FF1-7781-098C-AA105B046AF5}"/>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F6B2F4AA-DBC7-1978-D505-8793D6BBA7B9}"/>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0044F80B-A6D2-3B66-68B0-DD7E59D78E86}"/>
              </a:ext>
            </a:extLst>
          </p:cNvPr>
          <p:cNvSpPr txBox="1"/>
          <p:nvPr/>
        </p:nvSpPr>
        <p:spPr>
          <a:xfrm>
            <a:off x="1038706" y="2488913"/>
            <a:ext cx="7237476" cy="595800"/>
          </a:xfrm>
          <a:prstGeom prst="rect">
            <a:avLst/>
          </a:prstGeom>
          <a:noFill/>
          <a:ln>
            <a:noFill/>
          </a:ln>
        </p:spPr>
        <p:txBody>
          <a:bodyPr spcFirstLastPara="1" wrap="square" lIns="91425" tIns="91425" rIns="91425" bIns="91425" anchor="b" anchorCtr="0">
            <a:noAutofit/>
          </a:bodyPr>
          <a:lstStyle/>
          <a:p>
            <a:pPr marL="342900" lvl="0" indent="-342900" fontAlgn="t">
              <a:buFont typeface="Arial" panose="020B0604020202020204" pitchFamily="34" charset="0"/>
              <a:buChar char="•"/>
            </a:pPr>
            <a:r>
              <a:rPr lang="es-MX" sz="2800" dirty="0">
                <a:solidFill>
                  <a:srgbClr val="77C6FC"/>
                </a:solidFill>
                <a:latin typeface="Fjalla One" panose="02000506040000020004" pitchFamily="2" charset="0"/>
              </a:rPr>
              <a:t>Leche y Pan</a:t>
            </a:r>
          </a:p>
          <a:p>
            <a:pPr marL="342900" lvl="0" indent="-342900" fontAlgn="t">
              <a:buFont typeface="Arial" panose="020B0604020202020204" pitchFamily="34" charset="0"/>
              <a:buChar char="•"/>
            </a:pPr>
            <a:r>
              <a:rPr lang="es-MX" sz="2800" dirty="0">
                <a:solidFill>
                  <a:srgbClr val="77C6FC"/>
                </a:solidFill>
                <a:latin typeface="Fjalla One" panose="02000506040000020004" pitchFamily="2" charset="0"/>
              </a:rPr>
              <a:t>Pan y Huevos</a:t>
            </a:r>
          </a:p>
          <a:p>
            <a:pPr marL="342900" lvl="0" indent="-342900" fontAlgn="t">
              <a:buFont typeface="Arial" panose="020B0604020202020204" pitchFamily="34" charset="0"/>
              <a:buChar char="•"/>
            </a:pPr>
            <a:r>
              <a:rPr lang="es-MX" sz="2800" dirty="0">
                <a:solidFill>
                  <a:srgbClr val="77C6FC"/>
                </a:solidFill>
                <a:latin typeface="Fjalla One" panose="02000506040000020004" pitchFamily="2" charset="0"/>
              </a:rPr>
              <a:t>Leche y Cereal</a:t>
            </a:r>
          </a:p>
        </p:txBody>
      </p:sp>
      <p:sp>
        <p:nvSpPr>
          <p:cNvPr id="18" name="CuadroTexto 17">
            <a:extLst>
              <a:ext uri="{FF2B5EF4-FFF2-40B4-BE49-F238E27FC236}">
                <a16:creationId xmlns:a16="http://schemas.microsoft.com/office/drawing/2014/main" id="{6394C65F-5A76-504D-26A6-922879FAFE35}"/>
              </a:ext>
            </a:extLst>
          </p:cNvPr>
          <p:cNvSpPr txBox="1"/>
          <p:nvPr/>
        </p:nvSpPr>
        <p:spPr>
          <a:xfrm>
            <a:off x="953260" y="3771617"/>
            <a:ext cx="6964471" cy="707886"/>
          </a:xfrm>
          <a:prstGeom prst="rect">
            <a:avLst/>
          </a:prstGeom>
          <a:noFill/>
        </p:spPr>
        <p:txBody>
          <a:bodyPr wrap="square">
            <a:spAutoFit/>
          </a:bodyPr>
          <a:lstStyle/>
          <a:p>
            <a:pPr algn="just" fontAlgn="t"/>
            <a:r>
              <a:rPr lang="es-MX" sz="2000" dirty="0">
                <a:latin typeface="ADLaM Display" panose="02010000000000000000" pitchFamily="2" charset="0"/>
                <a:ea typeface="ADLaM Display" panose="02010000000000000000" pitchFamily="2" charset="0"/>
                <a:cs typeface="ADLaM Display" panose="02010000000000000000" pitchFamily="2" charset="0"/>
              </a:rPr>
              <a:t>Se recomienda ubicar estos productos en zonas cercanas para facilitar compras complementarias.</a:t>
            </a:r>
          </a:p>
        </p:txBody>
      </p:sp>
    </p:spTree>
    <p:extLst>
      <p:ext uri="{BB962C8B-B14F-4D97-AF65-F5344CB8AC3E}">
        <p14:creationId xmlns:p14="http://schemas.microsoft.com/office/powerpoint/2010/main" val="344022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3A6B0405-EEFB-62D7-F39D-923EA1E48FB6}"/>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C46F861C-D853-8314-27B7-EB3BF5C77463}"/>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algn="l" fontAlgn="t"/>
            <a:r>
              <a:rPr lang="es-MX" b="1" dirty="0">
                <a:latin typeface="Fjalla One" panose="02000506040000020004" pitchFamily="2" charset="0"/>
              </a:rPr>
              <a:t>3. ¿Qué promoción propondrían?</a:t>
            </a:r>
            <a:br>
              <a:rPr lang="es-MX" b="1" dirty="0">
                <a:latin typeface="Barlow Condensed Medium" panose="00000606000000000000" pitchFamily="2" charset="0"/>
              </a:rPr>
            </a:br>
            <a:br>
              <a:rPr lang="es-MX"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Combo desayuno: </a:t>
            </a:r>
            <a:r>
              <a:rPr lang="es-MX" sz="2400"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Leche + Pan</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Oferta: "Compra leche y recibe 10% de descuento en pan".</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Paquete familiar: </a:t>
            </a:r>
            <a:r>
              <a:rPr lang="es-MX" sz="2400"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Leche + Cereal</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a:t>
            </a:r>
            <a:br>
              <a:rPr lang="es-MX" dirty="0"/>
            </a:b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rPr>
              <a:t>Sugerencia: Promociones cruzadas entre productos que frecuentemente aparecen juntos.</a:t>
            </a:r>
            <a:br>
              <a:rPr lang="es-MX" sz="24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rPr>
            </a:br>
            <a:endParaRPr lang="es-MX" sz="24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uadroTexto 2">
            <a:extLst>
              <a:ext uri="{FF2B5EF4-FFF2-40B4-BE49-F238E27FC236}">
                <a16:creationId xmlns:a16="http://schemas.microsoft.com/office/drawing/2014/main" id="{B67F3A60-CB2A-F2AC-E7B6-963E566D07E5}"/>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Tree>
    <p:extLst>
      <p:ext uri="{BB962C8B-B14F-4D97-AF65-F5344CB8AC3E}">
        <p14:creationId xmlns:p14="http://schemas.microsoft.com/office/powerpoint/2010/main" val="1930107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BE56D29A-FBC1-F2B2-5951-2F50305E4DBA}"/>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E793F400-550A-531D-954D-BE7EFBA645DE}"/>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algn="l" fontAlgn="t"/>
            <a:r>
              <a:rPr lang="es-MX" b="1" dirty="0">
                <a:latin typeface="Fjalla One" panose="02000506040000020004" pitchFamily="2" charset="0"/>
              </a:rPr>
              <a:t>4. ¿Qué producto tiene menor relación con los demás?</a:t>
            </a:r>
            <a:br>
              <a:rPr lang="es-MX" b="1" dirty="0">
                <a:latin typeface="Barlow Condensed Medium" panose="00000606000000000000" pitchFamily="2" charset="0"/>
              </a:rPr>
            </a:br>
            <a:br>
              <a:rPr lang="es-MX"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Plátano aparece solo una vez</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No presenta relación frecuente con otros productos.</a:t>
            </a:r>
            <a:br>
              <a:rPr lang="es-MX" dirty="0"/>
            </a:b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rPr>
              <a:t>El plátano muestra menor relación con el resto de los productos.</a:t>
            </a:r>
            <a:br>
              <a:rPr lang="es-MX" sz="24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rPr>
            </a:br>
            <a:endParaRPr lang="es-MX" sz="24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 name="CuadroTexto 2">
            <a:extLst>
              <a:ext uri="{FF2B5EF4-FFF2-40B4-BE49-F238E27FC236}">
                <a16:creationId xmlns:a16="http://schemas.microsoft.com/office/drawing/2014/main" id="{EBF66698-2B32-2130-6A2F-BDBA68734B2C}"/>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Tree>
    <p:extLst>
      <p:ext uri="{BB962C8B-B14F-4D97-AF65-F5344CB8AC3E}">
        <p14:creationId xmlns:p14="http://schemas.microsoft.com/office/powerpoint/2010/main" val="3575051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FE968047-5B0F-D484-82E6-48C8A8C181A0}"/>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C0DE2A6E-2EF2-32E7-420F-142359DF4D51}"/>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algn="l" fontAlgn="t"/>
            <a:r>
              <a:rPr lang="es-MX" b="1" dirty="0">
                <a:latin typeface="Fjalla One" panose="02000506040000020004" pitchFamily="2" charset="0"/>
              </a:rPr>
              <a:t>5. ¿Qué decisión tomaría la gerencia?</a:t>
            </a:r>
            <a:br>
              <a:rPr lang="es-MX" b="1" dirty="0">
                <a:latin typeface="Barlow Condensed Medium" panose="00000606000000000000" pitchFamily="2" charset="0"/>
              </a:rPr>
            </a:br>
            <a:br>
              <a:rPr lang="es-MX"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b="1"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 </a:t>
            </a: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Crear promociones para Leche + Pan</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 Colocar productos asociados con la misma área.</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 Mantener inventario suficiente de los productos más demandados.</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t>- Diseñar campañas dirigidas a compradores de desayunos.</a:t>
            </a:r>
            <a:br>
              <a:rPr lang="es-MX" sz="2400" dirty="0">
                <a:solidFill>
                  <a:srgbClr val="77C6FC"/>
                </a:solidFill>
                <a:latin typeface="ADLaM Display" panose="02010000000000000000" pitchFamily="2" charset="0"/>
                <a:ea typeface="ADLaM Display" panose="02010000000000000000" pitchFamily="2" charset="0"/>
                <a:cs typeface="ADLaM Display" panose="02010000000000000000" pitchFamily="2" charset="0"/>
              </a:rPr>
            </a:br>
            <a:r>
              <a:rPr lang="es-MX" sz="2000" dirty="0">
                <a:solidFill>
                  <a:schemeClr val="tx1">
                    <a:lumMod val="50000"/>
                  </a:schemeClr>
                </a:solidFill>
                <a:latin typeface="ADLaM Display" panose="02010000000000000000" pitchFamily="2" charset="0"/>
                <a:ea typeface="ADLaM Display" panose="02010000000000000000" pitchFamily="2" charset="0"/>
                <a:cs typeface="ADLaM Display" panose="02010000000000000000" pitchFamily="2" charset="0"/>
              </a:rPr>
              <a:t>Utilizar los patrones encontrados para incrementar ventas y mejorar la experiencia del cliente.</a:t>
            </a:r>
          </a:p>
        </p:txBody>
      </p:sp>
      <p:sp>
        <p:nvSpPr>
          <p:cNvPr id="3" name="CuadroTexto 2">
            <a:extLst>
              <a:ext uri="{FF2B5EF4-FFF2-40B4-BE49-F238E27FC236}">
                <a16:creationId xmlns:a16="http://schemas.microsoft.com/office/drawing/2014/main" id="{F50E6031-6707-3D01-AF67-F5281F6E2270}"/>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Tree>
    <p:extLst>
      <p:ext uri="{BB962C8B-B14F-4D97-AF65-F5344CB8AC3E}">
        <p14:creationId xmlns:p14="http://schemas.microsoft.com/office/powerpoint/2010/main" val="35695644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B147A7-6CBC-DEA2-A94B-A0D215EF633B}"/>
              </a:ext>
            </a:extLst>
          </p:cNvPr>
          <p:cNvSpPr>
            <a:spLocks noGrp="1"/>
          </p:cNvSpPr>
          <p:nvPr>
            <p:ph type="title"/>
          </p:nvPr>
        </p:nvSpPr>
        <p:spPr/>
        <p:txBody>
          <a:bodyPr/>
          <a:lstStyle/>
          <a:p>
            <a:r>
              <a:rPr lang="es-MX" dirty="0"/>
              <a:t>Conclusiones</a:t>
            </a:r>
          </a:p>
        </p:txBody>
      </p:sp>
      <p:sp>
        <p:nvSpPr>
          <p:cNvPr id="4" name="CuadroTexto 3">
            <a:extLst>
              <a:ext uri="{FF2B5EF4-FFF2-40B4-BE49-F238E27FC236}">
                <a16:creationId xmlns:a16="http://schemas.microsoft.com/office/drawing/2014/main" id="{7BDDBD39-E042-A6B7-593B-EE6F7171F726}"/>
              </a:ext>
            </a:extLst>
          </p:cNvPr>
          <p:cNvSpPr txBox="1"/>
          <p:nvPr/>
        </p:nvSpPr>
        <p:spPr>
          <a:xfrm>
            <a:off x="964278" y="823200"/>
            <a:ext cx="6907876" cy="4093428"/>
          </a:xfrm>
          <a:prstGeom prst="rect">
            <a:avLst/>
          </a:prstGeom>
          <a:noFill/>
        </p:spPr>
        <p:txBody>
          <a:bodyPr wrap="square">
            <a:spAutoFit/>
          </a:bodyPr>
          <a:lstStyle/>
          <a:p>
            <a:pPr marL="285750" indent="-285750" algn="just" fontAlgn="t">
              <a:lnSpc>
                <a:spcPct val="100000"/>
              </a:lnSpc>
              <a:buSzPct val="150000"/>
              <a:buFont typeface="Arial" panose="020B0604020202020204" pitchFamily="34" charset="0"/>
              <a:buChar char="•"/>
            </a:pP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Un </a:t>
            </a:r>
            <a:r>
              <a:rPr lang="es-MX" sz="2000" b="1"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Data Mart</a:t>
            </a: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 organiza y concentra información específica para facilitar el análisis.</a:t>
            </a:r>
          </a:p>
          <a:p>
            <a:pPr marL="285750" indent="-285750" algn="just" fontAlgn="t">
              <a:lnSpc>
                <a:spcPct val="100000"/>
              </a:lnSpc>
              <a:buSzPct val="150000"/>
              <a:buFont typeface="Arial" panose="020B0604020202020204" pitchFamily="34" charset="0"/>
              <a:buChar char="•"/>
            </a:pP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El </a:t>
            </a:r>
            <a:r>
              <a:rPr lang="es-MX" sz="2000" b="1"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Data </a:t>
            </a:r>
            <a:r>
              <a:rPr lang="es-MX" sz="2000" b="1" i="0" dirty="0" err="1">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Mining</a:t>
            </a: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 transforma los datos en conocimiento útil mediante técnicas analíticas.</a:t>
            </a:r>
          </a:p>
          <a:p>
            <a:pPr marL="285750" indent="-285750" algn="just" fontAlgn="t">
              <a:lnSpc>
                <a:spcPct val="100000"/>
              </a:lnSpc>
              <a:buSzPct val="150000"/>
              <a:buFont typeface="Arial" panose="020B0604020202020204" pitchFamily="34" charset="0"/>
              <a:buChar char="•"/>
            </a:pP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La metodología </a:t>
            </a:r>
            <a:r>
              <a:rPr lang="es-MX" sz="2000" b="1"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CRISP-DM</a:t>
            </a: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 permite desarrollar proyectos de minería de datos de forma estructurada.</a:t>
            </a:r>
          </a:p>
          <a:p>
            <a:pPr marL="285750" indent="-285750" algn="just" fontAlgn="t">
              <a:lnSpc>
                <a:spcPct val="100000"/>
              </a:lnSpc>
              <a:buSzPct val="150000"/>
              <a:buFont typeface="Arial" panose="020B0604020202020204" pitchFamily="34" charset="0"/>
              <a:buChar char="•"/>
            </a:pP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Las organizaciones pueden identificar patrones, predecir comportamientos y mejorar la toma de decisiones.</a:t>
            </a:r>
          </a:p>
          <a:p>
            <a:pPr marL="285750" indent="-285750" algn="just" fontAlgn="t">
              <a:lnSpc>
                <a:spcPct val="100000"/>
              </a:lnSpc>
              <a:buSzPct val="150000"/>
              <a:buFont typeface="Arial" panose="020B0604020202020204" pitchFamily="34" charset="0"/>
              <a:buChar char="•"/>
            </a:pPr>
            <a:r>
              <a:rPr lang="es-MX" sz="2000" b="0" i="0" dirty="0">
                <a:solidFill>
                  <a:srgbClr val="77C6FC"/>
                </a:solidFill>
                <a:effectLst/>
                <a:latin typeface="ADLaM Display" panose="02010000000000000000" pitchFamily="2" charset="0"/>
                <a:ea typeface="ADLaM Display" panose="02010000000000000000" pitchFamily="2" charset="0"/>
                <a:cs typeface="ADLaM Display" panose="02010000000000000000" pitchFamily="2" charset="0"/>
              </a:rPr>
              <a:t>El verdadero valor de los datos no está en almacenarlos, sino en convertirlos en acciones estratégicas.</a:t>
            </a:r>
          </a:p>
        </p:txBody>
      </p:sp>
    </p:spTree>
    <p:extLst>
      <p:ext uri="{BB962C8B-B14F-4D97-AF65-F5344CB8AC3E}">
        <p14:creationId xmlns:p14="http://schemas.microsoft.com/office/powerpoint/2010/main" val="2141268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C4120-DEDD-00B0-4F5E-3A1E38D0DA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408ED7-B9A5-2C3B-39C3-E78F69312671}"/>
              </a:ext>
            </a:extLst>
          </p:cNvPr>
          <p:cNvSpPr>
            <a:spLocks noGrp="1"/>
          </p:cNvSpPr>
          <p:nvPr>
            <p:ph type="title"/>
          </p:nvPr>
        </p:nvSpPr>
        <p:spPr/>
        <p:txBody>
          <a:bodyPr/>
          <a:lstStyle/>
          <a:p>
            <a:r>
              <a:rPr lang="es-MX" dirty="0"/>
              <a:t>Aplicaciones reales del Data </a:t>
            </a:r>
            <a:r>
              <a:rPr lang="es-MX" dirty="0" err="1"/>
              <a:t>Mining</a:t>
            </a:r>
            <a:endParaRPr lang="es-MX" dirty="0"/>
          </a:p>
        </p:txBody>
      </p:sp>
      <p:pic>
        <p:nvPicPr>
          <p:cNvPr id="5" name="Imagen 4">
            <a:extLst>
              <a:ext uri="{FF2B5EF4-FFF2-40B4-BE49-F238E27FC236}">
                <a16:creationId xmlns:a16="http://schemas.microsoft.com/office/drawing/2014/main" id="{83F7A4B2-B481-7BF3-8638-D9759C71869F}"/>
              </a:ext>
            </a:extLst>
          </p:cNvPr>
          <p:cNvPicPr>
            <a:picLocks noChangeAspect="1"/>
          </p:cNvPicPr>
          <p:nvPr/>
        </p:nvPicPr>
        <p:blipFill>
          <a:blip r:embed="rId3"/>
          <a:stretch>
            <a:fillRect/>
          </a:stretch>
        </p:blipFill>
        <p:spPr>
          <a:xfrm>
            <a:off x="714375" y="0"/>
            <a:ext cx="7715250" cy="5143500"/>
          </a:xfrm>
          <a:prstGeom prst="rect">
            <a:avLst/>
          </a:prstGeom>
        </p:spPr>
      </p:pic>
    </p:spTree>
    <p:extLst>
      <p:ext uri="{BB962C8B-B14F-4D97-AF65-F5344CB8AC3E}">
        <p14:creationId xmlns:p14="http://schemas.microsoft.com/office/powerpoint/2010/main" val="2476668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8724B-6D91-886B-A38F-A021F9F9CE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39AAA0-C948-332C-7D18-D85E9BE30BC3}"/>
              </a:ext>
            </a:extLst>
          </p:cNvPr>
          <p:cNvSpPr>
            <a:spLocks noGrp="1"/>
          </p:cNvSpPr>
          <p:nvPr>
            <p:ph type="title"/>
          </p:nvPr>
        </p:nvSpPr>
        <p:spPr>
          <a:xfrm>
            <a:off x="1496097" y="0"/>
            <a:ext cx="5496900" cy="572700"/>
          </a:xfrm>
        </p:spPr>
        <p:txBody>
          <a:bodyPr/>
          <a:lstStyle/>
          <a:p>
            <a:r>
              <a:rPr lang="es-MX" dirty="0"/>
              <a:t>Cluster</a:t>
            </a:r>
          </a:p>
        </p:txBody>
      </p:sp>
      <p:pic>
        <p:nvPicPr>
          <p:cNvPr id="7" name="Imagen 6">
            <a:extLst>
              <a:ext uri="{FF2B5EF4-FFF2-40B4-BE49-F238E27FC236}">
                <a16:creationId xmlns:a16="http://schemas.microsoft.com/office/drawing/2014/main" id="{A23E7EDC-8A28-D1E3-F8FA-3B4227366E4F}"/>
              </a:ext>
            </a:extLst>
          </p:cNvPr>
          <p:cNvPicPr>
            <a:picLocks noChangeAspect="1"/>
          </p:cNvPicPr>
          <p:nvPr/>
        </p:nvPicPr>
        <p:blipFill>
          <a:blip r:embed="rId2"/>
          <a:stretch>
            <a:fillRect/>
          </a:stretch>
        </p:blipFill>
        <p:spPr>
          <a:xfrm>
            <a:off x="1757875" y="0"/>
            <a:ext cx="5628250" cy="5143500"/>
          </a:xfrm>
          <a:prstGeom prst="rect">
            <a:avLst/>
          </a:prstGeom>
        </p:spPr>
      </p:pic>
    </p:spTree>
    <p:extLst>
      <p:ext uri="{BB962C8B-B14F-4D97-AF65-F5344CB8AC3E}">
        <p14:creationId xmlns:p14="http://schemas.microsoft.com/office/powerpoint/2010/main" val="41882158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04"/>
        <p:cNvGrpSpPr/>
        <p:nvPr/>
      </p:nvGrpSpPr>
      <p:grpSpPr>
        <a:xfrm>
          <a:off x="0" y="0"/>
          <a:ext cx="0" cy="0"/>
          <a:chOff x="0" y="0"/>
          <a:chExt cx="0" cy="0"/>
        </a:xfrm>
      </p:grpSpPr>
      <p:sp>
        <p:nvSpPr>
          <p:cNvPr id="3605" name="Google Shape;3605;p63"/>
          <p:cNvSpPr txBox="1">
            <a:spLocks noGrp="1"/>
          </p:cNvSpPr>
          <p:nvPr>
            <p:ph type="title"/>
          </p:nvPr>
        </p:nvSpPr>
        <p:spPr>
          <a:xfrm>
            <a:off x="1987497" y="1785800"/>
            <a:ext cx="4937700" cy="107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dirty="0"/>
              <a:t>Gracias</a:t>
            </a:r>
            <a:endParaRPr sz="7200" dirty="0"/>
          </a:p>
        </p:txBody>
      </p:sp>
      <p:sp>
        <p:nvSpPr>
          <p:cNvPr id="7" name="Rectángulo 6">
            <a:extLst>
              <a:ext uri="{FF2B5EF4-FFF2-40B4-BE49-F238E27FC236}">
                <a16:creationId xmlns:a16="http://schemas.microsoft.com/office/drawing/2014/main" id="{BD454226-19EC-9E8A-B753-4243107214D1}"/>
              </a:ext>
            </a:extLst>
          </p:cNvPr>
          <p:cNvSpPr/>
          <p:nvPr/>
        </p:nvSpPr>
        <p:spPr>
          <a:xfrm>
            <a:off x="2503714" y="3679371"/>
            <a:ext cx="4143829" cy="82005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MX"/>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1759</TotalTime>
  <Words>1922</Words>
  <Application>Microsoft Office PowerPoint</Application>
  <PresentationFormat>Presentación en pantalla (16:9)</PresentationFormat>
  <Paragraphs>233</Paragraphs>
  <Slides>42</Slides>
  <Notes>38</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42</vt:i4>
      </vt:variant>
    </vt:vector>
  </HeadingPairs>
  <TitlesOfParts>
    <vt:vector size="51" baseType="lpstr">
      <vt:lpstr>Arial</vt:lpstr>
      <vt:lpstr>Barlow Condensed Medium</vt:lpstr>
      <vt:lpstr>Bahnschrift SemiCondensed</vt:lpstr>
      <vt:lpstr>Barlow Semi Condensed</vt:lpstr>
      <vt:lpstr>Segoe UI</vt:lpstr>
      <vt:lpstr>ADLaM Display</vt:lpstr>
      <vt:lpstr>Fjalla One</vt:lpstr>
      <vt:lpstr>Barlow Semi Condensed Medium</vt:lpstr>
      <vt:lpstr>Technology Consulting by Slidesgo</vt:lpstr>
      <vt:lpstr>3. Base de datos para la toma de decisiones</vt:lpstr>
      <vt:lpstr>Contenido</vt:lpstr>
      <vt:lpstr>Mercado de datos (Data Marts)</vt:lpstr>
      <vt:lpstr>Definición</vt:lpstr>
      <vt:lpstr>Relación entre Data Warehouse y Data Mart </vt:lpstr>
      <vt:lpstr>Ventajas</vt:lpstr>
      <vt:lpstr>Desventajas</vt:lpstr>
      <vt:lpstr>Presentación de PowerPoint</vt:lpstr>
      <vt:lpstr>Ejemplos de Data Mart</vt:lpstr>
      <vt:lpstr>Data Mining (Minería de datos)</vt:lpstr>
      <vt:lpstr>Data Mining</vt:lpstr>
      <vt:lpstr>¿Cuál es la diferencia entre data mart y data mining?</vt:lpstr>
      <vt:lpstr>¿Cuál es la diferencia entre data mart y data mining?</vt:lpstr>
      <vt:lpstr>Presentación de PowerPoint</vt:lpstr>
      <vt:lpstr>Data Mart – Data Mining</vt:lpstr>
      <vt:lpstr>Actividad</vt:lpstr>
      <vt:lpstr>Solución</vt:lpstr>
      <vt:lpstr>CRISP-DM : las 5 etapas del data mining</vt:lpstr>
      <vt:lpstr>CRISP-DM (Proceso estándar intersectorial para la minería de datos): las 5 etapas del data mining </vt:lpstr>
      <vt:lpstr>CRISP-DM | Etapas</vt:lpstr>
      <vt:lpstr>1. Comprensión del Negocio (Business Understanding)</vt:lpstr>
      <vt:lpstr>2. Comprensión de los Datos (Data Understanding) </vt:lpstr>
      <vt:lpstr>3. Preparación de los Datos (Data Preparation)  </vt:lpstr>
      <vt:lpstr>Presentación de PowerPoint</vt:lpstr>
      <vt:lpstr>4. Modelado (Modeling)   </vt:lpstr>
      <vt:lpstr>5. Evaluación e Implementación (Evaluation &amp; Deployment)    </vt:lpstr>
      <vt:lpstr>Ejemplo de Data Mining</vt:lpstr>
      <vt:lpstr>Presentación de PowerPoint</vt:lpstr>
      <vt:lpstr>Ventajas</vt:lpstr>
      <vt:lpstr>Técnicas de Data Mining más utilizadas</vt:lpstr>
      <vt:lpstr>Presentación de PowerPoint</vt:lpstr>
      <vt:lpstr>Actividad</vt:lpstr>
      <vt:lpstr>¿Qué productos parecen comprarse juntos con mayor frecuencia? ¿Qué productos podrían colocarse cerca en la tienda? ¿Qué promoción propondrían? ¿Qué productos parece que tienen menor relación con el resto? ¿Qué decisión tomaría la gerencia con esta información?</vt:lpstr>
      <vt:lpstr>1. ¿Qué productos parecen comprarse juntos con mayor frecuencia?  Leche + Pan = 6 veces (tickets 1, 2, 5, 6, 8, 10) Leche + Cereal = 3 veces (tickets 3, 5, 9) Pan + Huevos = 3 veces (tickets 1, 4, 8)  Respuesta: La combinación más frecuente es Leche + Pan.</vt:lpstr>
      <vt:lpstr>2. ¿Qué productos podrían colocarse cerca en la tienda?</vt:lpstr>
      <vt:lpstr>3. ¿Qué promoción propondrían?  Combo desayuno: Leche + Pan Oferta: "Compra leche y recibe 10% de descuento en pan". Paquete familiar: Leche + Cereal.   Sugerencia: Promociones cruzadas entre productos que frecuentemente aparecen juntos. </vt:lpstr>
      <vt:lpstr>4. ¿Qué producto tiene menor relación con los demás?  Plátano aparece solo una vez No presenta relación frecuente con otros productos.   El plátano muestra menor relación con el resto de los productos. </vt:lpstr>
      <vt:lpstr>5. ¿Qué decisión tomaría la gerencia?  - Crear promociones para Leche + Pan - Colocar productos asociados con la misma área. - Mantener inventario suficiente de los productos más demandados. - Diseñar campañas dirigidas a compradores de desayunos. Utilizar los patrones encontrados para incrementar ventas y mejorar la experiencia del cliente.</vt:lpstr>
      <vt:lpstr>Conclusiones</vt:lpstr>
      <vt:lpstr>Aplicaciones reales del Data Mining</vt:lpstr>
      <vt:lpstr>Cluster</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TORRES RAMIREZ BLANCA ESTHELA</dc:creator>
  <cp:lastModifiedBy>TORRES RAMIREZ BLANCA ESTHELA</cp:lastModifiedBy>
  <cp:revision>90</cp:revision>
  <dcterms:modified xsi:type="dcterms:W3CDTF">2026-10-22T17:22:52Z</dcterms:modified>
</cp:coreProperties>
</file>