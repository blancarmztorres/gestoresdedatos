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6"/>
  </p:notesMasterIdLst>
  <p:sldIdLst>
    <p:sldId id="256" r:id="rId2"/>
    <p:sldId id="258" r:id="rId3"/>
    <p:sldId id="259" r:id="rId4"/>
    <p:sldId id="262" r:id="rId5"/>
    <p:sldId id="338" r:id="rId6"/>
    <p:sldId id="340" r:id="rId7"/>
    <p:sldId id="373" r:id="rId8"/>
    <p:sldId id="392" r:id="rId9"/>
    <p:sldId id="352" r:id="rId10"/>
    <p:sldId id="374" r:id="rId11"/>
    <p:sldId id="341" r:id="rId12"/>
    <p:sldId id="342" r:id="rId13"/>
    <p:sldId id="344" r:id="rId14"/>
    <p:sldId id="376" r:id="rId15"/>
    <p:sldId id="393" r:id="rId16"/>
    <p:sldId id="379" r:id="rId17"/>
    <p:sldId id="400" r:id="rId18"/>
    <p:sldId id="380" r:id="rId19"/>
    <p:sldId id="386" r:id="rId20"/>
    <p:sldId id="396" r:id="rId21"/>
    <p:sldId id="399" r:id="rId22"/>
    <p:sldId id="401" r:id="rId23"/>
    <p:sldId id="397" r:id="rId24"/>
    <p:sldId id="307" r:id="rId25"/>
  </p:sldIdLst>
  <p:sldSz cx="9144000" cy="5143500" type="screen16x9"/>
  <p:notesSz cx="6858000" cy="9144000"/>
  <p:embeddedFontLst>
    <p:embeddedFont>
      <p:font typeface="Anaheim" panose="020B0604020202020204" charset="0"/>
      <p:regular r:id="rId27"/>
      <p:bold r:id="rId28"/>
    </p:embeddedFont>
    <p:embeddedFont>
      <p:font typeface="Baloo 2 ExtraBold" panose="020B0604020202020204" charset="0"/>
      <p:bold r:id="rId29"/>
    </p:embeddedFont>
    <p:embeddedFont>
      <p:font typeface="DM Sans" pitchFamily="2" charset="0"/>
      <p:regular r:id="rId30"/>
      <p:bold r:id="rId31"/>
    </p:embeddedFont>
    <p:embeddedFont>
      <p:font typeface="DM Sans Medium" pitchFamily="2" charset="0"/>
      <p:regular r:id="rId32"/>
    </p:embeddedFont>
    <p:embeddedFont>
      <p:font typeface="DokChampa" panose="020B0604020202020204" pitchFamily="34" charset="-34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2B3"/>
    <a:srgbClr val="33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128F1C-263D-4756-A434-B3B8AE7D6FB3}">
  <a:tblStyle styleId="{55128F1C-263D-4756-A434-B3B8AE7D6F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032D0A-44B8-4AA5-9B14-50C8E942E97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71977" autoAdjust="0"/>
  </p:normalViewPr>
  <p:slideViewPr>
    <p:cSldViewPr snapToGrid="0">
      <p:cViewPr varScale="1">
        <p:scale>
          <a:sx n="91" d="100"/>
          <a:sy n="91" d="100"/>
        </p:scale>
        <p:origin x="1234" y="5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CE6B7F09-6EE5-4F46-341E-F5052431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39DC84DC-8C76-0708-9766-F227BA94A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5B257B1-D6E2-0884-95B1-C28D41DBE5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532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7366291-7E4F-3A4B-A73C-386CE6D45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4783752B-6235-0196-49C6-136AAA8CF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B9612581-46C6-E4A6-0AB3-8F1B267F4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02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92EB9A50-8C1C-6F40-10E0-5A59F9C2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A2841E83-82FE-995B-E6FF-6BCAD2A2A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A62D0F68-7600-4102-548D-C37D50529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6441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FC4CFE0C-2E70-ACB7-FDEA-2EEAE055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27A1ABDE-B9BC-8BCA-F936-602FC550A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F3B403B9-D069-B2CD-8AFC-396DBF4C9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1143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358B48EA-BF11-2334-8A56-41C46F3C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C47113D-B625-07D6-D4BA-EEFFA3205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D6B2C23C-723E-528E-ED43-7106E4E3F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1390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60339F72-4576-EB7B-4A98-23DA9757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DA7C0687-E51C-4EC3-1E88-4798E6670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3C855B72-8EE7-37AD-0C83-FAC3845B3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2546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E043C54B-6EC8-5A4D-801A-2EA6E3C4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BC6B6AD5-929F-8683-C7E1-655A426D0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6B967425-E0EB-FE79-A620-518C1E06E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5470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62DD62AF-18E0-8AF3-ABBF-FFF8C646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51E6764B-50FA-F520-5F04-5C1AFBEE9B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C199679E-123A-FCE3-9286-D833D7DC9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306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516DCFE5-63F8-B5F0-071B-A713684B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54dda1946d_6_332:notes">
            <a:extLst>
              <a:ext uri="{FF2B5EF4-FFF2-40B4-BE49-F238E27FC236}">
                <a16:creationId xmlns:a16="http://schemas.microsoft.com/office/drawing/2014/main" id="{24856708-60A3-DE9C-94F1-EC28FFC275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54dda1946d_6_332:notes">
            <a:extLst>
              <a:ext uri="{FF2B5EF4-FFF2-40B4-BE49-F238E27FC236}">
                <a16:creationId xmlns:a16="http://schemas.microsoft.com/office/drawing/2014/main" id="{1B468386-EF0A-5DE5-03E2-3DE4F1E5F1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479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26367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312386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D52B-0C84-D775-54E1-FFB80B9C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97EB23-FCC3-6F49-3932-A872C80EC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296C97-F3EC-E27A-B025-0FDE76BC7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2677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3607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C5D33-2D2B-F647-36A9-FAC4DA92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DECC0-FD47-173A-6970-F2989C9A5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AF9E22-92F8-9DFB-2D66-AD5BDC72D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1. ¿Qué modelo elegirías (SaaS, PaaS o IaaS)? ¿Por qué?</a:t>
            </a: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PaaS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porque permite desarrollar y desplegar la aplicación rápidamente, mientras el proveedor administra la infraestructura, el sistema operativo y el escalamiento.</a:t>
            </a:r>
          </a:p>
          <a:p>
            <a:pPr marL="158750" indent="0" fontAlgn="t">
              <a:buNone/>
            </a:pPr>
            <a:b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2. ¿Dónde ejecutarías la aplicación en Python?</a:t>
            </a:r>
          </a:p>
          <a:p>
            <a:pPr marL="15875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 un servicio </a:t>
            </a: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PaaS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como: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Azure App Service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Google App </a:t>
            </a:r>
            <a:r>
              <a:rPr lang="es-MX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Engine</a:t>
            </a: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AWS </a:t>
            </a:r>
            <a:r>
              <a:rPr lang="es-MX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Elastic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Beanstalk</a:t>
            </a: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Así el desarrollador se enfoca en el código y no en los servidores.</a:t>
            </a:r>
          </a:p>
          <a:p>
            <a:pPr marL="158750" indent="0" fontAlgn="t">
              <a:buNone/>
            </a:pPr>
            <a:b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3. ¿Dónde almacenarías los datos?</a:t>
            </a:r>
          </a:p>
          <a:p>
            <a:pPr marL="15875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 una base de datos administrada en la nube, por ejemplo: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Azure SQL </a:t>
            </a:r>
            <a:r>
              <a:rPr lang="es-MX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Database</a:t>
            </a: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Amazon RDS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Cloud SQL de Google</a:t>
            </a:r>
          </a:p>
          <a:p>
            <a:pPr marL="15875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Esto facilita los respaldos, la seguridad y la disponibilidad.</a:t>
            </a:r>
          </a:p>
          <a:p>
            <a:pPr marL="158750" indent="0" fontAlgn="t">
              <a:buNone/>
            </a:pPr>
            <a:b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4. ¿Cómo escalarías la solución?</a:t>
            </a:r>
          </a:p>
          <a:p>
            <a:pPr marL="15875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Mediante </a:t>
            </a: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escalamiento automático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(Auto </a:t>
            </a:r>
            <a:r>
              <a:rPr lang="es-MX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Scaling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del proveedor </a:t>
            </a:r>
            <a:r>
              <a:rPr lang="es-MX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cloud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para crear más instancias cuando aumente el número de usuarios o consultas.</a:t>
            </a:r>
          </a:p>
          <a:p>
            <a:pPr marL="158750" indent="0" fontAlgn="t">
              <a:buNone/>
            </a:pPr>
            <a:b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5. ¿Qué aspectos de seguridad son más importantes?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Credenciales y contraseñas.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Datos de usuarios.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Llaves de acceso a la base de datos.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 Keys.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Respaldos de información.</a:t>
            </a:r>
          </a:p>
          <a:p>
            <a:pPr marL="15875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Además, nunca deben estar escritos directamente en el código.</a:t>
            </a:r>
          </a:p>
          <a:p>
            <a:pPr marL="158750" indent="0" fontAlgn="t">
              <a:buNone/>
            </a:pPr>
            <a:b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MX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6. ¿Qué modelo ofrece mejor equilibrio entre costo, control y simplicidad?</a:t>
            </a:r>
          </a:p>
          <a:p>
            <a:pPr marL="158750" indent="0" fontAlgn="t">
              <a:buNone/>
            </a:pPr>
            <a:r>
              <a:rPr lang="es-MX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PaaS</a:t>
            </a: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porque ofrece: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Menor administración que IaaS.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Más flexibilidad que SaaS.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Escalabilidad integrada.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Despliegue rápido.</a:t>
            </a:r>
          </a:p>
          <a:p>
            <a:pPr marL="158750" lvl="0" indent="0" fontAlgn="t">
              <a:buNone/>
            </a:pPr>
            <a:r>
              <a:rPr lang="es-MX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Costos moderados.</a:t>
            </a:r>
          </a:p>
          <a:p>
            <a:pPr marL="15875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882555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B9C8-060B-3A18-F822-0DD2E411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A55749C-E59E-97A1-07D4-E68A3219E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E0EC1D1-24B6-68D2-28B9-1184315F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6641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>
          <a:extLst>
            <a:ext uri="{FF2B5EF4-FFF2-40B4-BE49-F238E27FC236}">
              <a16:creationId xmlns:a16="http://schemas.microsoft.com/office/drawing/2014/main" id="{78F5AD1B-AE8D-D8A6-1B46-EDBAF043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4dda1946d_4_2679:notes">
            <a:extLst>
              <a:ext uri="{FF2B5EF4-FFF2-40B4-BE49-F238E27FC236}">
                <a16:creationId xmlns:a16="http://schemas.microsoft.com/office/drawing/2014/main" id="{9AD2AF65-C803-ED33-1057-D9C9D4CDD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4dda1946d_4_2679:notes">
            <a:extLst>
              <a:ext uri="{FF2B5EF4-FFF2-40B4-BE49-F238E27FC236}">
                <a16:creationId xmlns:a16="http://schemas.microsoft.com/office/drawing/2014/main" id="{ABE85286-220B-BFFD-51E3-9AAD821717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60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5" r:id="rId3"/>
    <p:sldLayoutId id="2147483658" r:id="rId4"/>
    <p:sldLayoutId id="2147483660" r:id="rId5"/>
    <p:sldLayoutId id="2147483665" r:id="rId6"/>
    <p:sldLayoutId id="2147483668" r:id="rId7"/>
    <p:sldLayoutId id="214748366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"/>
          <p:cNvSpPr/>
          <p:nvPr/>
        </p:nvSpPr>
        <p:spPr>
          <a:xfrm>
            <a:off x="7330025" y="459500"/>
            <a:ext cx="1262100" cy="3504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688292" y="1819985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Base de datos para Ciencia de Datos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697345" y="3073373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Sesión 6. Plataformas y Tipos de Servicios</a:t>
            </a:r>
            <a:endParaRPr sz="240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1EE6767-ADB9-E50D-04DD-BE23F81B2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1430"/>
            <a:ext cx="1394691" cy="715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ágrima 29">
            <a:extLst>
              <a:ext uri="{FF2B5EF4-FFF2-40B4-BE49-F238E27FC236}">
                <a16:creationId xmlns:a16="http://schemas.microsoft.com/office/drawing/2014/main" id="{5E9FDFB6-A34E-3358-5BF3-667EF95B5071}"/>
              </a:ext>
            </a:extLst>
          </p:cNvPr>
          <p:cNvSpPr/>
          <p:nvPr/>
        </p:nvSpPr>
        <p:spPr>
          <a:xfrm>
            <a:off x="-719667" y="-19271"/>
            <a:ext cx="1755582" cy="1361636"/>
          </a:xfrm>
          <a:prstGeom prst="teardrop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Google Shape;762;p29">
            <a:extLst>
              <a:ext uri="{FF2B5EF4-FFF2-40B4-BE49-F238E27FC236}">
                <a16:creationId xmlns:a16="http://schemas.microsoft.com/office/drawing/2014/main" id="{31A87011-B2CF-7BC8-A670-7AC59F339838}"/>
              </a:ext>
            </a:extLst>
          </p:cNvPr>
          <p:cNvSpPr txBox="1">
            <a:spLocks/>
          </p:cNvSpPr>
          <p:nvPr/>
        </p:nvSpPr>
        <p:spPr>
          <a:xfrm>
            <a:off x="2237748" y="1274770"/>
            <a:ext cx="4412804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Software como Servicio (SaaS)</a:t>
            </a:r>
          </a:p>
        </p:txBody>
      </p:sp>
      <p:sp>
        <p:nvSpPr>
          <p:cNvPr id="5" name="Google Shape;770;p29">
            <a:extLst>
              <a:ext uri="{FF2B5EF4-FFF2-40B4-BE49-F238E27FC236}">
                <a16:creationId xmlns:a16="http://schemas.microsoft.com/office/drawing/2014/main" id="{37E2A55D-0573-C499-4A82-179E54EC36F1}"/>
              </a:ext>
            </a:extLst>
          </p:cNvPr>
          <p:cNvSpPr txBox="1">
            <a:spLocks/>
          </p:cNvSpPr>
          <p:nvPr/>
        </p:nvSpPr>
        <p:spPr>
          <a:xfrm>
            <a:off x="1311111" y="1633080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2.4.1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CA65EB3-A492-49C3-4129-CE9541C73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926" y="2154148"/>
            <a:ext cx="2530747" cy="2675361"/>
          </a:xfrm>
          <a:prstGeom prst="rect">
            <a:avLst/>
          </a:prstGeom>
        </p:spPr>
      </p:pic>
      <p:sp>
        <p:nvSpPr>
          <p:cNvPr id="6" name="Google Shape;763;p29">
            <a:extLst>
              <a:ext uri="{FF2B5EF4-FFF2-40B4-BE49-F238E27FC236}">
                <a16:creationId xmlns:a16="http://schemas.microsoft.com/office/drawing/2014/main" id="{63F28F74-D772-A094-47B0-9B5A53882C44}"/>
              </a:ext>
            </a:extLst>
          </p:cNvPr>
          <p:cNvSpPr txBox="1">
            <a:spLocks/>
          </p:cNvSpPr>
          <p:nvPr/>
        </p:nvSpPr>
        <p:spPr>
          <a:xfrm>
            <a:off x="663311" y="1080520"/>
            <a:ext cx="355566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s-MX" sz="2800" dirty="0"/>
              <a:t>2.4 Tipos de servicio</a:t>
            </a:r>
          </a:p>
        </p:txBody>
      </p:sp>
      <p:sp>
        <p:nvSpPr>
          <p:cNvPr id="17" name="Google Shape;762;p29">
            <a:extLst>
              <a:ext uri="{FF2B5EF4-FFF2-40B4-BE49-F238E27FC236}">
                <a16:creationId xmlns:a16="http://schemas.microsoft.com/office/drawing/2014/main" id="{4D39BF57-6B0B-0CEC-2C62-507A1EEF32CF}"/>
              </a:ext>
            </a:extLst>
          </p:cNvPr>
          <p:cNvSpPr txBox="1">
            <a:spLocks/>
          </p:cNvSpPr>
          <p:nvPr/>
        </p:nvSpPr>
        <p:spPr>
          <a:xfrm>
            <a:off x="2237748" y="1827330"/>
            <a:ext cx="5712452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Plataforma como Servicio (PaaS)</a:t>
            </a:r>
          </a:p>
        </p:txBody>
      </p:sp>
      <p:sp>
        <p:nvSpPr>
          <p:cNvPr id="19" name="Google Shape;770;p29">
            <a:extLst>
              <a:ext uri="{FF2B5EF4-FFF2-40B4-BE49-F238E27FC236}">
                <a16:creationId xmlns:a16="http://schemas.microsoft.com/office/drawing/2014/main" id="{B8709D89-DD3F-9E57-1512-B848EF828E48}"/>
              </a:ext>
            </a:extLst>
          </p:cNvPr>
          <p:cNvSpPr txBox="1">
            <a:spLocks/>
          </p:cNvSpPr>
          <p:nvPr/>
        </p:nvSpPr>
        <p:spPr>
          <a:xfrm>
            <a:off x="1311111" y="2185640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2.4.2</a:t>
            </a:r>
          </a:p>
        </p:txBody>
      </p:sp>
      <p:sp>
        <p:nvSpPr>
          <p:cNvPr id="21" name="Google Shape;762;p29">
            <a:extLst>
              <a:ext uri="{FF2B5EF4-FFF2-40B4-BE49-F238E27FC236}">
                <a16:creationId xmlns:a16="http://schemas.microsoft.com/office/drawing/2014/main" id="{223C06DC-6434-C72E-48E7-A721E18F3526}"/>
              </a:ext>
            </a:extLst>
          </p:cNvPr>
          <p:cNvSpPr txBox="1">
            <a:spLocks/>
          </p:cNvSpPr>
          <p:nvPr/>
        </p:nvSpPr>
        <p:spPr>
          <a:xfrm>
            <a:off x="2237747" y="2397409"/>
            <a:ext cx="5847919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marL="0" indent="0"/>
            <a:r>
              <a:rPr lang="es-MX" sz="2400" dirty="0"/>
              <a:t>Infraestructura como Servicio (SaaS)</a:t>
            </a:r>
          </a:p>
        </p:txBody>
      </p:sp>
      <p:sp>
        <p:nvSpPr>
          <p:cNvPr id="23" name="Google Shape;770;p29">
            <a:extLst>
              <a:ext uri="{FF2B5EF4-FFF2-40B4-BE49-F238E27FC236}">
                <a16:creationId xmlns:a16="http://schemas.microsoft.com/office/drawing/2014/main" id="{8431A743-D2C0-3B7D-8BB9-3F583B0BB007}"/>
              </a:ext>
            </a:extLst>
          </p:cNvPr>
          <p:cNvSpPr txBox="1">
            <a:spLocks/>
          </p:cNvSpPr>
          <p:nvPr/>
        </p:nvSpPr>
        <p:spPr>
          <a:xfrm>
            <a:off x="1311111" y="2751219"/>
            <a:ext cx="131780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2.4.3</a:t>
            </a:r>
          </a:p>
        </p:txBody>
      </p:sp>
      <p:sp>
        <p:nvSpPr>
          <p:cNvPr id="29" name="Google Shape;763;p29">
            <a:extLst>
              <a:ext uri="{FF2B5EF4-FFF2-40B4-BE49-F238E27FC236}">
                <a16:creationId xmlns:a16="http://schemas.microsoft.com/office/drawing/2014/main" id="{F6B9F479-F86F-2D1D-7137-7890B9FBD721}"/>
              </a:ext>
            </a:extLst>
          </p:cNvPr>
          <p:cNvSpPr txBox="1">
            <a:spLocks/>
          </p:cNvSpPr>
          <p:nvPr/>
        </p:nvSpPr>
        <p:spPr>
          <a:xfrm>
            <a:off x="739511" y="3304685"/>
            <a:ext cx="471302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s-MX" sz="2800" dirty="0"/>
              <a:t>2.5 Uso de aplicaciones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408183-1DA2-E21C-A9F2-78BAD966A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634" y="0"/>
            <a:ext cx="2772366" cy="1816100"/>
          </a:xfrm>
          <a:prstGeom prst="rect">
            <a:avLst/>
          </a:prstGeom>
        </p:spPr>
      </p:pic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2.4.2 Platform as a Service</a:t>
            </a:r>
            <a:br>
              <a:rPr lang="en" dirty="0"/>
            </a:br>
            <a:endParaRPr dirty="0"/>
          </a:p>
        </p:txBody>
      </p:sp>
      <p:sp>
        <p:nvSpPr>
          <p:cNvPr id="778" name="Google Shape;778;p30"/>
          <p:cNvSpPr txBox="1">
            <a:spLocks noGrp="1"/>
          </p:cNvSpPr>
          <p:nvPr>
            <p:ph type="subTitle" idx="2"/>
          </p:nvPr>
        </p:nvSpPr>
        <p:spPr>
          <a:xfrm>
            <a:off x="609934" y="910225"/>
            <a:ext cx="75516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 fontAlgn="t"/>
            <a:r>
              <a:rPr lang="es-MX" sz="2800" dirty="0"/>
              <a:t>PaaS (</a:t>
            </a:r>
            <a:r>
              <a:rPr lang="es-MX" sz="2800" dirty="0" err="1"/>
              <a:t>Platform</a:t>
            </a:r>
            <a:r>
              <a:rPr lang="es-MX" sz="2800" dirty="0"/>
              <a:t> as a Service) es un modelo de computación en la nube que ofrece una plataforma completa para desarrollar, probar, implementar y administrar aplicaciones sin preocuparse por la infraestructura.</a:t>
            </a:r>
          </a:p>
          <a:p>
            <a:pPr algn="just" fontAlgn="t"/>
            <a:endParaRPr lang="es-MX" sz="2800" dirty="0"/>
          </a:p>
          <a:p>
            <a:pPr algn="ctr" fontAlgn="t"/>
            <a:endParaRPr lang="es-MX" sz="2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Ejemplos de PaaS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938B17-0930-2B7B-C8B2-32A9D2485744}"/>
              </a:ext>
            </a:extLst>
          </p:cNvPr>
          <p:cNvSpPr txBox="1"/>
          <p:nvPr/>
        </p:nvSpPr>
        <p:spPr>
          <a:xfrm>
            <a:off x="1822207" y="884014"/>
            <a:ext cx="68008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MX" sz="2400" b="1" i="0" dirty="0">
                <a:effectLst/>
                <a:latin typeface="DM Sans Medium" pitchFamily="2" charset="0"/>
              </a:rPr>
              <a:t>Microsoft Azure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 Medium" pitchFamily="2" charset="0"/>
              </a:rPr>
              <a:t>Azure App Service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 Medium" pitchFamily="2" charset="0"/>
              </a:rPr>
              <a:t>Azure SQL </a:t>
            </a:r>
            <a:r>
              <a:rPr lang="es-MX" sz="2400" b="0" i="0" dirty="0" err="1">
                <a:effectLst/>
                <a:latin typeface="DM Sans Medium" pitchFamily="2" charset="0"/>
              </a:rPr>
              <a:t>Database</a:t>
            </a:r>
            <a:endParaRPr lang="es-MX" sz="2400" b="0" i="0" dirty="0">
              <a:effectLst/>
              <a:latin typeface="DM Sans Medium" pitchFamily="2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 Medium" pitchFamily="2" charset="0"/>
              </a:rPr>
              <a:t>Azure </a:t>
            </a:r>
            <a:r>
              <a:rPr lang="es-MX" sz="2400" b="0" i="0" dirty="0" err="1">
                <a:effectLst/>
                <a:latin typeface="DM Sans Medium" pitchFamily="2" charset="0"/>
              </a:rPr>
              <a:t>Functions</a:t>
            </a:r>
            <a:endParaRPr lang="es-MX" sz="2400" b="0" i="0" dirty="0">
              <a:effectLst/>
              <a:latin typeface="DM Sans Medium" pitchFamily="2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s-MX" sz="2400" b="1" i="0" dirty="0">
                <a:effectLst/>
                <a:latin typeface="DM Sans Medium" pitchFamily="2" charset="0"/>
              </a:rPr>
              <a:t>Google Cloud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 Medium" pitchFamily="2" charset="0"/>
              </a:rPr>
              <a:t>App </a:t>
            </a:r>
            <a:r>
              <a:rPr lang="es-MX" sz="2400" b="0" i="0" dirty="0" err="1">
                <a:effectLst/>
                <a:latin typeface="DM Sans Medium" pitchFamily="2" charset="0"/>
              </a:rPr>
              <a:t>Engine</a:t>
            </a:r>
            <a:endParaRPr lang="es-MX" sz="2400" b="0" i="0" dirty="0">
              <a:effectLst/>
              <a:latin typeface="DM Sans Medium" pitchFamily="2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s-MX" sz="2400" b="1" i="0" dirty="0">
                <a:effectLst/>
                <a:latin typeface="DM Sans Medium" pitchFamily="2" charset="0"/>
              </a:rPr>
              <a:t>AWS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b="0" i="0" dirty="0" err="1">
                <a:effectLst/>
                <a:latin typeface="DM Sans Medium" pitchFamily="2" charset="0"/>
              </a:rPr>
              <a:t>Elastic</a:t>
            </a:r>
            <a:r>
              <a:rPr lang="es-MX" sz="2400" b="0" i="0" dirty="0">
                <a:effectLst/>
                <a:latin typeface="DM Sans Medium" pitchFamily="2" charset="0"/>
              </a:rPr>
              <a:t> </a:t>
            </a:r>
            <a:r>
              <a:rPr lang="es-MX" sz="2400" b="0" i="0" dirty="0" err="1">
                <a:effectLst/>
                <a:latin typeface="DM Sans Medium" pitchFamily="2" charset="0"/>
              </a:rPr>
              <a:t>Beanstalk</a:t>
            </a:r>
            <a:endParaRPr lang="es-MX" sz="2400" b="0" i="0" dirty="0">
              <a:effectLst/>
              <a:latin typeface="DM Sans Medium" pitchFamily="2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s-MX" sz="2400" b="1" i="0" dirty="0">
                <a:effectLst/>
                <a:latin typeface="DM Sans Medium" pitchFamily="2" charset="0"/>
              </a:rPr>
              <a:t>Salesforce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MX" sz="2400" b="0" i="0" dirty="0">
                <a:effectLst/>
                <a:latin typeface="DM Sans Medium" pitchFamily="2" charset="0"/>
              </a:rPr>
              <a:t>Salesforce </a:t>
            </a:r>
            <a:r>
              <a:rPr lang="es-MX" sz="2400" b="0" i="0" dirty="0" err="1">
                <a:effectLst/>
                <a:latin typeface="DM Sans Medium" pitchFamily="2" charset="0"/>
              </a:rPr>
              <a:t>Platform</a:t>
            </a:r>
            <a:endParaRPr lang="es-MX" sz="2400" b="0" i="0" dirty="0">
              <a:effectLst/>
              <a:latin typeface="DM Sans Medium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4145C7-20BF-4F52-011B-C959DB062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497" y="1614790"/>
            <a:ext cx="3307503" cy="34022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A50C7C6-A311-6C09-4A39-A89B214AB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9EF579F1-E5CC-1149-54D2-F1B0FFADB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992" y="2224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Ventajas de PaaS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3DDE2C8-9DA0-1B14-3099-27FFAE90594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81080" y="4116834"/>
            <a:ext cx="712301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 fontAlgn="t"/>
            <a:r>
              <a:rPr lang="es-MX" b="1" dirty="0">
                <a:latin typeface="DM Sans Medium" pitchFamily="2" charset="0"/>
              </a:rPr>
              <a:t>Rapidez</a:t>
            </a:r>
          </a:p>
          <a:p>
            <a:pPr algn="just" fontAlgn="t"/>
            <a:r>
              <a:rPr lang="es-MX" dirty="0">
                <a:latin typeface="DokChampa" panose="020B0502040204020203" pitchFamily="34" charset="-34"/>
                <a:cs typeface="DokChampa" panose="020B0502040204020203" pitchFamily="34" charset="-34"/>
              </a:rPr>
              <a:t>Se puede desarrollar sin configurar servidores.</a:t>
            </a:r>
          </a:p>
          <a:p>
            <a:pPr algn="just" fontAlgn="t"/>
            <a:r>
              <a:rPr lang="es-MX" b="1" dirty="0">
                <a:latin typeface="DM Sans Medium" pitchFamily="2" charset="0"/>
              </a:rPr>
              <a:t>Menor costo inicial</a:t>
            </a:r>
          </a:p>
          <a:p>
            <a:pPr algn="just" fontAlgn="t"/>
            <a:r>
              <a:rPr lang="es-MX" dirty="0">
                <a:latin typeface="DokChampa" panose="020B0502040204020203" pitchFamily="34" charset="-34"/>
                <a:cs typeface="DokChampa" panose="020B0502040204020203" pitchFamily="34" charset="-34"/>
              </a:rPr>
              <a:t>No requiere comprar hardware.</a:t>
            </a:r>
          </a:p>
          <a:p>
            <a:pPr algn="just" fontAlgn="t"/>
            <a:r>
              <a:rPr lang="es-MX" b="1" dirty="0">
                <a:latin typeface="DM Sans Medium" pitchFamily="2" charset="0"/>
              </a:rPr>
              <a:t>Escalabilidad</a:t>
            </a:r>
          </a:p>
          <a:p>
            <a:pPr algn="just" fontAlgn="t"/>
            <a:r>
              <a:rPr lang="es-MX" dirty="0">
                <a:latin typeface="DokChampa" panose="020B0502040204020203" pitchFamily="34" charset="-34"/>
                <a:cs typeface="DokChampa" panose="020B0502040204020203" pitchFamily="34" charset="-34"/>
              </a:rPr>
              <a:t>La plataforma aumenta recursos automáticamente.</a:t>
            </a:r>
          </a:p>
          <a:p>
            <a:pPr algn="just" fontAlgn="t"/>
            <a:r>
              <a:rPr lang="es-MX" b="1" dirty="0">
                <a:latin typeface="DM Sans Medium" pitchFamily="2" charset="0"/>
              </a:rPr>
              <a:t>Mayor productividad</a:t>
            </a:r>
          </a:p>
          <a:p>
            <a:pPr algn="just" fontAlgn="t"/>
            <a:r>
              <a:rPr lang="es-MX" dirty="0">
                <a:latin typeface="DokChampa" panose="020B0502040204020203" pitchFamily="34" charset="-34"/>
                <a:cs typeface="DokChampa" panose="020B0502040204020203" pitchFamily="34" charset="-34"/>
              </a:rPr>
              <a:t>Los desarrolladores se enfocan únicamente en programar.</a:t>
            </a: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CE0AA9-2BAD-1729-3851-681415E8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83" t="9048" r="5877" b="2013"/>
          <a:stretch>
            <a:fillRect/>
          </a:stretch>
        </p:blipFill>
        <p:spPr>
          <a:xfrm>
            <a:off x="7801582" y="3778401"/>
            <a:ext cx="1342417" cy="12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69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779F44F2-E0CD-9971-07F8-7023B5D8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8CE43654-7355-3DDF-DC4B-F29A660FFF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Desventajas</a:t>
            </a: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D57702B9-1B7E-32D8-3117-676A7A105C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98948" y="2785759"/>
            <a:ext cx="6585680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600" dirty="0"/>
              <a:t>Menor control sobre la infraestructura.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600" dirty="0"/>
              <a:t>Dependencia del proveedor.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s-MX" sz="2600" dirty="0"/>
              <a:t>Restricciones tecnológicas.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C82D01-4BFD-B9F9-BE0E-B38A725F7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346" y="2675106"/>
            <a:ext cx="2399654" cy="246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4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39C604C2-B57F-E8A0-9A72-B36B092E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C7073EB5-CCA7-F840-ABD3-F7B2721B7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2162" y="5532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Actividad 1</a:t>
            </a:r>
            <a:br>
              <a:rPr lang="es-MX" dirty="0"/>
            </a:br>
            <a:br>
              <a:rPr lang="es-MX" dirty="0"/>
            </a:br>
            <a:r>
              <a:rPr lang="es-MX" sz="2000" b="1" dirty="0">
                <a:latin typeface="DM Sans Medium" pitchFamily="2" charset="0"/>
              </a:rPr>
              <a:t>Analizar un servicio</a:t>
            </a:r>
            <a:br>
              <a:rPr lang="es-MX" sz="2000" b="1" dirty="0">
                <a:latin typeface="DM Sans Medium" pitchFamily="2" charset="0"/>
              </a:rPr>
            </a:br>
            <a:r>
              <a:rPr lang="es-MX" sz="2000" b="1" dirty="0">
                <a:latin typeface="DM Sans Medium" pitchFamily="2" charset="0"/>
              </a:rPr>
              <a:t>Investigar</a:t>
            </a:r>
            <a:r>
              <a:rPr lang="es-MX" sz="2000" dirty="0">
                <a:latin typeface="DM Sans Medium" pitchFamily="2" charset="0"/>
              </a:rPr>
              <a:t>: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- Azure App Service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- AWS </a:t>
            </a:r>
            <a:r>
              <a:rPr lang="es-MX" sz="2000" dirty="0" err="1">
                <a:latin typeface="DM Sans Medium" pitchFamily="2" charset="0"/>
              </a:rPr>
              <a:t>Elastic</a:t>
            </a:r>
            <a:r>
              <a:rPr lang="es-MX" sz="2000" dirty="0">
                <a:latin typeface="DM Sans Medium" pitchFamily="2" charset="0"/>
              </a:rPr>
              <a:t> </a:t>
            </a:r>
            <a:r>
              <a:rPr lang="es-MX" sz="2000" dirty="0" err="1">
                <a:latin typeface="DM Sans Medium" pitchFamily="2" charset="0"/>
              </a:rPr>
              <a:t>Beanstalk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- Google App </a:t>
            </a:r>
            <a:r>
              <a:rPr lang="es-MX" sz="2000" dirty="0" err="1">
                <a:latin typeface="DM Sans Medium" pitchFamily="2" charset="0"/>
              </a:rPr>
              <a:t>Engine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b="1" dirty="0">
                <a:latin typeface="DM Sans Medium" pitchFamily="2" charset="0"/>
              </a:rPr>
              <a:t>Responder</a:t>
            </a:r>
            <a:r>
              <a:rPr lang="es-MX" sz="2000" dirty="0">
                <a:latin typeface="DM Sans Medium" pitchFamily="2" charset="0"/>
              </a:rPr>
              <a:t>: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¿Qué lenguaje soporta?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¿Qué base de datos puede utilizar?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¿Cómo escala?</a:t>
            </a:r>
            <a:br>
              <a:rPr lang="es-MX" sz="2000" dirty="0">
                <a:latin typeface="DM Sans Medium" pitchFamily="2" charset="0"/>
              </a:rPr>
            </a:br>
            <a:r>
              <a:rPr lang="es-MX" sz="2000" dirty="0">
                <a:latin typeface="DM Sans Medium" pitchFamily="2" charset="0"/>
              </a:rPr>
              <a:t>	</a:t>
            </a:r>
            <a:br>
              <a:rPr lang="es-MX" sz="2000" dirty="0">
                <a:latin typeface="DM Sans Medium" pitchFamily="2" charset="0"/>
              </a:rPr>
            </a:br>
            <a:endParaRPr lang="es-MX" sz="2000" dirty="0">
              <a:latin typeface="DM Sans Medium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60D046-5FCE-2DCE-ADB3-2040F6483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75498">
            <a:off x="7601363" y="3838545"/>
            <a:ext cx="2178563" cy="175162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D8871F8-5DBF-8A89-97C2-84759428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7658" y="-138247"/>
            <a:ext cx="1955665" cy="195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20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2940519-4E8D-4CB0-2DF4-B5FD896AD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F3BD36E5-18CC-EB9B-F841-A8E5701178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2162" y="5532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Respuestas</a:t>
            </a:r>
            <a:br>
              <a:rPr lang="es-MX" dirty="0"/>
            </a:br>
            <a:br>
              <a:rPr lang="es-MX" dirty="0"/>
            </a:br>
            <a:endParaRPr lang="es-MX" sz="2000" dirty="0">
              <a:latin typeface="DM Sans Medium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0B08FE6-645C-0EB3-16FA-1943B71CC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75498">
            <a:off x="7601363" y="3838545"/>
            <a:ext cx="2178563" cy="17516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3E8B0C0-2CA3-47EA-8E63-F7F242DDD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679172" cy="167917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E7B4E16-8DE1-5E1B-351C-AC079A136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116647"/>
              </p:ext>
            </p:extLst>
          </p:nvPr>
        </p:nvGraphicFramePr>
        <p:xfrm>
          <a:off x="972220" y="1679172"/>
          <a:ext cx="7718424" cy="1859280"/>
        </p:xfrm>
        <a:graphic>
          <a:graphicData uri="http://schemas.openxmlformats.org/drawingml/2006/table">
            <a:tbl>
              <a:tblPr>
                <a:tableStyleId>{55128F1C-263D-4756-A434-B3B8AE7D6FB3}</a:tableStyleId>
              </a:tblPr>
              <a:tblGrid>
                <a:gridCol w="1929606">
                  <a:extLst>
                    <a:ext uri="{9D8B030D-6E8A-4147-A177-3AD203B41FA5}">
                      <a16:colId xmlns:a16="http://schemas.microsoft.com/office/drawing/2014/main" val="3600233051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642578807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548043949"/>
                    </a:ext>
                  </a:extLst>
                </a:gridCol>
                <a:gridCol w="1929606">
                  <a:extLst>
                    <a:ext uri="{9D8B030D-6E8A-4147-A177-3AD203B41FA5}">
                      <a16:colId xmlns:a16="http://schemas.microsoft.com/office/drawing/2014/main" val="3870672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Servicio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Lenguajes principales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Base de datos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Escalado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911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Azure App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.NET, Java, Python, Node.js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SQL Database, MySQL, 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Automático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3313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AWS Elastic Beanstalk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Java, Python, .NET, Node.js, Docker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RDS, Aurora, DynamoDB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Automático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487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Google App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Python, Java, Go, Node.js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Cloud SQL, Firestore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Automático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09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767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02B13D4B-BA9E-2532-5AAA-2CAC0921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4CCEA4A8-47CD-FB22-E4DB-BEC3C07D8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900" y="66832"/>
            <a:ext cx="43588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Actividad 2</a:t>
            </a:r>
            <a:br>
              <a:rPr lang="es-MX" sz="1200" dirty="0"/>
            </a:br>
            <a:br>
              <a:rPr lang="es-MX" dirty="0"/>
            </a:b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7B0E2D-914F-B54E-C0FD-4CF10D44C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92149E-3E41-9A09-D223-948BCD5E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-1294238" y="-809056"/>
            <a:ext cx="2018138" cy="175177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17AFB53-02CE-E00E-33D9-76B959F0A2D9}"/>
              </a:ext>
            </a:extLst>
          </p:cNvPr>
          <p:cNvSpPr txBox="1"/>
          <p:nvPr/>
        </p:nvSpPr>
        <p:spPr>
          <a:xfrm>
            <a:off x="723900" y="724448"/>
            <a:ext cx="68164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s-MX" sz="2800" dirty="0">
                <a:latin typeface="DM Sans Medium" pitchFamily="2" charset="0"/>
              </a:rPr>
              <a:t>Somos una empresa de streaming.</a:t>
            </a:r>
          </a:p>
          <a:p>
            <a:pPr fontAlgn="t"/>
            <a:endParaRPr lang="es-MX" sz="2800" dirty="0">
              <a:latin typeface="DM Sans Medium" pitchFamily="2" charset="0"/>
            </a:endParaRPr>
          </a:p>
          <a:p>
            <a:pPr fontAlgn="t"/>
            <a:r>
              <a:rPr lang="es-MX" sz="2800" b="1" dirty="0">
                <a:latin typeface="DM Sans Medium" pitchFamily="2" charset="0"/>
              </a:rPr>
              <a:t>Preguntas:</a:t>
            </a:r>
          </a:p>
          <a:p>
            <a:pPr lvl="0" fontAlgn="t"/>
            <a:r>
              <a:rPr lang="es-MX" sz="2800" dirty="0">
                <a:latin typeface="DM Sans Medium" pitchFamily="2" charset="0"/>
              </a:rPr>
              <a:t>	- ¿Qué aplicación desarrollarían?</a:t>
            </a:r>
          </a:p>
          <a:p>
            <a:pPr lvl="0" fontAlgn="t"/>
            <a:r>
              <a:rPr lang="es-MX" sz="2800" dirty="0">
                <a:latin typeface="DM Sans Medium" pitchFamily="2" charset="0"/>
              </a:rPr>
              <a:t>	- ¿Por qué usarían PaaS?</a:t>
            </a:r>
          </a:p>
          <a:p>
            <a:pPr lvl="0" fontAlgn="t"/>
            <a:r>
              <a:rPr lang="es-MX" sz="2800" dirty="0">
                <a:latin typeface="DM Sans Medium" pitchFamily="2" charset="0"/>
              </a:rPr>
              <a:t>	- ¿Qué proveedor elegirían?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1800" dirty="0">
              <a:latin typeface="DM Sans" pitchFamily="2" charset="0"/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294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527673EF-BC52-1004-D39B-16CCE0E7F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22077467-B0EB-9AA6-4B14-7676BFCDA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7014" y="349864"/>
            <a:ext cx="703782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2.4.3 Infraestructura como Servicio (IaaS)</a:t>
            </a:r>
            <a:br>
              <a:rPr lang="es-MX" dirty="0"/>
            </a:br>
            <a:br>
              <a:rPr lang="es-MX" sz="1200" dirty="0"/>
            </a:br>
            <a:br>
              <a:rPr lang="es-MX" dirty="0"/>
            </a:b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B917EE7-7474-81DA-C21B-3CCF41280C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63" t="7676"/>
          <a:stretch>
            <a:fillRect/>
          </a:stretch>
        </p:blipFill>
        <p:spPr>
          <a:xfrm>
            <a:off x="7124092" y="3242732"/>
            <a:ext cx="2018138" cy="1751777"/>
          </a:xfrm>
          <a:prstGeom prst="rect">
            <a:avLst/>
          </a:prstGeom>
        </p:spPr>
      </p:pic>
      <p:sp>
        <p:nvSpPr>
          <p:cNvPr id="3" name="Google Shape;894;p33">
            <a:extLst>
              <a:ext uri="{FF2B5EF4-FFF2-40B4-BE49-F238E27FC236}">
                <a16:creationId xmlns:a16="http://schemas.microsoft.com/office/drawing/2014/main" id="{478AD127-09FF-5EE4-881E-06E2E57ACB24}"/>
              </a:ext>
            </a:extLst>
          </p:cNvPr>
          <p:cNvSpPr txBox="1">
            <a:spLocks/>
          </p:cNvSpPr>
          <p:nvPr/>
        </p:nvSpPr>
        <p:spPr>
          <a:xfrm>
            <a:off x="634904" y="3496732"/>
            <a:ext cx="7422046" cy="4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fontAlgn="t"/>
            <a:r>
              <a:rPr lang="es-MX" sz="2400" dirty="0">
                <a:latin typeface="DM Sans Medium" pitchFamily="2" charset="0"/>
              </a:rPr>
              <a:t>Infraestructura como Servicio (IaaS) proporciona recursos de cómputo virtualizados a través de internet.</a:t>
            </a:r>
          </a:p>
          <a:p>
            <a:pPr marL="482600" indent="-342900" fontAlgn="t">
              <a:buFont typeface="Arial" panose="020B0604020202020204" pitchFamily="34" charset="0"/>
              <a:buChar char="•"/>
            </a:pPr>
            <a:endParaRPr lang="es-MX" sz="2400" dirty="0"/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7A42D6C-E8D9-A46A-14AF-4D19AF870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67562" y="-347808"/>
            <a:ext cx="1994576" cy="199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57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63E6E7F5-DDC9-852F-B792-73BC700D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A6616E9B-66A2-9E05-FDA2-F0D950C9CD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161" y="31131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Arquitectura IaaS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E976AB-F790-8CAD-08A4-BC92059ED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281" y="884014"/>
            <a:ext cx="6016625" cy="401108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0D1B30-B0B5-B70B-CF82-803166978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794" y="2613903"/>
            <a:ext cx="2529597" cy="252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96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B0292804-45D6-D23F-D0C1-365B707A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2330CC3-B560-2F48-BBFF-13403980A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740"/>
          <a:stretch>
            <a:fillRect/>
          </a:stretch>
        </p:blipFill>
        <p:spPr>
          <a:xfrm>
            <a:off x="-627056" y="-490606"/>
            <a:ext cx="1095506" cy="981212"/>
          </a:xfrm>
          <a:prstGeom prst="rect">
            <a:avLst/>
          </a:prstGeom>
        </p:spPr>
      </p:pic>
      <p:sp>
        <p:nvSpPr>
          <p:cNvPr id="891" name="Google Shape;891;p33">
            <a:extLst>
              <a:ext uri="{FF2B5EF4-FFF2-40B4-BE49-F238E27FC236}">
                <a16:creationId xmlns:a16="http://schemas.microsoft.com/office/drawing/2014/main" id="{6B2A7F96-8A75-5704-1950-92AE04D91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4666" y="-8209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t"/>
            <a:r>
              <a:rPr lang="es-MX" dirty="0"/>
              <a:t>Ejemplo de IaaS</a:t>
            </a:r>
            <a:endParaRPr lang="es-MX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595C90E1-7E12-222A-FDA4-5672E9E73E1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75232" y="4500683"/>
            <a:ext cx="8099669" cy="4723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t"/>
            <a:r>
              <a:rPr lang="es-MX" b="1" dirty="0"/>
              <a:t>AWS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EC2 </a:t>
            </a:r>
            <a:r>
              <a:rPr lang="es-MX" sz="1800" dirty="0">
                <a:latin typeface="DM Sans Medium" pitchFamily="2" charset="0"/>
              </a:rPr>
              <a:t>(</a:t>
            </a:r>
            <a:r>
              <a:rPr lang="es-MX" sz="1800" dirty="0" err="1">
                <a:latin typeface="DM Sans Medium" pitchFamily="2" charset="0"/>
              </a:rPr>
              <a:t>Elastic</a:t>
            </a:r>
            <a:r>
              <a:rPr lang="es-MX" sz="1800" dirty="0">
                <a:latin typeface="DM Sans Medium" pitchFamily="2" charset="0"/>
              </a:rPr>
              <a:t> Compute Cloud)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EBS </a:t>
            </a:r>
            <a:r>
              <a:rPr lang="es-MX" sz="1800" dirty="0">
                <a:latin typeface="DM Sans Medium" pitchFamily="2" charset="0"/>
              </a:rPr>
              <a:t>(</a:t>
            </a:r>
            <a:r>
              <a:rPr lang="es-MX" sz="1800" dirty="0" err="1">
                <a:latin typeface="DM Sans Medium" pitchFamily="2" charset="0"/>
              </a:rPr>
              <a:t>Elastic</a:t>
            </a:r>
            <a:r>
              <a:rPr lang="es-MX" sz="1800" dirty="0">
                <a:latin typeface="DM Sans Medium" pitchFamily="2" charset="0"/>
              </a:rPr>
              <a:t> Block Store)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VPC</a:t>
            </a:r>
            <a:r>
              <a:rPr lang="es-MX" sz="1800" dirty="0">
                <a:latin typeface="DM Sans Medium" pitchFamily="2" charset="0"/>
              </a:rPr>
              <a:t> (Virtual Private Cloud)</a:t>
            </a:r>
          </a:p>
          <a:p>
            <a:pPr fontAlgn="t"/>
            <a:r>
              <a:rPr lang="es-MX" b="1" dirty="0"/>
              <a:t>Azure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Virtual Machines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Virtual Network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Storage </a:t>
            </a:r>
            <a:r>
              <a:rPr lang="es-MX" dirty="0" err="1">
                <a:latin typeface="DM Sans Medium" pitchFamily="2" charset="0"/>
              </a:rPr>
              <a:t>Account</a:t>
            </a:r>
            <a:endParaRPr lang="es-MX" dirty="0">
              <a:latin typeface="DM Sans Medium" pitchFamily="2" charset="0"/>
            </a:endParaRPr>
          </a:p>
          <a:p>
            <a:pPr fontAlgn="t"/>
            <a:r>
              <a:rPr lang="es-MX" b="1" dirty="0"/>
              <a:t>Google Cloud</a:t>
            </a:r>
          </a:p>
          <a:p>
            <a:pPr marL="0" lvl="0" indent="0" fontAlgn="t"/>
            <a:r>
              <a:rPr lang="es-MX" dirty="0">
                <a:latin typeface="DM Sans Medium" pitchFamily="2" charset="0"/>
              </a:rPr>
              <a:t>         - Compute </a:t>
            </a:r>
            <a:r>
              <a:rPr lang="es-MX" dirty="0" err="1">
                <a:latin typeface="DM Sans Medium" pitchFamily="2" charset="0"/>
              </a:rPr>
              <a:t>Engine</a:t>
            </a:r>
            <a:endParaRPr lang="es-MX" dirty="0">
              <a:latin typeface="DM Sans Medium" pitchFamily="2" charset="0"/>
            </a:endParaRPr>
          </a:p>
          <a:p>
            <a:pPr algn="just" fontAlgn="t"/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9D3CAE-3C12-5287-E4E7-2484BC708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968" y="3857868"/>
            <a:ext cx="1285631" cy="128563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2A6A207-43BE-C9A6-517A-8ED84DB61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186" y="1263877"/>
            <a:ext cx="2529597" cy="252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5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FEB48A50-FD43-5FF9-D517-209DBC54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>
            <a:extLst>
              <a:ext uri="{FF2B5EF4-FFF2-40B4-BE49-F238E27FC236}">
                <a16:creationId xmlns:a16="http://schemas.microsoft.com/office/drawing/2014/main" id="{7CBC580D-AF95-5839-01A9-EC33402E18C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06651" y="2233991"/>
            <a:ext cx="6930697" cy="23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 fontAlgn="t"/>
            <a:r>
              <a:rPr lang="es-MX" sz="2400" dirty="0">
                <a:latin typeface="DM Sans" pitchFamily="2" charset="0"/>
              </a:rPr>
              <a:t>IaaS permite aprovechar infraestructura tecnológica de manera eficiente y flexible, manteniendo un mayor control sobre los recursos y aplicaciones, sin la necesidad de invertir en centros de datos o equipos físicos propios.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4E4D59-1A6C-B877-DB07-B82D3C79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33" y="3467099"/>
            <a:ext cx="1617134" cy="1617134"/>
          </a:xfrm>
          <a:prstGeom prst="rect">
            <a:avLst/>
          </a:prstGeom>
        </p:spPr>
      </p:pic>
      <p:sp>
        <p:nvSpPr>
          <p:cNvPr id="2" name="Google Shape;894;p33">
            <a:extLst>
              <a:ext uri="{FF2B5EF4-FFF2-40B4-BE49-F238E27FC236}">
                <a16:creationId xmlns:a16="http://schemas.microsoft.com/office/drawing/2014/main" id="{9E9C8FA1-1E65-C98A-BA94-207CF552BB03}"/>
              </a:ext>
            </a:extLst>
          </p:cNvPr>
          <p:cNvSpPr txBox="1">
            <a:spLocks/>
          </p:cNvSpPr>
          <p:nvPr/>
        </p:nvSpPr>
        <p:spPr>
          <a:xfrm>
            <a:off x="680836" y="1542118"/>
            <a:ext cx="6930697" cy="6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fontAlgn="t"/>
            <a:r>
              <a:rPr lang="es-MX" sz="3600" dirty="0"/>
              <a:t>Conclusión</a:t>
            </a:r>
          </a:p>
          <a:p>
            <a:pPr fontAlgn="t"/>
            <a:endParaRPr lang="es-MX" dirty="0"/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41D6A37-8584-F273-4E9D-FC28B32A4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549" y="-52902"/>
            <a:ext cx="2529191" cy="106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4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B7B584E-5DCE-5A45-DDF1-B631DE31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22" y="0"/>
            <a:ext cx="749495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6F833-37D2-F59D-D561-E7A6B3618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94;p33">
            <a:extLst>
              <a:ext uri="{FF2B5EF4-FFF2-40B4-BE49-F238E27FC236}">
                <a16:creationId xmlns:a16="http://schemas.microsoft.com/office/drawing/2014/main" id="{2C8E4630-CDE3-E164-6118-7F219B95742B}"/>
              </a:ext>
            </a:extLst>
          </p:cNvPr>
          <p:cNvSpPr txBox="1">
            <a:spLocks/>
          </p:cNvSpPr>
          <p:nvPr/>
        </p:nvSpPr>
        <p:spPr>
          <a:xfrm>
            <a:off x="1027521" y="543983"/>
            <a:ext cx="6930697" cy="23443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fontAlgn="t"/>
            <a:r>
              <a:rPr lang="es-MX" sz="2800" b="1" dirty="0">
                <a:latin typeface="Baloo 2 ExtraBold" panose="020B0604020202020204" charset="0"/>
                <a:cs typeface="Baloo 2 ExtraBold" panose="020B0604020202020204" charset="0"/>
              </a:rPr>
              <a:t>Flujo de Desarrollo y Despliegue de una Aplicación en la Nube (PaaS e IaaS)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F6F5BA-CBC8-2944-F58D-DCFE3251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9" y="3432318"/>
            <a:ext cx="2529597" cy="25295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2037DF7-2BCF-4E2D-69CD-7387EB57E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6368" cy="18263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8E30ED1-2EB1-2E01-239D-3DAF3B24F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217" y="-345821"/>
            <a:ext cx="1617134" cy="161713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63714B2-73EB-CBE5-B438-C812B37F9A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4656"/>
            <a:ext cx="2762636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4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EC576A77-C56D-CF4F-98AE-856AF3262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A8EFE-76B8-11E3-7E7E-A9E5355DB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1E7DE6-D08F-2B75-CB0B-C7E335010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3805"/>
            <a:ext cx="9144000" cy="381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03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1C1DAD3D-A306-5DA9-02A6-006C50BD5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73" y="0"/>
            <a:ext cx="710545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086600" y="5943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6C"/>
                </a:solidFill>
                <a:latin typeface="Aptos"/>
              </a:defRPr>
            </a:pPr>
            <a:r>
              <a:t>Sesión 6  •  27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960D715-C9B5-485E-C7E9-E46F21E3F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29"/>
            <a:ext cx="9144000" cy="51230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D634F-1358-C479-1BFC-0D700D98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442F630-D250-6E1A-CD04-C4AECC527AA4}"/>
              </a:ext>
            </a:extLst>
          </p:cNvPr>
          <p:cNvSpPr txBox="1"/>
          <p:nvPr/>
        </p:nvSpPr>
        <p:spPr>
          <a:xfrm>
            <a:off x="7086600" y="5943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6C"/>
                </a:solidFill>
                <a:latin typeface="Aptos"/>
              </a:defRPr>
            </a:pPr>
            <a:r>
              <a:t>Sesión 6  •  27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B6C373-6D92-3BC4-C97C-21FF7A37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0"/>
            <a:ext cx="73380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30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260D7-79E1-5F8F-BBFA-9568CF73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02611E5-AAAF-32E8-AA8B-571699ED2B54}"/>
              </a:ext>
            </a:extLst>
          </p:cNvPr>
          <p:cNvSpPr txBox="1"/>
          <p:nvPr/>
        </p:nvSpPr>
        <p:spPr>
          <a:xfrm>
            <a:off x="7086600" y="59436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606C"/>
                </a:solidFill>
                <a:latin typeface="Aptos"/>
              </a:defRPr>
            </a:pPr>
            <a:r>
              <a:t>Sesión 6  •  27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01E706-06A5-C097-ADF1-4831BA445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805"/>
            <a:ext cx="9144000" cy="381588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3152D6A-181F-0AE4-0750-0467F5C8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29491"/>
            <a:ext cx="1917247" cy="7140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0DFEA19-8F8D-7B5D-F195-5178CCDA5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521" y="0"/>
            <a:ext cx="1397479" cy="139747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2485A3A-411A-75A7-9933-51790E9C3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"/>
            <a:ext cx="1739417" cy="66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16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B5C2B-5715-1B73-782D-F53D5E59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94;p33">
            <a:extLst>
              <a:ext uri="{FF2B5EF4-FFF2-40B4-BE49-F238E27FC236}">
                <a16:creationId xmlns:a16="http://schemas.microsoft.com/office/drawing/2014/main" id="{1D2D5BE8-81A4-E476-1848-7C182F5205F7}"/>
              </a:ext>
            </a:extLst>
          </p:cNvPr>
          <p:cNvSpPr txBox="1">
            <a:spLocks/>
          </p:cNvSpPr>
          <p:nvPr/>
        </p:nvSpPr>
        <p:spPr>
          <a:xfrm>
            <a:off x="211347" y="2156603"/>
            <a:ext cx="8721306" cy="22923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 fontAlgn="t"/>
            <a:r>
              <a:rPr lang="es-MX" sz="2400" dirty="0">
                <a:latin typeface="DM Sans" pitchFamily="2" charset="0"/>
              </a:rPr>
              <a:t>La evolución desde aplicaciones locales hacia arquitecturas basadas en la nube permite construir soluciones escalables para ciencia de datos, inteligencia artificial y sistemas empresariales. La selección entre SaaS, PaaS e IaaS depende del equilibrio requerido entre control, complejidad administrativa, costos y velocidad de despliegue. Comprender estas diferencias permite diseñar arquitecturas tecnológicas más eficientes y alineadas con los objetivos del negocio.</a:t>
            </a:r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  <a:latin typeface="DM Sans" pitchFamily="2" charset="0"/>
            </a:endParaRPr>
          </a:p>
        </p:txBody>
      </p:sp>
      <p:sp>
        <p:nvSpPr>
          <p:cNvPr id="6" name="Google Shape;894;p33">
            <a:extLst>
              <a:ext uri="{FF2B5EF4-FFF2-40B4-BE49-F238E27FC236}">
                <a16:creationId xmlns:a16="http://schemas.microsoft.com/office/drawing/2014/main" id="{67477CC5-A46D-0C16-14DF-768E947929BA}"/>
              </a:ext>
            </a:extLst>
          </p:cNvPr>
          <p:cNvSpPr txBox="1">
            <a:spLocks/>
          </p:cNvSpPr>
          <p:nvPr/>
        </p:nvSpPr>
        <p:spPr>
          <a:xfrm>
            <a:off x="0" y="694554"/>
            <a:ext cx="6930697" cy="69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1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loo 2 ExtraBold"/>
              <a:buNone/>
              <a:defRPr sz="2400" b="0" i="0" u="none" strike="noStrike" cap="none" spc="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pPr fontAlgn="t"/>
            <a:r>
              <a:rPr lang="es-MX" sz="3600" dirty="0"/>
              <a:t>Conclusión</a:t>
            </a:r>
          </a:p>
          <a:p>
            <a:pPr fontAlgn="t"/>
            <a:endParaRPr lang="es-MX" dirty="0"/>
          </a:p>
          <a:p>
            <a:pPr algn="just" fontAlgn="t">
              <a:buSzPct val="150000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FAC585-B71D-4E1B-0E27-818C086D6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41" y="3838755"/>
            <a:ext cx="1943859" cy="194385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7E558E-F08A-43BD-06E7-5409D5BDF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89959"/>
            <a:ext cx="1615021" cy="16150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8A7348E-BC41-4A86-7817-C83F5E5AD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0024" y="3819218"/>
            <a:ext cx="1748095" cy="17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75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1042BB-2EE0-8EE6-3ABF-3906C6197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3A17373-CC8C-E1FE-A161-427FDAF10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98" y="0"/>
            <a:ext cx="7240802" cy="51435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92DDE77-6EAE-BECE-E8EE-D8769FC2A427}"/>
              </a:ext>
            </a:extLst>
          </p:cNvPr>
          <p:cNvSpPr/>
          <p:nvPr/>
        </p:nvSpPr>
        <p:spPr>
          <a:xfrm>
            <a:off x="7952243" y="0"/>
            <a:ext cx="1202267" cy="5143500"/>
          </a:xfrm>
          <a:prstGeom prst="roundRect">
            <a:avLst>
              <a:gd name="adj" fmla="val 0"/>
            </a:avLst>
          </a:prstGeom>
          <a:solidFill>
            <a:srgbClr val="4D42B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Segunda</a:t>
            </a:r>
          </a:p>
          <a:p>
            <a:pPr algn="ctr"/>
            <a:r>
              <a:rPr lang="es-MX" sz="16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 entrega 10 </a:t>
            </a:r>
          </a:p>
          <a:p>
            <a:pPr algn="ctr"/>
            <a:r>
              <a:rPr lang="es-MX" sz="16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de octubre</a:t>
            </a:r>
          </a:p>
        </p:txBody>
      </p:sp>
    </p:spTree>
    <p:extLst>
      <p:ext uri="{BB962C8B-B14F-4D97-AF65-F5344CB8AC3E}">
        <p14:creationId xmlns:p14="http://schemas.microsoft.com/office/powerpoint/2010/main" val="2529483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>
          <a:extLst>
            <a:ext uri="{FF2B5EF4-FFF2-40B4-BE49-F238E27FC236}">
              <a16:creationId xmlns:a16="http://schemas.microsoft.com/office/drawing/2014/main" id="{3C018A7F-86CA-CC11-C21F-7308954B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1354;p46">
            <a:extLst>
              <a:ext uri="{FF2B5EF4-FFF2-40B4-BE49-F238E27FC236}">
                <a16:creationId xmlns:a16="http://schemas.microsoft.com/office/drawing/2014/main" id="{B6F7E859-1F5D-C24C-B98A-C0B3EB91F809}"/>
              </a:ext>
            </a:extLst>
          </p:cNvPr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6" name="Google Shape;1355;p46">
              <a:extLst>
                <a:ext uri="{FF2B5EF4-FFF2-40B4-BE49-F238E27FC236}">
                  <a16:creationId xmlns:a16="http://schemas.microsoft.com/office/drawing/2014/main" id="{4148C724-38E2-A26F-23FE-1A2EA35D2E0D}"/>
                </a:ext>
              </a:extLst>
            </p:cNvPr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216" name="Google Shape;1356;p46">
                <a:extLst>
                  <a:ext uri="{FF2B5EF4-FFF2-40B4-BE49-F238E27FC236}">
                    <a16:creationId xmlns:a16="http://schemas.microsoft.com/office/drawing/2014/main" id="{0462B8C8-25FA-AD3F-0540-BE2161A461C8}"/>
                  </a:ext>
                </a:extLst>
              </p:cNvPr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357;p46">
                <a:extLst>
                  <a:ext uri="{FF2B5EF4-FFF2-40B4-BE49-F238E27FC236}">
                    <a16:creationId xmlns:a16="http://schemas.microsoft.com/office/drawing/2014/main" id="{83EEE7E0-056C-7608-2D91-27CC78FCB192}"/>
                  </a:ext>
                </a:extLst>
              </p:cNvPr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358;p46">
                <a:extLst>
                  <a:ext uri="{FF2B5EF4-FFF2-40B4-BE49-F238E27FC236}">
                    <a16:creationId xmlns:a16="http://schemas.microsoft.com/office/drawing/2014/main" id="{DAA0FD89-0AE7-8F03-3140-86925967CD09}"/>
                  </a:ext>
                </a:extLst>
              </p:cNvPr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359;p46">
                <a:extLst>
                  <a:ext uri="{FF2B5EF4-FFF2-40B4-BE49-F238E27FC236}">
                    <a16:creationId xmlns:a16="http://schemas.microsoft.com/office/drawing/2014/main" id="{86DFD6AB-C92D-D786-2AE3-32FD68512759}"/>
                  </a:ext>
                </a:extLst>
              </p:cNvPr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360;p46">
                <a:extLst>
                  <a:ext uri="{FF2B5EF4-FFF2-40B4-BE49-F238E27FC236}">
                    <a16:creationId xmlns:a16="http://schemas.microsoft.com/office/drawing/2014/main" id="{E78FB32E-88B8-F4BB-2801-3F2416C606B8}"/>
                  </a:ext>
                </a:extLst>
              </p:cNvPr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361;p46">
                <a:extLst>
                  <a:ext uri="{FF2B5EF4-FFF2-40B4-BE49-F238E27FC236}">
                    <a16:creationId xmlns:a16="http://schemas.microsoft.com/office/drawing/2014/main" id="{61E2F593-CBAC-D375-B666-04DC4EBA3BE1}"/>
                  </a:ext>
                </a:extLst>
              </p:cNvPr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362;p46">
                <a:extLst>
                  <a:ext uri="{FF2B5EF4-FFF2-40B4-BE49-F238E27FC236}">
                    <a16:creationId xmlns:a16="http://schemas.microsoft.com/office/drawing/2014/main" id="{7508BEDC-10F7-81F4-303C-22C6806F1BA0}"/>
                  </a:ext>
                </a:extLst>
              </p:cNvPr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363;p46">
                <a:extLst>
                  <a:ext uri="{FF2B5EF4-FFF2-40B4-BE49-F238E27FC236}">
                    <a16:creationId xmlns:a16="http://schemas.microsoft.com/office/drawing/2014/main" id="{AD7142DB-8A50-8549-C071-69779F033E0F}"/>
                  </a:ext>
                </a:extLst>
              </p:cNvPr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364;p46">
                <a:extLst>
                  <a:ext uri="{FF2B5EF4-FFF2-40B4-BE49-F238E27FC236}">
                    <a16:creationId xmlns:a16="http://schemas.microsoft.com/office/drawing/2014/main" id="{48EEE8B3-91B5-7CA0-EAC4-A1DEF97491DF}"/>
                  </a:ext>
                </a:extLst>
              </p:cNvPr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365;p46">
                <a:extLst>
                  <a:ext uri="{FF2B5EF4-FFF2-40B4-BE49-F238E27FC236}">
                    <a16:creationId xmlns:a16="http://schemas.microsoft.com/office/drawing/2014/main" id="{8B356F4F-A6E2-8782-8272-53F53283CE86}"/>
                  </a:ext>
                </a:extLst>
              </p:cNvPr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366;p46">
                <a:extLst>
                  <a:ext uri="{FF2B5EF4-FFF2-40B4-BE49-F238E27FC236}">
                    <a16:creationId xmlns:a16="http://schemas.microsoft.com/office/drawing/2014/main" id="{61A27AEB-6F15-3C76-8026-F16234D4BD24}"/>
                  </a:ext>
                </a:extLst>
              </p:cNvPr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367;p46">
                <a:extLst>
                  <a:ext uri="{FF2B5EF4-FFF2-40B4-BE49-F238E27FC236}">
                    <a16:creationId xmlns:a16="http://schemas.microsoft.com/office/drawing/2014/main" id="{C83B03D7-71DB-1F74-6812-E0A765D4F752}"/>
                  </a:ext>
                </a:extLst>
              </p:cNvPr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368;p46">
                <a:extLst>
                  <a:ext uri="{FF2B5EF4-FFF2-40B4-BE49-F238E27FC236}">
                    <a16:creationId xmlns:a16="http://schemas.microsoft.com/office/drawing/2014/main" id="{5171E0D0-6A15-E06B-63E7-C5D4D14FED36}"/>
                  </a:ext>
                </a:extLst>
              </p:cNvPr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369;p46">
                <a:extLst>
                  <a:ext uri="{FF2B5EF4-FFF2-40B4-BE49-F238E27FC236}">
                    <a16:creationId xmlns:a16="http://schemas.microsoft.com/office/drawing/2014/main" id="{C2B575A3-075F-5614-D49D-8FDBD8C10448}"/>
                  </a:ext>
                </a:extLst>
              </p:cNvPr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370;p46">
                <a:extLst>
                  <a:ext uri="{FF2B5EF4-FFF2-40B4-BE49-F238E27FC236}">
                    <a16:creationId xmlns:a16="http://schemas.microsoft.com/office/drawing/2014/main" id="{123DC108-938B-AAA0-8B5F-E9544A768E36}"/>
                  </a:ext>
                </a:extLst>
              </p:cNvPr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" name="Google Shape;1371;p46">
              <a:extLst>
                <a:ext uri="{FF2B5EF4-FFF2-40B4-BE49-F238E27FC236}">
                  <a16:creationId xmlns:a16="http://schemas.microsoft.com/office/drawing/2014/main" id="{8398CAFE-2EFD-059B-0901-819A09173DF8}"/>
                </a:ext>
              </a:extLst>
            </p:cNvPr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37" name="Google Shape;1372;p46">
                <a:extLst>
                  <a:ext uri="{FF2B5EF4-FFF2-40B4-BE49-F238E27FC236}">
                    <a16:creationId xmlns:a16="http://schemas.microsoft.com/office/drawing/2014/main" id="{C14C5F47-0ED8-8738-5E9F-6A439D6EE3B0}"/>
                  </a:ext>
                </a:extLst>
              </p:cNvPr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1373;p46">
                <a:extLst>
                  <a:ext uri="{FF2B5EF4-FFF2-40B4-BE49-F238E27FC236}">
                    <a16:creationId xmlns:a16="http://schemas.microsoft.com/office/drawing/2014/main" id="{A7DCAD31-82CC-A060-F7E4-2B137139DCCA}"/>
                  </a:ext>
                </a:extLst>
              </p:cNvPr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1374;p46">
                <a:extLst>
                  <a:ext uri="{FF2B5EF4-FFF2-40B4-BE49-F238E27FC236}">
                    <a16:creationId xmlns:a16="http://schemas.microsoft.com/office/drawing/2014/main" id="{8E45C684-A95C-1908-EE5E-95A63D6CA7E9}"/>
                  </a:ext>
                </a:extLst>
              </p:cNvPr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375;p46">
                <a:extLst>
                  <a:ext uri="{FF2B5EF4-FFF2-40B4-BE49-F238E27FC236}">
                    <a16:creationId xmlns:a16="http://schemas.microsoft.com/office/drawing/2014/main" id="{166E036A-5527-5B38-5977-D1832179CF83}"/>
                  </a:ext>
                </a:extLst>
              </p:cNvPr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376;p46">
                <a:extLst>
                  <a:ext uri="{FF2B5EF4-FFF2-40B4-BE49-F238E27FC236}">
                    <a16:creationId xmlns:a16="http://schemas.microsoft.com/office/drawing/2014/main" id="{9CB8F72A-9AFE-F109-FAB0-CA6C03A0F18E}"/>
                  </a:ext>
                </a:extLst>
              </p:cNvPr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377;p46">
                <a:extLst>
                  <a:ext uri="{FF2B5EF4-FFF2-40B4-BE49-F238E27FC236}">
                    <a16:creationId xmlns:a16="http://schemas.microsoft.com/office/drawing/2014/main" id="{03EC219F-E730-B5CD-4013-8CFC27DD5344}"/>
                  </a:ext>
                </a:extLst>
              </p:cNvPr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378;p46">
                <a:extLst>
                  <a:ext uri="{FF2B5EF4-FFF2-40B4-BE49-F238E27FC236}">
                    <a16:creationId xmlns:a16="http://schemas.microsoft.com/office/drawing/2014/main" id="{B2F80C91-F831-71EC-7F7C-2C18F480B640}"/>
                  </a:ext>
                </a:extLst>
              </p:cNvPr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379;p46">
                <a:extLst>
                  <a:ext uri="{FF2B5EF4-FFF2-40B4-BE49-F238E27FC236}">
                    <a16:creationId xmlns:a16="http://schemas.microsoft.com/office/drawing/2014/main" id="{A29E9C3A-2C45-072E-4100-8EEAA8BC9950}"/>
                  </a:ext>
                </a:extLst>
              </p:cNvPr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380;p46">
                <a:extLst>
                  <a:ext uri="{FF2B5EF4-FFF2-40B4-BE49-F238E27FC236}">
                    <a16:creationId xmlns:a16="http://schemas.microsoft.com/office/drawing/2014/main" id="{BB3CEB69-135C-D6D5-7F3B-44A10DD33B06}"/>
                  </a:ext>
                </a:extLst>
              </p:cNvPr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381;p46">
                <a:extLst>
                  <a:ext uri="{FF2B5EF4-FFF2-40B4-BE49-F238E27FC236}">
                    <a16:creationId xmlns:a16="http://schemas.microsoft.com/office/drawing/2014/main" id="{83D178A0-798A-E74C-B78B-A0450D078925}"/>
                  </a:ext>
                </a:extLst>
              </p:cNvPr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382;p46">
                <a:extLst>
                  <a:ext uri="{FF2B5EF4-FFF2-40B4-BE49-F238E27FC236}">
                    <a16:creationId xmlns:a16="http://schemas.microsoft.com/office/drawing/2014/main" id="{F0E96067-4FDB-7E95-A614-E9FAAB524F98}"/>
                  </a:ext>
                </a:extLst>
              </p:cNvPr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383;p46">
                <a:extLst>
                  <a:ext uri="{FF2B5EF4-FFF2-40B4-BE49-F238E27FC236}">
                    <a16:creationId xmlns:a16="http://schemas.microsoft.com/office/drawing/2014/main" id="{89133B83-1F9B-41E6-C1B2-BA10BE43C910}"/>
                  </a:ext>
                </a:extLst>
              </p:cNvPr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384;p46">
                <a:extLst>
                  <a:ext uri="{FF2B5EF4-FFF2-40B4-BE49-F238E27FC236}">
                    <a16:creationId xmlns:a16="http://schemas.microsoft.com/office/drawing/2014/main" id="{DC093138-E0EE-1E57-86EC-4869A4A42E3B}"/>
                  </a:ext>
                </a:extLst>
              </p:cNvPr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385;p46">
                <a:extLst>
                  <a:ext uri="{FF2B5EF4-FFF2-40B4-BE49-F238E27FC236}">
                    <a16:creationId xmlns:a16="http://schemas.microsoft.com/office/drawing/2014/main" id="{D7BD1217-94F1-5EC9-9158-E01EAD898E31}"/>
                  </a:ext>
                </a:extLst>
              </p:cNvPr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386;p46">
                <a:extLst>
                  <a:ext uri="{FF2B5EF4-FFF2-40B4-BE49-F238E27FC236}">
                    <a16:creationId xmlns:a16="http://schemas.microsoft.com/office/drawing/2014/main" id="{5DDAA9E5-2DD5-756C-63FB-0955B9A7726B}"/>
                  </a:ext>
                </a:extLst>
              </p:cNvPr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387;p46">
                <a:extLst>
                  <a:ext uri="{FF2B5EF4-FFF2-40B4-BE49-F238E27FC236}">
                    <a16:creationId xmlns:a16="http://schemas.microsoft.com/office/drawing/2014/main" id="{047C6C6D-0008-9CB5-E76E-5378ADCE2949}"/>
                  </a:ext>
                </a:extLst>
              </p:cNvPr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388;p46">
                <a:extLst>
                  <a:ext uri="{FF2B5EF4-FFF2-40B4-BE49-F238E27FC236}">
                    <a16:creationId xmlns:a16="http://schemas.microsoft.com/office/drawing/2014/main" id="{48FA3305-0CF5-558F-C19B-F9DAECB67E7B}"/>
                  </a:ext>
                </a:extLst>
              </p:cNvPr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389;p46">
                <a:extLst>
                  <a:ext uri="{FF2B5EF4-FFF2-40B4-BE49-F238E27FC236}">
                    <a16:creationId xmlns:a16="http://schemas.microsoft.com/office/drawing/2014/main" id="{81212920-DC06-4270-C3D4-733E916062FE}"/>
                  </a:ext>
                </a:extLst>
              </p:cNvPr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1390;p46">
                <a:extLst>
                  <a:ext uri="{FF2B5EF4-FFF2-40B4-BE49-F238E27FC236}">
                    <a16:creationId xmlns:a16="http://schemas.microsoft.com/office/drawing/2014/main" id="{EE2D83C4-3762-1087-AD37-B85738F5E4F9}"/>
                  </a:ext>
                </a:extLst>
              </p:cNvPr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1391;p46">
                <a:extLst>
                  <a:ext uri="{FF2B5EF4-FFF2-40B4-BE49-F238E27FC236}">
                    <a16:creationId xmlns:a16="http://schemas.microsoft.com/office/drawing/2014/main" id="{E1CF7B8B-AD8D-33FE-0CB8-7CC69F7E4858}"/>
                  </a:ext>
                </a:extLst>
              </p:cNvPr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1392;p46">
                <a:extLst>
                  <a:ext uri="{FF2B5EF4-FFF2-40B4-BE49-F238E27FC236}">
                    <a16:creationId xmlns:a16="http://schemas.microsoft.com/office/drawing/2014/main" id="{B06FDDC6-4A35-FE1C-845C-C875A7762795}"/>
                  </a:ext>
                </a:extLst>
              </p:cNvPr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1393;p46">
                <a:extLst>
                  <a:ext uri="{FF2B5EF4-FFF2-40B4-BE49-F238E27FC236}">
                    <a16:creationId xmlns:a16="http://schemas.microsoft.com/office/drawing/2014/main" id="{B7F0253B-A97F-80D4-D252-513927151861}"/>
                  </a:ext>
                </a:extLst>
              </p:cNvPr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1394;p46">
                <a:extLst>
                  <a:ext uri="{FF2B5EF4-FFF2-40B4-BE49-F238E27FC236}">
                    <a16:creationId xmlns:a16="http://schemas.microsoft.com/office/drawing/2014/main" id="{614A94F6-6AB0-EBEB-D9FB-D399BF9E4A2B}"/>
                  </a:ext>
                </a:extLst>
              </p:cNvPr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1395;p46">
                <a:extLst>
                  <a:ext uri="{FF2B5EF4-FFF2-40B4-BE49-F238E27FC236}">
                    <a16:creationId xmlns:a16="http://schemas.microsoft.com/office/drawing/2014/main" id="{92714F7C-4FCE-E2B7-1E7B-17A4FAC947B6}"/>
                  </a:ext>
                </a:extLst>
              </p:cNvPr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1396;p46">
                <a:extLst>
                  <a:ext uri="{FF2B5EF4-FFF2-40B4-BE49-F238E27FC236}">
                    <a16:creationId xmlns:a16="http://schemas.microsoft.com/office/drawing/2014/main" id="{6CE1C778-7E61-CB94-F907-4440CE75DE73}"/>
                  </a:ext>
                </a:extLst>
              </p:cNvPr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397;p46">
                <a:extLst>
                  <a:ext uri="{FF2B5EF4-FFF2-40B4-BE49-F238E27FC236}">
                    <a16:creationId xmlns:a16="http://schemas.microsoft.com/office/drawing/2014/main" id="{13FAFA99-5DFC-07A9-B4A9-F2F41147C1A1}"/>
                  </a:ext>
                </a:extLst>
              </p:cNvPr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398;p46">
                <a:extLst>
                  <a:ext uri="{FF2B5EF4-FFF2-40B4-BE49-F238E27FC236}">
                    <a16:creationId xmlns:a16="http://schemas.microsoft.com/office/drawing/2014/main" id="{B0EEF9CB-971A-0B2C-8188-F6EF7FE9351B}"/>
                  </a:ext>
                </a:extLst>
              </p:cNvPr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399;p46">
              <a:extLst>
                <a:ext uri="{FF2B5EF4-FFF2-40B4-BE49-F238E27FC236}">
                  <a16:creationId xmlns:a16="http://schemas.microsoft.com/office/drawing/2014/main" id="{B6090973-C71C-E6E6-DAB1-0C7838AD2094}"/>
                </a:ext>
              </a:extLst>
            </p:cNvPr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29" name="Google Shape;1400;p46">
                <a:extLst>
                  <a:ext uri="{FF2B5EF4-FFF2-40B4-BE49-F238E27FC236}">
                    <a16:creationId xmlns:a16="http://schemas.microsoft.com/office/drawing/2014/main" id="{F59D9D9E-E510-6AD8-7E5A-024E6B5DF6E1}"/>
                  </a:ext>
                </a:extLst>
              </p:cNvPr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401;p46">
                <a:extLst>
                  <a:ext uri="{FF2B5EF4-FFF2-40B4-BE49-F238E27FC236}">
                    <a16:creationId xmlns:a16="http://schemas.microsoft.com/office/drawing/2014/main" id="{491A1871-F3E0-DB91-7EAD-2AA522F5F8B3}"/>
                  </a:ext>
                </a:extLst>
              </p:cNvPr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402;p46">
                <a:extLst>
                  <a:ext uri="{FF2B5EF4-FFF2-40B4-BE49-F238E27FC236}">
                    <a16:creationId xmlns:a16="http://schemas.microsoft.com/office/drawing/2014/main" id="{00905705-CEA8-1252-5599-E945E08A7EB3}"/>
                  </a:ext>
                </a:extLst>
              </p:cNvPr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403;p46">
                <a:extLst>
                  <a:ext uri="{FF2B5EF4-FFF2-40B4-BE49-F238E27FC236}">
                    <a16:creationId xmlns:a16="http://schemas.microsoft.com/office/drawing/2014/main" id="{EAA14F6C-DA39-8233-109D-2FEE3BD42030}"/>
                  </a:ext>
                </a:extLst>
              </p:cNvPr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404;p46">
                <a:extLst>
                  <a:ext uri="{FF2B5EF4-FFF2-40B4-BE49-F238E27FC236}">
                    <a16:creationId xmlns:a16="http://schemas.microsoft.com/office/drawing/2014/main" id="{F82F3270-C693-2903-595D-DF89F1B45207}"/>
                  </a:ext>
                </a:extLst>
              </p:cNvPr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405;p46">
                <a:extLst>
                  <a:ext uri="{FF2B5EF4-FFF2-40B4-BE49-F238E27FC236}">
                    <a16:creationId xmlns:a16="http://schemas.microsoft.com/office/drawing/2014/main" id="{D0C5E55C-5136-B7D2-8E76-7C39F8B31961}"/>
                  </a:ext>
                </a:extLst>
              </p:cNvPr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1406;p46">
                <a:extLst>
                  <a:ext uri="{FF2B5EF4-FFF2-40B4-BE49-F238E27FC236}">
                    <a16:creationId xmlns:a16="http://schemas.microsoft.com/office/drawing/2014/main" id="{90E0E0FF-B54E-CA3B-2DAD-16CA815C91BF}"/>
                  </a:ext>
                </a:extLst>
              </p:cNvPr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407;p46">
                <a:extLst>
                  <a:ext uri="{FF2B5EF4-FFF2-40B4-BE49-F238E27FC236}">
                    <a16:creationId xmlns:a16="http://schemas.microsoft.com/office/drawing/2014/main" id="{83491743-2F50-1ADD-96AB-3F3B011E610B}"/>
                  </a:ext>
                </a:extLst>
              </p:cNvPr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1408;p46">
              <a:extLst>
                <a:ext uri="{FF2B5EF4-FFF2-40B4-BE49-F238E27FC236}">
                  <a16:creationId xmlns:a16="http://schemas.microsoft.com/office/drawing/2014/main" id="{608B1A4A-E7D0-B59B-AA6A-4DBB9E9CE6BE}"/>
                </a:ext>
              </a:extLst>
            </p:cNvPr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7" name="Google Shape;1409;p46">
                <a:extLst>
                  <a:ext uri="{FF2B5EF4-FFF2-40B4-BE49-F238E27FC236}">
                    <a16:creationId xmlns:a16="http://schemas.microsoft.com/office/drawing/2014/main" id="{252EA5D4-D44B-632B-E23A-E05D7B45BA5C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410;p46">
                <a:extLst>
                  <a:ext uri="{FF2B5EF4-FFF2-40B4-BE49-F238E27FC236}">
                    <a16:creationId xmlns:a16="http://schemas.microsoft.com/office/drawing/2014/main" id="{7D050D22-8E01-F794-E59E-9C118AF41680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411;p46">
                <a:extLst>
                  <a:ext uri="{FF2B5EF4-FFF2-40B4-BE49-F238E27FC236}">
                    <a16:creationId xmlns:a16="http://schemas.microsoft.com/office/drawing/2014/main" id="{AF6FA0F5-1F8E-103E-976A-E57AEF711EDB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412;p46">
                <a:extLst>
                  <a:ext uri="{FF2B5EF4-FFF2-40B4-BE49-F238E27FC236}">
                    <a16:creationId xmlns:a16="http://schemas.microsoft.com/office/drawing/2014/main" id="{EB31B3A7-2ADF-ADD7-DE69-5B5D4FAB069A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413;p46">
                <a:extLst>
                  <a:ext uri="{FF2B5EF4-FFF2-40B4-BE49-F238E27FC236}">
                    <a16:creationId xmlns:a16="http://schemas.microsoft.com/office/drawing/2014/main" id="{15085929-E205-145D-56C9-D3D5C5E8697B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414;p46">
                <a:extLst>
                  <a:ext uri="{FF2B5EF4-FFF2-40B4-BE49-F238E27FC236}">
                    <a16:creationId xmlns:a16="http://schemas.microsoft.com/office/drawing/2014/main" id="{A3E4CA8D-F6D9-2721-74BE-65E393AD2754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415;p46">
                <a:extLst>
                  <a:ext uri="{FF2B5EF4-FFF2-40B4-BE49-F238E27FC236}">
                    <a16:creationId xmlns:a16="http://schemas.microsoft.com/office/drawing/2014/main" id="{C16FAA2A-CA7F-A464-AACE-EC0BEDBFE0FB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416;p46">
                <a:extLst>
                  <a:ext uri="{FF2B5EF4-FFF2-40B4-BE49-F238E27FC236}">
                    <a16:creationId xmlns:a16="http://schemas.microsoft.com/office/drawing/2014/main" id="{C800C152-99B9-DFC2-2FF2-E7D13ECA0EF1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417;p46">
                <a:extLst>
                  <a:ext uri="{FF2B5EF4-FFF2-40B4-BE49-F238E27FC236}">
                    <a16:creationId xmlns:a16="http://schemas.microsoft.com/office/drawing/2014/main" id="{BC04A0BA-BDC8-A2A2-3871-3D17F83EF3B4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418;p46">
                <a:extLst>
                  <a:ext uri="{FF2B5EF4-FFF2-40B4-BE49-F238E27FC236}">
                    <a16:creationId xmlns:a16="http://schemas.microsoft.com/office/drawing/2014/main" id="{4B2CF7A3-5262-049A-024C-E006B415AA33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419;p46">
                <a:extLst>
                  <a:ext uri="{FF2B5EF4-FFF2-40B4-BE49-F238E27FC236}">
                    <a16:creationId xmlns:a16="http://schemas.microsoft.com/office/drawing/2014/main" id="{A2649871-B104-066B-3AF7-4A922A0FD631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420;p46">
                <a:extLst>
                  <a:ext uri="{FF2B5EF4-FFF2-40B4-BE49-F238E27FC236}">
                    <a16:creationId xmlns:a16="http://schemas.microsoft.com/office/drawing/2014/main" id="{1CE89A9D-CA6E-EAE6-E328-A03E571F4D5D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" name="Google Shape;1421;p46">
              <a:extLst>
                <a:ext uri="{FF2B5EF4-FFF2-40B4-BE49-F238E27FC236}">
                  <a16:creationId xmlns:a16="http://schemas.microsoft.com/office/drawing/2014/main" id="{06F0C393-B191-67A2-411A-F22BFC9856F2}"/>
                </a:ext>
              </a:extLst>
            </p:cNvPr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422;p46">
              <a:extLst>
                <a:ext uri="{FF2B5EF4-FFF2-40B4-BE49-F238E27FC236}">
                  <a16:creationId xmlns:a16="http://schemas.microsoft.com/office/drawing/2014/main" id="{D2407A61-1ADC-5061-D38B-5D2DE11BEF0E}"/>
                </a:ext>
              </a:extLst>
            </p:cNvPr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423;p46">
              <a:extLst>
                <a:ext uri="{FF2B5EF4-FFF2-40B4-BE49-F238E27FC236}">
                  <a16:creationId xmlns:a16="http://schemas.microsoft.com/office/drawing/2014/main" id="{2C71B788-7155-DFCC-3FD8-5CB8A5C2E4E0}"/>
                </a:ext>
              </a:extLst>
            </p:cNvPr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424;p46">
              <a:extLst>
                <a:ext uri="{FF2B5EF4-FFF2-40B4-BE49-F238E27FC236}">
                  <a16:creationId xmlns:a16="http://schemas.microsoft.com/office/drawing/2014/main" id="{FB80BE75-881A-707C-BDA9-E7C606967DF1}"/>
                </a:ext>
              </a:extLst>
            </p:cNvPr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1425;p46">
              <a:extLst>
                <a:ext uri="{FF2B5EF4-FFF2-40B4-BE49-F238E27FC236}">
                  <a16:creationId xmlns:a16="http://schemas.microsoft.com/office/drawing/2014/main" id="{390D9617-27E0-D812-4957-28B3BB5F02CC}"/>
                </a:ext>
              </a:extLst>
            </p:cNvPr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5" name="Google Shape;1426;p46">
                <a:extLst>
                  <a:ext uri="{FF2B5EF4-FFF2-40B4-BE49-F238E27FC236}">
                    <a16:creationId xmlns:a16="http://schemas.microsoft.com/office/drawing/2014/main" id="{D2463554-BABF-92E9-8043-1EFE60D67739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427;p46">
                <a:extLst>
                  <a:ext uri="{FF2B5EF4-FFF2-40B4-BE49-F238E27FC236}">
                    <a16:creationId xmlns:a16="http://schemas.microsoft.com/office/drawing/2014/main" id="{AC7E0C2B-E0C3-1F4F-5E7E-D116CFE7A733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1" name="Google Shape;1340;p46">
            <a:extLst>
              <a:ext uri="{FF2B5EF4-FFF2-40B4-BE49-F238E27FC236}">
                <a16:creationId xmlns:a16="http://schemas.microsoft.com/office/drawing/2014/main" id="{0A424EE2-24A4-E718-B16A-FAF20D056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4088" y="1838042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Gracias</a:t>
            </a:r>
            <a:endParaRPr sz="8000" dirty="0"/>
          </a:p>
        </p:txBody>
      </p:sp>
    </p:spTree>
    <p:extLst>
      <p:ext uri="{BB962C8B-B14F-4D97-AF65-F5344CB8AC3E}">
        <p14:creationId xmlns:p14="http://schemas.microsoft.com/office/powerpoint/2010/main" val="1666016412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4035</TotalTime>
  <Words>776</Words>
  <Application>Microsoft Office PowerPoint</Application>
  <PresentationFormat>Presentación en pantalla (16:9)</PresentationFormat>
  <Paragraphs>123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2" baseType="lpstr">
      <vt:lpstr>Calibri</vt:lpstr>
      <vt:lpstr>DM Sans Medium</vt:lpstr>
      <vt:lpstr>Baloo 2 ExtraBold</vt:lpstr>
      <vt:lpstr>DokChampa</vt:lpstr>
      <vt:lpstr>Arial</vt:lpstr>
      <vt:lpstr>DM Sans</vt:lpstr>
      <vt:lpstr>Anaheim</vt:lpstr>
      <vt:lpstr>Statistics and Data Analysis - 6th Grade by Slidesgo</vt:lpstr>
      <vt:lpstr>Base de datos para Ciencia de Datos</vt:lpstr>
      <vt:lpstr>Presentación de PowerPoint</vt:lpstr>
      <vt:lpstr>2.4.2 Platform as a Service </vt:lpstr>
      <vt:lpstr>Ejemplos de PaaS</vt:lpstr>
      <vt:lpstr>Ventajas de PaaS</vt:lpstr>
      <vt:lpstr>Desventajas</vt:lpstr>
      <vt:lpstr>Actividad 1  Analizar un servicio Investigar:  - Azure App Service  - AWS Elastic Beanstalk  - Google App Engine Responder:  ¿Qué lenguaje soporta?  ¿Qué base de datos puede utilizar?  ¿Cómo escala?   </vt:lpstr>
      <vt:lpstr>Respuestas  </vt:lpstr>
      <vt:lpstr>Actividad 2  </vt:lpstr>
      <vt:lpstr>2.4.3 Infraestructura como Servicio (IaaS)   </vt:lpstr>
      <vt:lpstr>Arquitectura IaaS</vt:lpstr>
      <vt:lpstr>Ejemplo de IaaS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TORRES RAMIREZ BLANCA ESTHELA</dc:creator>
  <cp:lastModifiedBy>TORRES RAMIREZ BLANCA ESTHELA</cp:lastModifiedBy>
  <cp:revision>156</cp:revision>
  <dcterms:modified xsi:type="dcterms:W3CDTF">2026-10-15T00:13:05Z</dcterms:modified>
</cp:coreProperties>
</file>